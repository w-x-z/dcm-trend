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442" r:id="rId3"/>
    <p:sldId id="4721" r:id="rId22"/>
    <p:sldId id="4722" r:id="rId23"/>
    <p:sldId id="4723" r:id="rId24"/>
    <p:sldId id="4670" r:id="rId26"/>
    <p:sldId id="4671" r:id="rId27"/>
    <p:sldId id="4717" r:id="rId28"/>
    <p:sldId id="4725" r:id="rId29"/>
    <p:sldId id="4719" r:id="rId32"/>
  </p:sldIdLst>
  <p:sldSz cx="9906000" cy="6858000" type="A4"/>
  <p:notesSz cx="6669088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6" pos="557" userDrawn="1">
          <p15:clr>
            <a:srgbClr val="A4A3A4"/>
          </p15:clr>
        </p15:guide>
        <p15:guide id="7" pos="5887" userDrawn="1">
          <p15:clr>
            <a:srgbClr val="A4A3A4"/>
          </p15:clr>
        </p15:guide>
        <p15:guide id="8" pos="1714" userDrawn="1">
          <p15:clr>
            <a:srgbClr val="A4A3A4"/>
          </p15:clr>
        </p15:guide>
        <p15:guide id="9" pos="3233" userDrawn="1">
          <p15:clr>
            <a:srgbClr val="A4A3A4"/>
          </p15:clr>
        </p15:guide>
        <p15:guide id="10" pos="3007" userDrawn="1">
          <p15:clr>
            <a:srgbClr val="A4A3A4"/>
          </p15:clr>
        </p15:guide>
        <p15:guide id="11" orient="horz" pos="1480" userDrawn="1">
          <p15:clr>
            <a:srgbClr val="A4A3A4"/>
          </p15:clr>
        </p15:guide>
        <p15:guide id="13" pos="1986" userDrawn="1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754" userDrawn="1">
          <p15:clr>
            <a:srgbClr val="A4A3A4"/>
          </p15:clr>
        </p15:guide>
        <p15:guide id="17" pos="376" userDrawn="1">
          <p15:clr>
            <a:srgbClr val="A4A3A4"/>
          </p15:clr>
        </p15:guide>
        <p15:guide id="18" orient="horz" pos="1094" userDrawn="1">
          <p15:clr>
            <a:srgbClr val="A4A3A4"/>
          </p15:clr>
        </p15:guide>
        <p15:guide id="19" orient="horz" pos="4065" userDrawn="1">
          <p15:clr>
            <a:srgbClr val="A4A3A4"/>
          </p15:clr>
        </p15:guide>
        <p15:guide id="20" orient="horz" pos="1049" userDrawn="1">
          <p15:clr>
            <a:srgbClr val="A4A3A4"/>
          </p15:clr>
        </p15:guide>
        <p15:guide id="21" orient="horz" pos="4020" userDrawn="1">
          <p15:clr>
            <a:srgbClr val="A4A3A4"/>
          </p15:clr>
        </p15:guide>
        <p15:guide id="22" orient="horz" pos="3929" userDrawn="1">
          <p15:clr>
            <a:srgbClr val="A4A3A4"/>
          </p15:clr>
        </p15:guide>
        <p15:guide id="23" orient="horz" pos="640" userDrawn="1">
          <p15:clr>
            <a:srgbClr val="A4A3A4"/>
          </p15:clr>
        </p15:guide>
        <p15:guide id="24" pos="3506" userDrawn="1">
          <p15:clr>
            <a:srgbClr val="A4A3A4"/>
          </p15:clr>
        </p15:guide>
        <p15:guide id="25" pos="33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2F2F2"/>
    <a:srgbClr val="0000FF"/>
    <a:srgbClr val="074269"/>
    <a:srgbClr val="DCE6F2"/>
    <a:srgbClr val="DBEEF4"/>
    <a:srgbClr val="F2DCDB"/>
    <a:srgbClr val="B9B9B9"/>
    <a:srgbClr val="FFFFFF"/>
    <a:srgbClr val="F2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02" autoAdjust="0"/>
    <p:restoredTop sz="94700" autoAdjust="0"/>
  </p:normalViewPr>
  <p:slideViewPr>
    <p:cSldViewPr>
      <p:cViewPr varScale="1">
        <p:scale>
          <a:sx n="106" d="100"/>
          <a:sy n="106" d="100"/>
        </p:scale>
        <p:origin x="1464" y="102"/>
      </p:cViewPr>
      <p:guideLst>
        <p:guide orient="horz" pos="2160"/>
        <p:guide pos="557"/>
        <p:guide pos="5887"/>
        <p:guide pos="1714"/>
        <p:guide pos="3233"/>
        <p:guide pos="3007"/>
        <p:guide orient="horz" pos="1480"/>
        <p:guide pos="1986"/>
        <p:guide orient="horz" pos="618"/>
        <p:guide orient="horz" pos="754"/>
        <p:guide pos="376"/>
        <p:guide orient="horz" pos="1094"/>
        <p:guide orient="horz" pos="4065"/>
        <p:guide orient="horz" pos="1049"/>
        <p:guide orient="horz" pos="4020"/>
        <p:guide orient="horz" pos="3929"/>
        <p:guide orient="horz" pos="640"/>
        <p:guide pos="3506"/>
        <p:guide pos="33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828" y="-84"/>
      </p:cViewPr>
      <p:guideLst>
        <p:guide orient="horz" pos="3127"/>
        <p:guide pos="2101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2" Type="http://schemas.openxmlformats.org/officeDocument/2006/relationships/slide" Target="slides/slide31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2"/>
            <a:ext cx="2889938" cy="496332"/>
          </a:xfrm>
          <a:prstGeom prst="rect">
            <a:avLst/>
          </a:prstGeom>
        </p:spPr>
        <p:txBody>
          <a:bodyPr vert="horz" lIns="90992" tIns="45496" rIns="90992" bIns="4549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7608" y="2"/>
            <a:ext cx="2889938" cy="496332"/>
          </a:xfrm>
          <a:prstGeom prst="rect">
            <a:avLst/>
          </a:prstGeom>
        </p:spPr>
        <p:txBody>
          <a:bodyPr vert="horz" lIns="90992" tIns="45496" rIns="90992" bIns="45496" rtlCol="0"/>
          <a:lstStyle>
            <a:lvl1pPr algn="r">
              <a:defRPr sz="1200"/>
            </a:lvl1pPr>
          </a:lstStyle>
          <a:p>
            <a:fld id="{95C35296-A24A-4297-9E99-91D4EF6470F6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9288" y="746125"/>
            <a:ext cx="5370512" cy="3719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92" tIns="45496" rIns="90992" bIns="45496" rtlCol="0" anchor="ctr"/>
          <a:lstStyle/>
          <a:p>
            <a:r>
              <a:rPr lang="ko-KR" altLang="en-US"/>
              <a:t>ㅣ</a:t>
            </a:r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0992" tIns="45496" rIns="90992" bIns="45496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428587"/>
            <a:ext cx="2889938" cy="496332"/>
          </a:xfrm>
          <a:prstGeom prst="rect">
            <a:avLst/>
          </a:prstGeom>
        </p:spPr>
        <p:txBody>
          <a:bodyPr vert="horz" lIns="90992" tIns="45496" rIns="90992" bIns="4549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7608" y="9428587"/>
            <a:ext cx="2889938" cy="496332"/>
          </a:xfrm>
          <a:prstGeom prst="rect">
            <a:avLst/>
          </a:prstGeom>
        </p:spPr>
        <p:txBody>
          <a:bodyPr vert="horz" lIns="90992" tIns="45496" rIns="90992" bIns="45496" rtlCol="0" anchor="b"/>
          <a:lstStyle>
            <a:lvl1pPr algn="r">
              <a:defRPr sz="1200"/>
            </a:lvl1pPr>
          </a:lstStyle>
          <a:p>
            <a:fld id="{44422018-575B-481F-BFBD-FBCED609E9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70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H투자증권_표지">
    <p:bg>
      <p:bgPr>
        <a:solidFill>
          <a:srgbClr val="1E7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제목 1"/>
          <p:cNvSpPr>
            <a:spLocks noGrp="1"/>
          </p:cNvSpPr>
          <p:nvPr>
            <p:ph type="title" hasCustomPrompt="1"/>
          </p:nvPr>
        </p:nvSpPr>
        <p:spPr>
          <a:xfrm>
            <a:off x="815492" y="1484784"/>
            <a:ext cx="5929199" cy="57811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914400" rtl="0" eaLnBrk="1" latinLnBrk="1" hangingPunct="1">
              <a:spcBef>
                <a:spcPct val="0"/>
              </a:spcBef>
              <a:buNone/>
              <a:defRPr lang="ko-KR" altLang="en-US" sz="3600" kern="1200" spc="-1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  <a:cs typeface="+mj-cs"/>
              </a:defRPr>
            </a:lvl1pPr>
          </a:lstStyle>
          <a:p>
            <a:r>
              <a:rPr lang="en-US" altLang="ko-KR" dirty="0"/>
              <a:t>Insert your title</a:t>
            </a:r>
            <a:endParaRPr lang="ko-KR" altLang="en-US" dirty="0"/>
          </a:p>
        </p:txBody>
      </p:sp>
      <p:cxnSp>
        <p:nvCxnSpPr>
          <p:cNvPr id="26" name="직선 연결선 25"/>
          <p:cNvCxnSpPr/>
          <p:nvPr userDrawn="1"/>
        </p:nvCxnSpPr>
        <p:spPr>
          <a:xfrm>
            <a:off x="838200" y="2232582"/>
            <a:ext cx="8216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/>
          <p:cNvGrpSpPr/>
          <p:nvPr userDrawn="1"/>
        </p:nvGrpSpPr>
        <p:grpSpPr>
          <a:xfrm>
            <a:off x="815492" y="6219250"/>
            <a:ext cx="1491991" cy="217431"/>
            <a:chOff x="4205261" y="9329720"/>
            <a:chExt cx="1491991" cy="217431"/>
          </a:xfrm>
          <a:solidFill>
            <a:schemeClr val="bg1"/>
          </a:solidFill>
        </p:grpSpPr>
        <p:sp>
          <p:nvSpPr>
            <p:cNvPr id="34" name="Freeform 44"/>
            <p:cNvSpPr>
              <a:spLocks/>
            </p:cNvSpPr>
            <p:nvPr userDrawn="1"/>
          </p:nvSpPr>
          <p:spPr bwMode="auto">
            <a:xfrm>
              <a:off x="4249708" y="9329720"/>
              <a:ext cx="85291" cy="81687"/>
            </a:xfrm>
            <a:custGeom>
              <a:avLst/>
              <a:gdLst>
                <a:gd name="T0" fmla="*/ 71 w 71"/>
                <a:gd name="T1" fmla="*/ 0 h 68"/>
                <a:gd name="T2" fmla="*/ 36 w 71"/>
                <a:gd name="T3" fmla="*/ 19 h 68"/>
                <a:gd name="T4" fmla="*/ 0 w 71"/>
                <a:gd name="T5" fmla="*/ 0 h 68"/>
                <a:gd name="T6" fmla="*/ 36 w 71"/>
                <a:gd name="T7" fmla="*/ 68 h 68"/>
                <a:gd name="T8" fmla="*/ 71 w 71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8">
                  <a:moveTo>
                    <a:pt x="71" y="0"/>
                  </a:moveTo>
                  <a:lnTo>
                    <a:pt x="36" y="19"/>
                  </a:lnTo>
                  <a:lnTo>
                    <a:pt x="0" y="0"/>
                  </a:lnTo>
                  <a:lnTo>
                    <a:pt x="36" y="68"/>
                  </a:lnTo>
                  <a:lnTo>
                    <a:pt x="7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5" name="Freeform 45"/>
            <p:cNvSpPr>
              <a:spLocks/>
            </p:cNvSpPr>
            <p:nvPr userDrawn="1"/>
          </p:nvSpPr>
          <p:spPr bwMode="auto">
            <a:xfrm>
              <a:off x="4205261" y="9334525"/>
              <a:ext cx="175387" cy="212626"/>
            </a:xfrm>
            <a:custGeom>
              <a:avLst/>
              <a:gdLst>
                <a:gd name="T0" fmla="*/ 52 w 62"/>
                <a:gd name="T1" fmla="*/ 20 h 75"/>
                <a:gd name="T2" fmla="*/ 52 w 62"/>
                <a:gd name="T3" fmla="*/ 20 h 75"/>
                <a:gd name="T4" fmla="*/ 62 w 62"/>
                <a:gd name="T5" fmla="*/ 16 h 75"/>
                <a:gd name="T6" fmla="*/ 62 w 62"/>
                <a:gd name="T7" fmla="*/ 0 h 75"/>
                <a:gd name="T8" fmla="*/ 43 w 62"/>
                <a:gd name="T9" fmla="*/ 8 h 75"/>
                <a:gd name="T10" fmla="*/ 33 w 62"/>
                <a:gd name="T11" fmla="*/ 28 h 75"/>
                <a:gd name="T12" fmla="*/ 47 w 62"/>
                <a:gd name="T13" fmla="*/ 44 h 75"/>
                <a:gd name="T14" fmla="*/ 31 w 62"/>
                <a:gd name="T15" fmla="*/ 60 h 75"/>
                <a:gd name="T16" fmla="*/ 15 w 62"/>
                <a:gd name="T17" fmla="*/ 44 h 75"/>
                <a:gd name="T18" fmla="*/ 29 w 62"/>
                <a:gd name="T19" fmla="*/ 28 h 75"/>
                <a:gd name="T20" fmla="*/ 19 w 62"/>
                <a:gd name="T21" fmla="*/ 8 h 75"/>
                <a:gd name="T22" fmla="*/ 0 w 62"/>
                <a:gd name="T23" fmla="*/ 0 h 75"/>
                <a:gd name="T24" fmla="*/ 0 w 62"/>
                <a:gd name="T25" fmla="*/ 16 h 75"/>
                <a:gd name="T26" fmla="*/ 11 w 62"/>
                <a:gd name="T27" fmla="*/ 20 h 75"/>
                <a:gd name="T28" fmla="*/ 11 w 62"/>
                <a:gd name="T29" fmla="*/ 20 h 75"/>
                <a:gd name="T30" fmla="*/ 0 w 62"/>
                <a:gd name="T31" fmla="*/ 44 h 75"/>
                <a:gd name="T32" fmla="*/ 31 w 62"/>
                <a:gd name="T33" fmla="*/ 75 h 75"/>
                <a:gd name="T34" fmla="*/ 62 w 62"/>
                <a:gd name="T35" fmla="*/ 44 h 75"/>
                <a:gd name="T36" fmla="*/ 52 w 62"/>
                <a:gd name="T37" fmla="*/ 2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" h="75">
                  <a:moveTo>
                    <a:pt x="52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33" y="28"/>
                    <a:pt x="33" y="28"/>
                  </a:cubicBezTo>
                  <a:cubicBezTo>
                    <a:pt x="41" y="29"/>
                    <a:pt x="47" y="36"/>
                    <a:pt x="47" y="44"/>
                  </a:cubicBezTo>
                  <a:cubicBezTo>
                    <a:pt x="47" y="53"/>
                    <a:pt x="40" y="60"/>
                    <a:pt x="31" y="60"/>
                  </a:cubicBezTo>
                  <a:cubicBezTo>
                    <a:pt x="22" y="60"/>
                    <a:pt x="15" y="53"/>
                    <a:pt x="15" y="44"/>
                  </a:cubicBezTo>
                  <a:cubicBezTo>
                    <a:pt x="15" y="36"/>
                    <a:pt x="21" y="29"/>
                    <a:pt x="29" y="28"/>
                  </a:cubicBezTo>
                  <a:cubicBezTo>
                    <a:pt x="29" y="28"/>
                    <a:pt x="19" y="8"/>
                    <a:pt x="19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4" y="26"/>
                    <a:pt x="0" y="35"/>
                    <a:pt x="0" y="44"/>
                  </a:cubicBezTo>
                  <a:cubicBezTo>
                    <a:pt x="0" y="61"/>
                    <a:pt x="14" y="75"/>
                    <a:pt x="31" y="75"/>
                  </a:cubicBezTo>
                  <a:cubicBezTo>
                    <a:pt x="48" y="75"/>
                    <a:pt x="62" y="61"/>
                    <a:pt x="62" y="44"/>
                  </a:cubicBezTo>
                  <a:cubicBezTo>
                    <a:pt x="62" y="35"/>
                    <a:pt x="59" y="26"/>
                    <a:pt x="52" y="20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6" name="Freeform 46"/>
            <p:cNvSpPr>
              <a:spLocks/>
            </p:cNvSpPr>
            <p:nvPr userDrawn="1"/>
          </p:nvSpPr>
          <p:spPr bwMode="auto">
            <a:xfrm>
              <a:off x="5303232" y="9442640"/>
              <a:ext cx="192205" cy="93700"/>
            </a:xfrm>
            <a:custGeom>
              <a:avLst/>
              <a:gdLst>
                <a:gd name="T0" fmla="*/ 67 w 68"/>
                <a:gd name="T1" fmla="*/ 0 h 33"/>
                <a:gd name="T2" fmla="*/ 68 w 68"/>
                <a:gd name="T3" fmla="*/ 1 h 33"/>
                <a:gd name="T4" fmla="*/ 68 w 68"/>
                <a:gd name="T5" fmla="*/ 4 h 33"/>
                <a:gd name="T6" fmla="*/ 67 w 68"/>
                <a:gd name="T7" fmla="*/ 5 h 33"/>
                <a:gd name="T8" fmla="*/ 35 w 68"/>
                <a:gd name="T9" fmla="*/ 5 h 33"/>
                <a:gd name="T10" fmla="*/ 35 w 68"/>
                <a:gd name="T11" fmla="*/ 5 h 33"/>
                <a:gd name="T12" fmla="*/ 16 w 68"/>
                <a:gd name="T13" fmla="*/ 17 h 33"/>
                <a:gd name="T14" fmla="*/ 35 w 68"/>
                <a:gd name="T15" fmla="*/ 28 h 33"/>
                <a:gd name="T16" fmla="*/ 54 w 68"/>
                <a:gd name="T17" fmla="*/ 17 h 33"/>
                <a:gd name="T18" fmla="*/ 50 w 68"/>
                <a:gd name="T19" fmla="*/ 8 h 33"/>
                <a:gd name="T20" fmla="*/ 62 w 68"/>
                <a:gd name="T21" fmla="*/ 8 h 33"/>
                <a:gd name="T22" fmla="*/ 64 w 68"/>
                <a:gd name="T23" fmla="*/ 16 h 33"/>
                <a:gd name="T24" fmla="*/ 35 w 68"/>
                <a:gd name="T25" fmla="*/ 33 h 33"/>
                <a:gd name="T26" fmla="*/ 5 w 68"/>
                <a:gd name="T27" fmla="*/ 16 h 33"/>
                <a:gd name="T28" fmla="*/ 12 w 68"/>
                <a:gd name="T29" fmla="*/ 5 h 33"/>
                <a:gd name="T30" fmla="*/ 3 w 68"/>
                <a:gd name="T31" fmla="*/ 5 h 33"/>
                <a:gd name="T32" fmla="*/ 0 w 68"/>
                <a:gd name="T33" fmla="*/ 0 h 33"/>
                <a:gd name="T34" fmla="*/ 67 w 68"/>
                <a:gd name="T3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33">
                  <a:moveTo>
                    <a:pt x="67" y="0"/>
                  </a:moveTo>
                  <a:cubicBezTo>
                    <a:pt x="68" y="0"/>
                    <a:pt x="68" y="1"/>
                    <a:pt x="68" y="1"/>
                  </a:cubicBezTo>
                  <a:cubicBezTo>
                    <a:pt x="68" y="2"/>
                    <a:pt x="68" y="4"/>
                    <a:pt x="68" y="4"/>
                  </a:cubicBezTo>
                  <a:cubicBezTo>
                    <a:pt x="68" y="5"/>
                    <a:pt x="68" y="5"/>
                    <a:pt x="67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24" y="5"/>
                    <a:pt x="16" y="9"/>
                    <a:pt x="16" y="17"/>
                  </a:cubicBezTo>
                  <a:cubicBezTo>
                    <a:pt x="16" y="25"/>
                    <a:pt x="24" y="28"/>
                    <a:pt x="35" y="28"/>
                  </a:cubicBezTo>
                  <a:cubicBezTo>
                    <a:pt x="46" y="28"/>
                    <a:pt x="54" y="25"/>
                    <a:pt x="54" y="17"/>
                  </a:cubicBezTo>
                  <a:cubicBezTo>
                    <a:pt x="54" y="13"/>
                    <a:pt x="53" y="10"/>
                    <a:pt x="5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4" y="10"/>
                    <a:pt x="64" y="13"/>
                    <a:pt x="64" y="16"/>
                  </a:cubicBezTo>
                  <a:cubicBezTo>
                    <a:pt x="64" y="28"/>
                    <a:pt x="51" y="33"/>
                    <a:pt x="35" y="33"/>
                  </a:cubicBezTo>
                  <a:cubicBezTo>
                    <a:pt x="19" y="33"/>
                    <a:pt x="5" y="28"/>
                    <a:pt x="5" y="16"/>
                  </a:cubicBezTo>
                  <a:cubicBezTo>
                    <a:pt x="5" y="11"/>
                    <a:pt x="8" y="8"/>
                    <a:pt x="1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47"/>
            <p:cNvSpPr>
              <a:spLocks/>
            </p:cNvSpPr>
            <p:nvPr userDrawn="1"/>
          </p:nvSpPr>
          <p:spPr bwMode="auto">
            <a:xfrm>
              <a:off x="5303232" y="9363356"/>
              <a:ext cx="192205" cy="68473"/>
            </a:xfrm>
            <a:custGeom>
              <a:avLst/>
              <a:gdLst>
                <a:gd name="T0" fmla="*/ 68 w 68"/>
                <a:gd name="T1" fmla="*/ 20 h 24"/>
                <a:gd name="T2" fmla="*/ 65 w 68"/>
                <a:gd name="T3" fmla="*/ 24 h 24"/>
                <a:gd name="T4" fmla="*/ 34 w 68"/>
                <a:gd name="T5" fmla="*/ 13 h 24"/>
                <a:gd name="T6" fmla="*/ 3 w 68"/>
                <a:gd name="T7" fmla="*/ 24 h 24"/>
                <a:gd name="T8" fmla="*/ 0 w 68"/>
                <a:gd name="T9" fmla="*/ 20 h 24"/>
                <a:gd name="T10" fmla="*/ 28 w 68"/>
                <a:gd name="T11" fmla="*/ 5 h 24"/>
                <a:gd name="T12" fmla="*/ 5 w 68"/>
                <a:gd name="T13" fmla="*/ 5 h 24"/>
                <a:gd name="T14" fmla="*/ 2 w 68"/>
                <a:gd name="T15" fmla="*/ 0 h 24"/>
                <a:gd name="T16" fmla="*/ 64 w 68"/>
                <a:gd name="T17" fmla="*/ 0 h 24"/>
                <a:gd name="T18" fmla="*/ 65 w 68"/>
                <a:gd name="T19" fmla="*/ 2 h 24"/>
                <a:gd name="T20" fmla="*/ 64 w 68"/>
                <a:gd name="T21" fmla="*/ 5 h 24"/>
                <a:gd name="T22" fmla="*/ 40 w 68"/>
                <a:gd name="T23" fmla="*/ 5 h 24"/>
                <a:gd name="T24" fmla="*/ 68 w 68"/>
                <a:gd name="T25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24">
                  <a:moveTo>
                    <a:pt x="68" y="20"/>
                  </a:moveTo>
                  <a:cubicBezTo>
                    <a:pt x="65" y="24"/>
                    <a:pt x="65" y="24"/>
                    <a:pt x="65" y="24"/>
                  </a:cubicBezTo>
                  <a:cubicBezTo>
                    <a:pt x="49" y="24"/>
                    <a:pt x="38" y="19"/>
                    <a:pt x="34" y="13"/>
                  </a:cubicBezTo>
                  <a:cubicBezTo>
                    <a:pt x="30" y="19"/>
                    <a:pt x="19" y="24"/>
                    <a:pt x="3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4" y="20"/>
                    <a:pt x="28" y="13"/>
                    <a:pt x="28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1"/>
                    <a:pt x="65" y="2"/>
                  </a:cubicBezTo>
                  <a:cubicBezTo>
                    <a:pt x="65" y="4"/>
                    <a:pt x="65" y="5"/>
                    <a:pt x="64" y="5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0" y="13"/>
                    <a:pt x="54" y="20"/>
                    <a:pt x="68" y="2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Freeform 48"/>
            <p:cNvSpPr>
              <a:spLocks/>
            </p:cNvSpPr>
            <p:nvPr userDrawn="1"/>
          </p:nvSpPr>
          <p:spPr bwMode="auto">
            <a:xfrm>
              <a:off x="5515859" y="9357349"/>
              <a:ext cx="181393" cy="170581"/>
            </a:xfrm>
            <a:custGeom>
              <a:avLst/>
              <a:gdLst>
                <a:gd name="T0" fmla="*/ 31 w 64"/>
                <a:gd name="T1" fmla="*/ 7 h 60"/>
                <a:gd name="T2" fmla="*/ 5 w 64"/>
                <a:gd name="T3" fmla="*/ 7 h 60"/>
                <a:gd name="T4" fmla="*/ 2 w 64"/>
                <a:gd name="T5" fmla="*/ 2 h 60"/>
                <a:gd name="T6" fmla="*/ 41 w 64"/>
                <a:gd name="T7" fmla="*/ 2 h 60"/>
                <a:gd name="T8" fmla="*/ 43 w 64"/>
                <a:gd name="T9" fmla="*/ 5 h 60"/>
                <a:gd name="T10" fmla="*/ 43 w 64"/>
                <a:gd name="T11" fmla="*/ 25 h 60"/>
                <a:gd name="T12" fmla="*/ 54 w 64"/>
                <a:gd name="T13" fmla="*/ 25 h 60"/>
                <a:gd name="T14" fmla="*/ 54 w 64"/>
                <a:gd name="T15" fmla="*/ 0 h 60"/>
                <a:gd name="T16" fmla="*/ 62 w 64"/>
                <a:gd name="T17" fmla="*/ 0 h 60"/>
                <a:gd name="T18" fmla="*/ 64 w 64"/>
                <a:gd name="T19" fmla="*/ 2 h 60"/>
                <a:gd name="T20" fmla="*/ 64 w 64"/>
                <a:gd name="T21" fmla="*/ 55 h 60"/>
                <a:gd name="T22" fmla="*/ 64 w 64"/>
                <a:gd name="T23" fmla="*/ 57 h 60"/>
                <a:gd name="T24" fmla="*/ 64 w 64"/>
                <a:gd name="T25" fmla="*/ 60 h 60"/>
                <a:gd name="T26" fmla="*/ 11 w 64"/>
                <a:gd name="T27" fmla="*/ 60 h 60"/>
                <a:gd name="T28" fmla="*/ 6 w 64"/>
                <a:gd name="T29" fmla="*/ 55 h 60"/>
                <a:gd name="T30" fmla="*/ 6 w 64"/>
                <a:gd name="T31" fmla="*/ 42 h 60"/>
                <a:gd name="T32" fmla="*/ 14 w 64"/>
                <a:gd name="T33" fmla="*/ 42 h 60"/>
                <a:gd name="T34" fmla="*/ 16 w 64"/>
                <a:gd name="T35" fmla="*/ 44 h 60"/>
                <a:gd name="T36" fmla="*/ 16 w 64"/>
                <a:gd name="T37" fmla="*/ 53 h 60"/>
                <a:gd name="T38" fmla="*/ 19 w 64"/>
                <a:gd name="T39" fmla="*/ 55 h 60"/>
                <a:gd name="T40" fmla="*/ 54 w 64"/>
                <a:gd name="T41" fmla="*/ 55 h 60"/>
                <a:gd name="T42" fmla="*/ 54 w 64"/>
                <a:gd name="T43" fmla="*/ 41 h 60"/>
                <a:gd name="T44" fmla="*/ 38 w 64"/>
                <a:gd name="T45" fmla="*/ 41 h 60"/>
                <a:gd name="T46" fmla="*/ 35 w 64"/>
                <a:gd name="T47" fmla="*/ 37 h 60"/>
                <a:gd name="T48" fmla="*/ 54 w 64"/>
                <a:gd name="T49" fmla="*/ 37 h 60"/>
                <a:gd name="T50" fmla="*/ 54 w 64"/>
                <a:gd name="T51" fmla="*/ 29 h 60"/>
                <a:gd name="T52" fmla="*/ 26 w 64"/>
                <a:gd name="T53" fmla="*/ 29 h 60"/>
                <a:gd name="T54" fmla="*/ 26 w 64"/>
                <a:gd name="T55" fmla="*/ 40 h 60"/>
                <a:gd name="T56" fmla="*/ 16 w 64"/>
                <a:gd name="T57" fmla="*/ 40 h 60"/>
                <a:gd name="T58" fmla="*/ 16 w 64"/>
                <a:gd name="T59" fmla="*/ 29 h 60"/>
                <a:gd name="T60" fmla="*/ 3 w 64"/>
                <a:gd name="T61" fmla="*/ 29 h 60"/>
                <a:gd name="T62" fmla="*/ 0 w 64"/>
                <a:gd name="T63" fmla="*/ 25 h 60"/>
                <a:gd name="T64" fmla="*/ 33 w 64"/>
                <a:gd name="T65" fmla="*/ 25 h 60"/>
                <a:gd name="T66" fmla="*/ 33 w 64"/>
                <a:gd name="T67" fmla="*/ 8 h 60"/>
                <a:gd name="T68" fmla="*/ 31 w 64"/>
                <a:gd name="T6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" h="60">
                  <a:moveTo>
                    <a:pt x="31" y="7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2" y="2"/>
                    <a:pt x="43" y="3"/>
                    <a:pt x="43" y="5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3" y="0"/>
                    <a:pt x="64" y="1"/>
                    <a:pt x="64" y="2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7"/>
                    <a:pt x="64" y="57"/>
                    <a:pt x="64" y="5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8" y="60"/>
                    <a:pt x="6" y="58"/>
                    <a:pt x="6" y="55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2"/>
                    <a:pt x="16" y="43"/>
                    <a:pt x="16" y="44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54"/>
                    <a:pt x="18" y="55"/>
                    <a:pt x="19" y="55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7"/>
                    <a:pt x="31" y="7"/>
                    <a:pt x="31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Freeform 49"/>
            <p:cNvSpPr>
              <a:spLocks/>
            </p:cNvSpPr>
            <p:nvPr userDrawn="1"/>
          </p:nvSpPr>
          <p:spPr bwMode="auto">
            <a:xfrm>
              <a:off x="4667754" y="9360953"/>
              <a:ext cx="177790" cy="166977"/>
            </a:xfrm>
            <a:custGeom>
              <a:avLst/>
              <a:gdLst>
                <a:gd name="T0" fmla="*/ 59 w 63"/>
                <a:gd name="T1" fmla="*/ 0 h 59"/>
                <a:gd name="T2" fmla="*/ 50 w 63"/>
                <a:gd name="T3" fmla="*/ 0 h 59"/>
                <a:gd name="T4" fmla="*/ 50 w 63"/>
                <a:gd name="T5" fmla="*/ 23 h 59"/>
                <a:gd name="T6" fmla="*/ 13 w 63"/>
                <a:gd name="T7" fmla="*/ 23 h 59"/>
                <a:gd name="T8" fmla="*/ 13 w 63"/>
                <a:gd name="T9" fmla="*/ 0 h 59"/>
                <a:gd name="T10" fmla="*/ 4 w 63"/>
                <a:gd name="T11" fmla="*/ 0 h 59"/>
                <a:gd name="T12" fmla="*/ 0 w 63"/>
                <a:gd name="T13" fmla="*/ 4 h 59"/>
                <a:gd name="T14" fmla="*/ 0 w 63"/>
                <a:gd name="T15" fmla="*/ 54 h 59"/>
                <a:gd name="T16" fmla="*/ 4 w 63"/>
                <a:gd name="T17" fmla="*/ 59 h 59"/>
                <a:gd name="T18" fmla="*/ 13 w 63"/>
                <a:gd name="T19" fmla="*/ 59 h 59"/>
                <a:gd name="T20" fmla="*/ 13 w 63"/>
                <a:gd name="T21" fmla="*/ 33 h 59"/>
                <a:gd name="T22" fmla="*/ 50 w 63"/>
                <a:gd name="T23" fmla="*/ 33 h 59"/>
                <a:gd name="T24" fmla="*/ 50 w 63"/>
                <a:gd name="T25" fmla="*/ 59 h 59"/>
                <a:gd name="T26" fmla="*/ 59 w 63"/>
                <a:gd name="T27" fmla="*/ 59 h 59"/>
                <a:gd name="T28" fmla="*/ 63 w 63"/>
                <a:gd name="T29" fmla="*/ 54 h 59"/>
                <a:gd name="T30" fmla="*/ 63 w 63"/>
                <a:gd name="T31" fmla="*/ 4 h 59"/>
                <a:gd name="T32" fmla="*/ 59 w 63"/>
                <a:gd name="T33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59">
                  <a:moveTo>
                    <a:pt x="59" y="0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2" y="59"/>
                    <a:pt x="4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62" y="59"/>
                    <a:pt x="63" y="57"/>
                    <a:pt x="63" y="5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2"/>
                    <a:pt x="62" y="0"/>
                    <a:pt x="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2" name="Freeform 50"/>
            <p:cNvSpPr>
              <a:spLocks/>
            </p:cNvSpPr>
            <p:nvPr userDrawn="1"/>
          </p:nvSpPr>
          <p:spPr bwMode="auto">
            <a:xfrm>
              <a:off x="4451524" y="9360953"/>
              <a:ext cx="181393" cy="166977"/>
            </a:xfrm>
            <a:custGeom>
              <a:avLst/>
              <a:gdLst>
                <a:gd name="T0" fmla="*/ 61 w 64"/>
                <a:gd name="T1" fmla="*/ 0 h 59"/>
                <a:gd name="T2" fmla="*/ 51 w 64"/>
                <a:gd name="T3" fmla="*/ 0 h 59"/>
                <a:gd name="T4" fmla="*/ 51 w 64"/>
                <a:gd name="T5" fmla="*/ 45 h 59"/>
                <a:gd name="T6" fmla="*/ 24 w 64"/>
                <a:gd name="T7" fmla="*/ 9 h 59"/>
                <a:gd name="T8" fmla="*/ 9 w 64"/>
                <a:gd name="T9" fmla="*/ 0 h 59"/>
                <a:gd name="T10" fmla="*/ 0 w 64"/>
                <a:gd name="T11" fmla="*/ 0 h 59"/>
                <a:gd name="T12" fmla="*/ 0 w 64"/>
                <a:gd name="T13" fmla="*/ 54 h 59"/>
                <a:gd name="T14" fmla="*/ 4 w 64"/>
                <a:gd name="T15" fmla="*/ 59 h 59"/>
                <a:gd name="T16" fmla="*/ 13 w 64"/>
                <a:gd name="T17" fmla="*/ 59 h 59"/>
                <a:gd name="T18" fmla="*/ 13 w 64"/>
                <a:gd name="T19" fmla="*/ 13 h 59"/>
                <a:gd name="T20" fmla="*/ 40 w 64"/>
                <a:gd name="T21" fmla="*/ 49 h 59"/>
                <a:gd name="T22" fmla="*/ 56 w 64"/>
                <a:gd name="T23" fmla="*/ 59 h 59"/>
                <a:gd name="T24" fmla="*/ 64 w 64"/>
                <a:gd name="T25" fmla="*/ 59 h 59"/>
                <a:gd name="T26" fmla="*/ 64 w 64"/>
                <a:gd name="T27" fmla="*/ 4 h 59"/>
                <a:gd name="T28" fmla="*/ 61 w 64"/>
                <a:gd name="T2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59">
                  <a:moveTo>
                    <a:pt x="61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9" y="3"/>
                    <a:pt x="16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1" y="59"/>
                    <a:pt x="4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5" y="55"/>
                    <a:pt x="49" y="59"/>
                    <a:pt x="56" y="59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2"/>
                    <a:pt x="63" y="0"/>
                    <a:pt x="61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Freeform 51"/>
            <p:cNvSpPr>
              <a:spLocks noEditPoints="1"/>
            </p:cNvSpPr>
            <p:nvPr userDrawn="1"/>
          </p:nvSpPr>
          <p:spPr bwMode="auto">
            <a:xfrm>
              <a:off x="4871972" y="9363356"/>
              <a:ext cx="195809" cy="164575"/>
            </a:xfrm>
            <a:custGeom>
              <a:avLst/>
              <a:gdLst>
                <a:gd name="T0" fmla="*/ 68 w 69"/>
                <a:gd name="T1" fmla="*/ 40 h 58"/>
                <a:gd name="T2" fmla="*/ 40 w 69"/>
                <a:gd name="T3" fmla="*/ 40 h 58"/>
                <a:gd name="T4" fmla="*/ 40 w 69"/>
                <a:gd name="T5" fmla="*/ 58 h 58"/>
                <a:gd name="T6" fmla="*/ 30 w 69"/>
                <a:gd name="T7" fmla="*/ 58 h 58"/>
                <a:gd name="T8" fmla="*/ 30 w 69"/>
                <a:gd name="T9" fmla="*/ 40 h 58"/>
                <a:gd name="T10" fmla="*/ 2 w 69"/>
                <a:gd name="T11" fmla="*/ 40 h 58"/>
                <a:gd name="T12" fmla="*/ 0 w 69"/>
                <a:gd name="T13" fmla="*/ 36 h 58"/>
                <a:gd name="T14" fmla="*/ 68 w 69"/>
                <a:gd name="T15" fmla="*/ 36 h 58"/>
                <a:gd name="T16" fmla="*/ 69 w 69"/>
                <a:gd name="T17" fmla="*/ 38 h 58"/>
                <a:gd name="T18" fmla="*/ 68 w 69"/>
                <a:gd name="T19" fmla="*/ 40 h 58"/>
                <a:gd name="T20" fmla="*/ 5 w 69"/>
                <a:gd name="T21" fmla="*/ 25 h 58"/>
                <a:gd name="T22" fmla="*/ 5 w 69"/>
                <a:gd name="T23" fmla="*/ 0 h 58"/>
                <a:gd name="T24" fmla="*/ 64 w 69"/>
                <a:gd name="T25" fmla="*/ 0 h 58"/>
                <a:gd name="T26" fmla="*/ 65 w 69"/>
                <a:gd name="T27" fmla="*/ 2 h 58"/>
                <a:gd name="T28" fmla="*/ 64 w 69"/>
                <a:gd name="T29" fmla="*/ 4 h 58"/>
                <a:gd name="T30" fmla="*/ 15 w 69"/>
                <a:gd name="T31" fmla="*/ 4 h 58"/>
                <a:gd name="T32" fmla="*/ 15 w 69"/>
                <a:gd name="T33" fmla="*/ 12 h 58"/>
                <a:gd name="T34" fmla="*/ 64 w 69"/>
                <a:gd name="T35" fmla="*/ 12 h 58"/>
                <a:gd name="T36" fmla="*/ 65 w 69"/>
                <a:gd name="T37" fmla="*/ 14 h 58"/>
                <a:gd name="T38" fmla="*/ 64 w 69"/>
                <a:gd name="T39" fmla="*/ 16 h 58"/>
                <a:gd name="T40" fmla="*/ 15 w 69"/>
                <a:gd name="T41" fmla="*/ 16 h 58"/>
                <a:gd name="T42" fmla="*/ 15 w 69"/>
                <a:gd name="T43" fmla="*/ 23 h 58"/>
                <a:gd name="T44" fmla="*/ 18 w 69"/>
                <a:gd name="T45" fmla="*/ 25 h 58"/>
                <a:gd name="T46" fmla="*/ 65 w 69"/>
                <a:gd name="T47" fmla="*/ 25 h 58"/>
                <a:gd name="T48" fmla="*/ 66 w 69"/>
                <a:gd name="T49" fmla="*/ 27 h 58"/>
                <a:gd name="T50" fmla="*/ 65 w 69"/>
                <a:gd name="T51" fmla="*/ 29 h 58"/>
                <a:gd name="T52" fmla="*/ 10 w 69"/>
                <a:gd name="T53" fmla="*/ 29 h 58"/>
                <a:gd name="T54" fmla="*/ 5 w 69"/>
                <a:gd name="T55" fmla="*/ 2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9" h="58">
                  <a:moveTo>
                    <a:pt x="68" y="40"/>
                  </a:moveTo>
                  <a:cubicBezTo>
                    <a:pt x="40" y="40"/>
                    <a:pt x="40" y="40"/>
                    <a:pt x="40" y="40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9" y="36"/>
                    <a:pt x="69" y="37"/>
                    <a:pt x="69" y="38"/>
                  </a:cubicBezTo>
                  <a:cubicBezTo>
                    <a:pt x="69" y="40"/>
                    <a:pt x="69" y="40"/>
                    <a:pt x="68" y="40"/>
                  </a:cubicBezTo>
                  <a:moveTo>
                    <a:pt x="5" y="25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1"/>
                    <a:pt x="65" y="2"/>
                  </a:cubicBezTo>
                  <a:cubicBezTo>
                    <a:pt x="65" y="3"/>
                    <a:pt x="65" y="4"/>
                    <a:pt x="6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5" y="12"/>
                    <a:pt x="65" y="13"/>
                    <a:pt x="65" y="14"/>
                  </a:cubicBezTo>
                  <a:cubicBezTo>
                    <a:pt x="65" y="15"/>
                    <a:pt x="65" y="16"/>
                    <a:pt x="64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4"/>
                    <a:pt x="17" y="25"/>
                    <a:pt x="18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6" y="25"/>
                    <a:pt x="66" y="26"/>
                    <a:pt x="66" y="27"/>
                  </a:cubicBezTo>
                  <a:cubicBezTo>
                    <a:pt x="66" y="29"/>
                    <a:pt x="66" y="29"/>
                    <a:pt x="65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7" y="29"/>
                    <a:pt x="5" y="27"/>
                    <a:pt x="5" y="2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52"/>
            <p:cNvSpPr>
              <a:spLocks noEditPoints="1"/>
            </p:cNvSpPr>
            <p:nvPr userDrawn="1"/>
          </p:nvSpPr>
          <p:spPr bwMode="auto">
            <a:xfrm>
              <a:off x="5084599" y="9357349"/>
              <a:ext cx="210224" cy="170581"/>
            </a:xfrm>
            <a:custGeom>
              <a:avLst/>
              <a:gdLst>
                <a:gd name="T0" fmla="*/ 45 w 74"/>
                <a:gd name="T1" fmla="*/ 55 h 60"/>
                <a:gd name="T2" fmla="*/ 24 w 74"/>
                <a:gd name="T3" fmla="*/ 38 h 60"/>
                <a:gd name="T4" fmla="*/ 3 w 74"/>
                <a:gd name="T5" fmla="*/ 55 h 60"/>
                <a:gd name="T6" fmla="*/ 0 w 74"/>
                <a:gd name="T7" fmla="*/ 52 h 60"/>
                <a:gd name="T8" fmla="*/ 19 w 74"/>
                <a:gd name="T9" fmla="*/ 23 h 60"/>
                <a:gd name="T10" fmla="*/ 19 w 74"/>
                <a:gd name="T11" fmla="*/ 7 h 60"/>
                <a:gd name="T12" fmla="*/ 4 w 74"/>
                <a:gd name="T13" fmla="*/ 7 h 60"/>
                <a:gd name="T14" fmla="*/ 1 w 74"/>
                <a:gd name="T15" fmla="*/ 2 h 60"/>
                <a:gd name="T16" fmla="*/ 45 w 74"/>
                <a:gd name="T17" fmla="*/ 2 h 60"/>
                <a:gd name="T18" fmla="*/ 46 w 74"/>
                <a:gd name="T19" fmla="*/ 4 h 60"/>
                <a:gd name="T20" fmla="*/ 45 w 74"/>
                <a:gd name="T21" fmla="*/ 7 h 60"/>
                <a:gd name="T22" fmla="*/ 29 w 74"/>
                <a:gd name="T23" fmla="*/ 7 h 60"/>
                <a:gd name="T24" fmla="*/ 29 w 74"/>
                <a:gd name="T25" fmla="*/ 23 h 60"/>
                <a:gd name="T26" fmla="*/ 48 w 74"/>
                <a:gd name="T27" fmla="*/ 52 h 60"/>
                <a:gd name="T28" fmla="*/ 45 w 74"/>
                <a:gd name="T29" fmla="*/ 55 h 60"/>
                <a:gd name="T30" fmla="*/ 55 w 74"/>
                <a:gd name="T31" fmla="*/ 60 h 60"/>
                <a:gd name="T32" fmla="*/ 55 w 74"/>
                <a:gd name="T33" fmla="*/ 0 h 60"/>
                <a:gd name="T34" fmla="*/ 63 w 74"/>
                <a:gd name="T35" fmla="*/ 0 h 60"/>
                <a:gd name="T36" fmla="*/ 65 w 74"/>
                <a:gd name="T37" fmla="*/ 2 h 60"/>
                <a:gd name="T38" fmla="*/ 65 w 74"/>
                <a:gd name="T39" fmla="*/ 18 h 60"/>
                <a:gd name="T40" fmla="*/ 73 w 74"/>
                <a:gd name="T41" fmla="*/ 18 h 60"/>
                <a:gd name="T42" fmla="*/ 74 w 74"/>
                <a:gd name="T43" fmla="*/ 20 h 60"/>
                <a:gd name="T44" fmla="*/ 73 w 74"/>
                <a:gd name="T45" fmla="*/ 22 h 60"/>
                <a:gd name="T46" fmla="*/ 65 w 74"/>
                <a:gd name="T47" fmla="*/ 22 h 60"/>
                <a:gd name="T48" fmla="*/ 65 w 74"/>
                <a:gd name="T49" fmla="*/ 60 h 60"/>
                <a:gd name="T50" fmla="*/ 55 w 74"/>
                <a:gd name="T5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4" h="60">
                  <a:moveTo>
                    <a:pt x="45" y="55"/>
                  </a:moveTo>
                  <a:cubicBezTo>
                    <a:pt x="37" y="52"/>
                    <a:pt x="27" y="46"/>
                    <a:pt x="24" y="38"/>
                  </a:cubicBezTo>
                  <a:cubicBezTo>
                    <a:pt x="21" y="46"/>
                    <a:pt x="11" y="52"/>
                    <a:pt x="3" y="55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0" y="48"/>
                    <a:pt x="19" y="38"/>
                    <a:pt x="19" y="23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6" y="2"/>
                    <a:pt x="46" y="3"/>
                    <a:pt x="46" y="4"/>
                  </a:cubicBezTo>
                  <a:cubicBezTo>
                    <a:pt x="46" y="6"/>
                    <a:pt x="46" y="7"/>
                    <a:pt x="45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38"/>
                    <a:pt x="38" y="48"/>
                    <a:pt x="48" y="52"/>
                  </a:cubicBezTo>
                  <a:lnTo>
                    <a:pt x="45" y="55"/>
                  </a:lnTo>
                  <a:close/>
                  <a:moveTo>
                    <a:pt x="55" y="6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4" y="0"/>
                    <a:pt x="65" y="1"/>
                    <a:pt x="65" y="2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3" y="18"/>
                    <a:pt x="74" y="19"/>
                    <a:pt x="74" y="20"/>
                  </a:cubicBezTo>
                  <a:cubicBezTo>
                    <a:pt x="74" y="21"/>
                    <a:pt x="73" y="22"/>
                    <a:pt x="73" y="22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65" y="60"/>
                    <a:pt x="65" y="60"/>
                    <a:pt x="65" y="60"/>
                  </a:cubicBezTo>
                  <a:lnTo>
                    <a:pt x="55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9" name="제목 3"/>
          <p:cNvSpPr txBox="1">
            <a:spLocks/>
          </p:cNvSpPr>
          <p:nvPr userDrawn="1"/>
        </p:nvSpPr>
        <p:spPr>
          <a:xfrm>
            <a:off x="2502700" y="6243005"/>
            <a:ext cx="5810886" cy="184666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3600" kern="1200" spc="-150" baseline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본 자료는 </a:t>
            </a:r>
            <a:r>
              <a:rPr lang="en-US" altLang="ko-KR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NH</a:t>
            </a:r>
            <a:r>
              <a:rPr lang="ko-KR" altLang="en-US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투자증권이 제작한 것이며</a:t>
            </a:r>
            <a:r>
              <a:rPr lang="en-US" altLang="ko-KR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, </a:t>
            </a:r>
            <a:r>
              <a:rPr lang="ko-KR" altLang="en-US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투자권유를 위한 광고물로 활용될 수 없고</a:t>
            </a:r>
            <a:r>
              <a:rPr lang="en-US" altLang="ko-KR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, </a:t>
            </a:r>
            <a:r>
              <a:rPr lang="ko-KR" altLang="en-US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투자자에게 배포될 수  없습니다</a:t>
            </a:r>
            <a:r>
              <a:rPr lang="en-US" altLang="ko-KR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. </a:t>
            </a:r>
            <a:r>
              <a:rPr lang="ko-KR" altLang="en-US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본 자료에 수록된 내용은 신뢰할만한 자료 및 정보로부터</a:t>
            </a:r>
          </a:p>
          <a:p>
            <a:r>
              <a:rPr lang="ko-KR" altLang="en-US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얻어진 것이니 당사는 그 정확성이나 안정성을 보장할 수 없습니다</a:t>
            </a:r>
            <a:r>
              <a:rPr lang="en-US" altLang="ko-KR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. </a:t>
            </a:r>
            <a:r>
              <a:rPr lang="ko-KR" altLang="en-US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600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40000"/>
                  </a:schemeClr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.</a:t>
            </a:r>
            <a:endParaRPr lang="ko-KR" altLang="en-US" sz="600" kern="1200" spc="0" baseline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alpha val="40000"/>
                </a:schemeClr>
              </a:solidFill>
              <a:latin typeface="나눔고딕" pitchFamily="50" charset="-127"/>
              <a:ea typeface="나눔고딕" pitchFamily="50" charset="-127"/>
              <a:cs typeface="+mj-cs"/>
            </a:endParaRPr>
          </a:p>
        </p:txBody>
      </p:sp>
      <p:grpSp>
        <p:nvGrpSpPr>
          <p:cNvPr id="20" name="그룹 19"/>
          <p:cNvGrpSpPr/>
          <p:nvPr userDrawn="1"/>
        </p:nvGrpSpPr>
        <p:grpSpPr>
          <a:xfrm>
            <a:off x="0" y="3933056"/>
            <a:ext cx="9906000" cy="1912822"/>
            <a:chOff x="0" y="4659885"/>
            <a:chExt cx="9906000" cy="1912822"/>
          </a:xfrm>
        </p:grpSpPr>
        <p:sp>
          <p:nvSpPr>
            <p:cNvPr id="21" name="직사각형 20"/>
            <p:cNvSpPr/>
            <p:nvPr/>
          </p:nvSpPr>
          <p:spPr>
            <a:xfrm>
              <a:off x="0" y="5196024"/>
              <a:ext cx="2202702" cy="480876"/>
            </a:xfrm>
            <a:prstGeom prst="rect">
              <a:avLst/>
            </a:prstGeom>
            <a:solidFill>
              <a:srgbClr val="FBB8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6527068" y="4659885"/>
              <a:ext cx="522525" cy="207293"/>
            </a:xfrm>
            <a:prstGeom prst="rect">
              <a:avLst/>
            </a:prstGeom>
            <a:solidFill>
              <a:srgbClr val="FBB8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257476" y="5380174"/>
              <a:ext cx="648524" cy="2967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3554946" y="6302968"/>
              <a:ext cx="1168815" cy="269739"/>
            </a:xfrm>
            <a:prstGeom prst="rect">
              <a:avLst/>
            </a:prstGeom>
            <a:solidFill>
              <a:srgbClr val="8EC9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099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H투자증권_목차">
    <p:bg>
      <p:bgPr>
        <a:solidFill>
          <a:srgbClr val="C2E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 userDrawn="1"/>
        </p:nvGrpSpPr>
        <p:grpSpPr>
          <a:xfrm>
            <a:off x="0" y="555908"/>
            <a:ext cx="9461038" cy="225468"/>
            <a:chOff x="0" y="555908"/>
            <a:chExt cx="9461038" cy="225468"/>
          </a:xfrm>
        </p:grpSpPr>
        <p:sp>
          <p:nvSpPr>
            <p:cNvPr id="20" name="직사각형 19"/>
            <p:cNvSpPr/>
            <p:nvPr userDrawn="1"/>
          </p:nvSpPr>
          <p:spPr>
            <a:xfrm>
              <a:off x="0" y="555908"/>
              <a:ext cx="8101413" cy="225468"/>
            </a:xfrm>
            <a:prstGeom prst="rect">
              <a:avLst/>
            </a:prstGeom>
            <a:solidFill>
              <a:srgbClr val="1E75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" name="그룹 20"/>
            <p:cNvGrpSpPr/>
            <p:nvPr userDrawn="1"/>
          </p:nvGrpSpPr>
          <p:grpSpPr>
            <a:xfrm>
              <a:off x="8288181" y="581494"/>
              <a:ext cx="1172857" cy="170923"/>
              <a:chOff x="5208471" y="461665"/>
              <a:chExt cx="1172857" cy="170923"/>
            </a:xfrm>
          </p:grpSpPr>
          <p:sp>
            <p:nvSpPr>
              <p:cNvPr id="22" name="Freeform 44"/>
              <p:cNvSpPr>
                <a:spLocks/>
              </p:cNvSpPr>
              <p:nvPr userDrawn="1"/>
            </p:nvSpPr>
            <p:spPr bwMode="auto">
              <a:xfrm>
                <a:off x="5243411" y="461665"/>
                <a:ext cx="67047" cy="64214"/>
              </a:xfrm>
              <a:custGeom>
                <a:avLst/>
                <a:gdLst>
                  <a:gd name="T0" fmla="*/ 71 w 71"/>
                  <a:gd name="T1" fmla="*/ 0 h 68"/>
                  <a:gd name="T2" fmla="*/ 36 w 71"/>
                  <a:gd name="T3" fmla="*/ 19 h 68"/>
                  <a:gd name="T4" fmla="*/ 0 w 71"/>
                  <a:gd name="T5" fmla="*/ 0 h 68"/>
                  <a:gd name="T6" fmla="*/ 36 w 71"/>
                  <a:gd name="T7" fmla="*/ 68 h 68"/>
                  <a:gd name="T8" fmla="*/ 71 w 71"/>
                  <a:gd name="T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68">
                    <a:moveTo>
                      <a:pt x="71" y="0"/>
                    </a:moveTo>
                    <a:lnTo>
                      <a:pt x="36" y="19"/>
                    </a:lnTo>
                    <a:lnTo>
                      <a:pt x="0" y="0"/>
                    </a:lnTo>
                    <a:lnTo>
                      <a:pt x="36" y="68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FBB81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/>
                <a:endParaRPr lang="ko-KR" altLang="en-US"/>
              </a:p>
            </p:txBody>
          </p:sp>
          <p:sp>
            <p:nvSpPr>
              <p:cNvPr id="26" name="Freeform 45"/>
              <p:cNvSpPr>
                <a:spLocks/>
              </p:cNvSpPr>
              <p:nvPr userDrawn="1"/>
            </p:nvSpPr>
            <p:spPr bwMode="auto">
              <a:xfrm>
                <a:off x="5208471" y="465442"/>
                <a:ext cx="137872" cy="167146"/>
              </a:xfrm>
              <a:custGeom>
                <a:avLst/>
                <a:gdLst>
                  <a:gd name="T0" fmla="*/ 52 w 62"/>
                  <a:gd name="T1" fmla="*/ 20 h 75"/>
                  <a:gd name="T2" fmla="*/ 52 w 62"/>
                  <a:gd name="T3" fmla="*/ 20 h 75"/>
                  <a:gd name="T4" fmla="*/ 62 w 62"/>
                  <a:gd name="T5" fmla="*/ 16 h 75"/>
                  <a:gd name="T6" fmla="*/ 62 w 62"/>
                  <a:gd name="T7" fmla="*/ 0 h 75"/>
                  <a:gd name="T8" fmla="*/ 43 w 62"/>
                  <a:gd name="T9" fmla="*/ 8 h 75"/>
                  <a:gd name="T10" fmla="*/ 33 w 62"/>
                  <a:gd name="T11" fmla="*/ 28 h 75"/>
                  <a:gd name="T12" fmla="*/ 47 w 62"/>
                  <a:gd name="T13" fmla="*/ 44 h 75"/>
                  <a:gd name="T14" fmla="*/ 31 w 62"/>
                  <a:gd name="T15" fmla="*/ 60 h 75"/>
                  <a:gd name="T16" fmla="*/ 15 w 62"/>
                  <a:gd name="T17" fmla="*/ 44 h 75"/>
                  <a:gd name="T18" fmla="*/ 29 w 62"/>
                  <a:gd name="T19" fmla="*/ 28 h 75"/>
                  <a:gd name="T20" fmla="*/ 19 w 62"/>
                  <a:gd name="T21" fmla="*/ 8 h 75"/>
                  <a:gd name="T22" fmla="*/ 0 w 62"/>
                  <a:gd name="T23" fmla="*/ 0 h 75"/>
                  <a:gd name="T24" fmla="*/ 0 w 62"/>
                  <a:gd name="T25" fmla="*/ 16 h 75"/>
                  <a:gd name="T26" fmla="*/ 11 w 62"/>
                  <a:gd name="T27" fmla="*/ 20 h 75"/>
                  <a:gd name="T28" fmla="*/ 11 w 62"/>
                  <a:gd name="T29" fmla="*/ 20 h 75"/>
                  <a:gd name="T30" fmla="*/ 0 w 62"/>
                  <a:gd name="T31" fmla="*/ 44 h 75"/>
                  <a:gd name="T32" fmla="*/ 31 w 62"/>
                  <a:gd name="T33" fmla="*/ 75 h 75"/>
                  <a:gd name="T34" fmla="*/ 62 w 62"/>
                  <a:gd name="T35" fmla="*/ 44 h 75"/>
                  <a:gd name="T36" fmla="*/ 52 w 62"/>
                  <a:gd name="T37" fmla="*/ 2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" h="75">
                    <a:moveTo>
                      <a:pt x="52" y="20"/>
                    </a:moveTo>
                    <a:cubicBezTo>
                      <a:pt x="52" y="20"/>
                      <a:pt x="52" y="20"/>
                      <a:pt x="52" y="20"/>
                    </a:cubicBezTo>
                    <a:cubicBezTo>
                      <a:pt x="62" y="16"/>
                      <a:pt x="62" y="16"/>
                      <a:pt x="62" y="16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43" y="8"/>
                      <a:pt x="43" y="8"/>
                      <a:pt x="43" y="8"/>
                    </a:cubicBezTo>
                    <a:cubicBezTo>
                      <a:pt x="43" y="8"/>
                      <a:pt x="33" y="28"/>
                      <a:pt x="33" y="28"/>
                    </a:cubicBezTo>
                    <a:cubicBezTo>
                      <a:pt x="41" y="29"/>
                      <a:pt x="47" y="36"/>
                      <a:pt x="47" y="44"/>
                    </a:cubicBezTo>
                    <a:cubicBezTo>
                      <a:pt x="47" y="53"/>
                      <a:pt x="40" y="60"/>
                      <a:pt x="31" y="60"/>
                    </a:cubicBezTo>
                    <a:cubicBezTo>
                      <a:pt x="22" y="60"/>
                      <a:pt x="15" y="53"/>
                      <a:pt x="15" y="44"/>
                    </a:cubicBezTo>
                    <a:cubicBezTo>
                      <a:pt x="15" y="36"/>
                      <a:pt x="21" y="29"/>
                      <a:pt x="29" y="28"/>
                    </a:cubicBezTo>
                    <a:cubicBezTo>
                      <a:pt x="29" y="28"/>
                      <a:pt x="19" y="8"/>
                      <a:pt x="19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4" y="26"/>
                      <a:pt x="0" y="35"/>
                      <a:pt x="0" y="44"/>
                    </a:cubicBezTo>
                    <a:cubicBezTo>
                      <a:pt x="0" y="61"/>
                      <a:pt x="14" y="75"/>
                      <a:pt x="31" y="75"/>
                    </a:cubicBezTo>
                    <a:cubicBezTo>
                      <a:pt x="48" y="75"/>
                      <a:pt x="62" y="61"/>
                      <a:pt x="62" y="44"/>
                    </a:cubicBezTo>
                    <a:cubicBezTo>
                      <a:pt x="62" y="35"/>
                      <a:pt x="59" y="26"/>
                      <a:pt x="52" y="20"/>
                    </a:cubicBezTo>
                  </a:path>
                </a:pathLst>
              </a:custGeom>
              <a:solidFill>
                <a:srgbClr val="FBB81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/>
                <a:endParaRPr lang="ko-KR" altLang="en-US"/>
              </a:p>
            </p:txBody>
          </p:sp>
          <p:sp>
            <p:nvSpPr>
              <p:cNvPr id="30" name="Freeform 46"/>
              <p:cNvSpPr>
                <a:spLocks/>
              </p:cNvSpPr>
              <p:nvPr userDrawn="1"/>
            </p:nvSpPr>
            <p:spPr bwMode="auto">
              <a:xfrm>
                <a:off x="6071588" y="550432"/>
                <a:ext cx="151093" cy="73658"/>
              </a:xfrm>
              <a:custGeom>
                <a:avLst/>
                <a:gdLst>
                  <a:gd name="T0" fmla="*/ 67 w 68"/>
                  <a:gd name="T1" fmla="*/ 0 h 33"/>
                  <a:gd name="T2" fmla="*/ 68 w 68"/>
                  <a:gd name="T3" fmla="*/ 1 h 33"/>
                  <a:gd name="T4" fmla="*/ 68 w 68"/>
                  <a:gd name="T5" fmla="*/ 4 h 33"/>
                  <a:gd name="T6" fmla="*/ 67 w 68"/>
                  <a:gd name="T7" fmla="*/ 5 h 33"/>
                  <a:gd name="T8" fmla="*/ 35 w 68"/>
                  <a:gd name="T9" fmla="*/ 5 h 33"/>
                  <a:gd name="T10" fmla="*/ 35 w 68"/>
                  <a:gd name="T11" fmla="*/ 5 h 33"/>
                  <a:gd name="T12" fmla="*/ 16 w 68"/>
                  <a:gd name="T13" fmla="*/ 17 h 33"/>
                  <a:gd name="T14" fmla="*/ 35 w 68"/>
                  <a:gd name="T15" fmla="*/ 28 h 33"/>
                  <a:gd name="T16" fmla="*/ 54 w 68"/>
                  <a:gd name="T17" fmla="*/ 17 h 33"/>
                  <a:gd name="T18" fmla="*/ 50 w 68"/>
                  <a:gd name="T19" fmla="*/ 8 h 33"/>
                  <a:gd name="T20" fmla="*/ 62 w 68"/>
                  <a:gd name="T21" fmla="*/ 8 h 33"/>
                  <a:gd name="T22" fmla="*/ 64 w 68"/>
                  <a:gd name="T23" fmla="*/ 16 h 33"/>
                  <a:gd name="T24" fmla="*/ 35 w 68"/>
                  <a:gd name="T25" fmla="*/ 33 h 33"/>
                  <a:gd name="T26" fmla="*/ 5 w 68"/>
                  <a:gd name="T27" fmla="*/ 16 h 33"/>
                  <a:gd name="T28" fmla="*/ 12 w 68"/>
                  <a:gd name="T29" fmla="*/ 5 h 33"/>
                  <a:gd name="T30" fmla="*/ 3 w 68"/>
                  <a:gd name="T31" fmla="*/ 5 h 33"/>
                  <a:gd name="T32" fmla="*/ 0 w 68"/>
                  <a:gd name="T33" fmla="*/ 0 h 33"/>
                  <a:gd name="T34" fmla="*/ 67 w 68"/>
                  <a:gd name="T3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8" h="33">
                    <a:moveTo>
                      <a:pt x="67" y="0"/>
                    </a:moveTo>
                    <a:cubicBezTo>
                      <a:pt x="68" y="0"/>
                      <a:pt x="68" y="1"/>
                      <a:pt x="68" y="1"/>
                    </a:cubicBezTo>
                    <a:cubicBezTo>
                      <a:pt x="68" y="2"/>
                      <a:pt x="68" y="4"/>
                      <a:pt x="68" y="4"/>
                    </a:cubicBezTo>
                    <a:cubicBezTo>
                      <a:pt x="68" y="5"/>
                      <a:pt x="68" y="5"/>
                      <a:pt x="67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24" y="5"/>
                      <a:pt x="16" y="9"/>
                      <a:pt x="16" y="17"/>
                    </a:cubicBezTo>
                    <a:cubicBezTo>
                      <a:pt x="16" y="25"/>
                      <a:pt x="24" y="28"/>
                      <a:pt x="35" y="28"/>
                    </a:cubicBezTo>
                    <a:cubicBezTo>
                      <a:pt x="46" y="28"/>
                      <a:pt x="54" y="25"/>
                      <a:pt x="54" y="17"/>
                    </a:cubicBezTo>
                    <a:cubicBezTo>
                      <a:pt x="54" y="13"/>
                      <a:pt x="53" y="10"/>
                      <a:pt x="5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64" y="10"/>
                      <a:pt x="64" y="13"/>
                      <a:pt x="64" y="16"/>
                    </a:cubicBezTo>
                    <a:cubicBezTo>
                      <a:pt x="64" y="28"/>
                      <a:pt x="51" y="33"/>
                      <a:pt x="35" y="33"/>
                    </a:cubicBezTo>
                    <a:cubicBezTo>
                      <a:pt x="19" y="33"/>
                      <a:pt x="5" y="28"/>
                      <a:pt x="5" y="16"/>
                    </a:cubicBezTo>
                    <a:cubicBezTo>
                      <a:pt x="5" y="11"/>
                      <a:pt x="8" y="8"/>
                      <a:pt x="12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1E75B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1" name="Freeform 47"/>
              <p:cNvSpPr>
                <a:spLocks/>
              </p:cNvSpPr>
              <p:nvPr userDrawn="1"/>
            </p:nvSpPr>
            <p:spPr bwMode="auto">
              <a:xfrm>
                <a:off x="6071588" y="488106"/>
                <a:ext cx="151093" cy="53827"/>
              </a:xfrm>
              <a:custGeom>
                <a:avLst/>
                <a:gdLst>
                  <a:gd name="T0" fmla="*/ 68 w 68"/>
                  <a:gd name="T1" fmla="*/ 20 h 24"/>
                  <a:gd name="T2" fmla="*/ 65 w 68"/>
                  <a:gd name="T3" fmla="*/ 24 h 24"/>
                  <a:gd name="T4" fmla="*/ 34 w 68"/>
                  <a:gd name="T5" fmla="*/ 13 h 24"/>
                  <a:gd name="T6" fmla="*/ 3 w 68"/>
                  <a:gd name="T7" fmla="*/ 24 h 24"/>
                  <a:gd name="T8" fmla="*/ 0 w 68"/>
                  <a:gd name="T9" fmla="*/ 20 h 24"/>
                  <a:gd name="T10" fmla="*/ 28 w 68"/>
                  <a:gd name="T11" fmla="*/ 5 h 24"/>
                  <a:gd name="T12" fmla="*/ 5 w 68"/>
                  <a:gd name="T13" fmla="*/ 5 h 24"/>
                  <a:gd name="T14" fmla="*/ 2 w 68"/>
                  <a:gd name="T15" fmla="*/ 0 h 24"/>
                  <a:gd name="T16" fmla="*/ 64 w 68"/>
                  <a:gd name="T17" fmla="*/ 0 h 24"/>
                  <a:gd name="T18" fmla="*/ 65 w 68"/>
                  <a:gd name="T19" fmla="*/ 2 h 24"/>
                  <a:gd name="T20" fmla="*/ 64 w 68"/>
                  <a:gd name="T21" fmla="*/ 5 h 24"/>
                  <a:gd name="T22" fmla="*/ 40 w 68"/>
                  <a:gd name="T23" fmla="*/ 5 h 24"/>
                  <a:gd name="T24" fmla="*/ 68 w 68"/>
                  <a:gd name="T2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4">
                    <a:moveTo>
                      <a:pt x="68" y="20"/>
                    </a:moveTo>
                    <a:cubicBezTo>
                      <a:pt x="65" y="24"/>
                      <a:pt x="65" y="24"/>
                      <a:pt x="65" y="24"/>
                    </a:cubicBezTo>
                    <a:cubicBezTo>
                      <a:pt x="49" y="24"/>
                      <a:pt x="38" y="19"/>
                      <a:pt x="34" y="13"/>
                    </a:cubicBezTo>
                    <a:cubicBezTo>
                      <a:pt x="30" y="19"/>
                      <a:pt x="19" y="24"/>
                      <a:pt x="3" y="2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4" y="20"/>
                      <a:pt x="28" y="13"/>
                      <a:pt x="28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5" y="0"/>
                      <a:pt x="65" y="1"/>
                      <a:pt x="65" y="2"/>
                    </a:cubicBezTo>
                    <a:cubicBezTo>
                      <a:pt x="65" y="4"/>
                      <a:pt x="65" y="5"/>
                      <a:pt x="64" y="5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40" y="13"/>
                      <a:pt x="54" y="20"/>
                      <a:pt x="68" y="20"/>
                    </a:cubicBezTo>
                  </a:path>
                </a:pathLst>
              </a:custGeom>
              <a:solidFill>
                <a:srgbClr val="1E75B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2" name="Freeform 48"/>
              <p:cNvSpPr>
                <a:spLocks/>
              </p:cNvSpPr>
              <p:nvPr userDrawn="1"/>
            </p:nvSpPr>
            <p:spPr bwMode="auto">
              <a:xfrm>
                <a:off x="6238735" y="483384"/>
                <a:ext cx="142593" cy="134094"/>
              </a:xfrm>
              <a:custGeom>
                <a:avLst/>
                <a:gdLst>
                  <a:gd name="T0" fmla="*/ 31 w 64"/>
                  <a:gd name="T1" fmla="*/ 7 h 60"/>
                  <a:gd name="T2" fmla="*/ 5 w 64"/>
                  <a:gd name="T3" fmla="*/ 7 h 60"/>
                  <a:gd name="T4" fmla="*/ 2 w 64"/>
                  <a:gd name="T5" fmla="*/ 2 h 60"/>
                  <a:gd name="T6" fmla="*/ 41 w 64"/>
                  <a:gd name="T7" fmla="*/ 2 h 60"/>
                  <a:gd name="T8" fmla="*/ 43 w 64"/>
                  <a:gd name="T9" fmla="*/ 5 h 60"/>
                  <a:gd name="T10" fmla="*/ 43 w 64"/>
                  <a:gd name="T11" fmla="*/ 25 h 60"/>
                  <a:gd name="T12" fmla="*/ 54 w 64"/>
                  <a:gd name="T13" fmla="*/ 25 h 60"/>
                  <a:gd name="T14" fmla="*/ 54 w 64"/>
                  <a:gd name="T15" fmla="*/ 0 h 60"/>
                  <a:gd name="T16" fmla="*/ 62 w 64"/>
                  <a:gd name="T17" fmla="*/ 0 h 60"/>
                  <a:gd name="T18" fmla="*/ 64 w 64"/>
                  <a:gd name="T19" fmla="*/ 2 h 60"/>
                  <a:gd name="T20" fmla="*/ 64 w 64"/>
                  <a:gd name="T21" fmla="*/ 55 h 60"/>
                  <a:gd name="T22" fmla="*/ 64 w 64"/>
                  <a:gd name="T23" fmla="*/ 57 h 60"/>
                  <a:gd name="T24" fmla="*/ 64 w 64"/>
                  <a:gd name="T25" fmla="*/ 60 h 60"/>
                  <a:gd name="T26" fmla="*/ 11 w 64"/>
                  <a:gd name="T27" fmla="*/ 60 h 60"/>
                  <a:gd name="T28" fmla="*/ 6 w 64"/>
                  <a:gd name="T29" fmla="*/ 55 h 60"/>
                  <a:gd name="T30" fmla="*/ 6 w 64"/>
                  <a:gd name="T31" fmla="*/ 42 h 60"/>
                  <a:gd name="T32" fmla="*/ 14 w 64"/>
                  <a:gd name="T33" fmla="*/ 42 h 60"/>
                  <a:gd name="T34" fmla="*/ 16 w 64"/>
                  <a:gd name="T35" fmla="*/ 44 h 60"/>
                  <a:gd name="T36" fmla="*/ 16 w 64"/>
                  <a:gd name="T37" fmla="*/ 53 h 60"/>
                  <a:gd name="T38" fmla="*/ 19 w 64"/>
                  <a:gd name="T39" fmla="*/ 55 h 60"/>
                  <a:gd name="T40" fmla="*/ 54 w 64"/>
                  <a:gd name="T41" fmla="*/ 55 h 60"/>
                  <a:gd name="T42" fmla="*/ 54 w 64"/>
                  <a:gd name="T43" fmla="*/ 41 h 60"/>
                  <a:gd name="T44" fmla="*/ 38 w 64"/>
                  <a:gd name="T45" fmla="*/ 41 h 60"/>
                  <a:gd name="T46" fmla="*/ 35 w 64"/>
                  <a:gd name="T47" fmla="*/ 37 h 60"/>
                  <a:gd name="T48" fmla="*/ 54 w 64"/>
                  <a:gd name="T49" fmla="*/ 37 h 60"/>
                  <a:gd name="T50" fmla="*/ 54 w 64"/>
                  <a:gd name="T51" fmla="*/ 29 h 60"/>
                  <a:gd name="T52" fmla="*/ 26 w 64"/>
                  <a:gd name="T53" fmla="*/ 29 h 60"/>
                  <a:gd name="T54" fmla="*/ 26 w 64"/>
                  <a:gd name="T55" fmla="*/ 40 h 60"/>
                  <a:gd name="T56" fmla="*/ 16 w 64"/>
                  <a:gd name="T57" fmla="*/ 40 h 60"/>
                  <a:gd name="T58" fmla="*/ 16 w 64"/>
                  <a:gd name="T59" fmla="*/ 29 h 60"/>
                  <a:gd name="T60" fmla="*/ 3 w 64"/>
                  <a:gd name="T61" fmla="*/ 29 h 60"/>
                  <a:gd name="T62" fmla="*/ 0 w 64"/>
                  <a:gd name="T63" fmla="*/ 25 h 60"/>
                  <a:gd name="T64" fmla="*/ 33 w 64"/>
                  <a:gd name="T65" fmla="*/ 25 h 60"/>
                  <a:gd name="T66" fmla="*/ 33 w 64"/>
                  <a:gd name="T67" fmla="*/ 8 h 60"/>
                  <a:gd name="T68" fmla="*/ 31 w 64"/>
                  <a:gd name="T69" fmla="*/ 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4" h="60">
                    <a:moveTo>
                      <a:pt x="31" y="7"/>
                    </a:moveTo>
                    <a:cubicBezTo>
                      <a:pt x="5" y="7"/>
                      <a:pt x="5" y="7"/>
                      <a:pt x="5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41" y="2"/>
                      <a:pt x="41" y="2"/>
                      <a:pt x="41" y="2"/>
                    </a:cubicBezTo>
                    <a:cubicBezTo>
                      <a:pt x="42" y="2"/>
                      <a:pt x="43" y="3"/>
                      <a:pt x="43" y="5"/>
                    </a:cubicBezTo>
                    <a:cubicBezTo>
                      <a:pt x="43" y="25"/>
                      <a:pt x="43" y="25"/>
                      <a:pt x="43" y="25"/>
                    </a:cubicBezTo>
                    <a:cubicBezTo>
                      <a:pt x="54" y="25"/>
                      <a:pt x="54" y="25"/>
                      <a:pt x="54" y="25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3" y="0"/>
                      <a:pt x="64" y="1"/>
                      <a:pt x="64" y="2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7"/>
                      <a:pt x="64" y="57"/>
                      <a:pt x="64" y="57"/>
                    </a:cubicBezTo>
                    <a:cubicBezTo>
                      <a:pt x="64" y="60"/>
                      <a:pt x="64" y="60"/>
                      <a:pt x="64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8" y="60"/>
                      <a:pt x="6" y="58"/>
                      <a:pt x="6" y="55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2"/>
                      <a:pt x="16" y="43"/>
                      <a:pt x="16" y="44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4"/>
                      <a:pt x="18" y="55"/>
                      <a:pt x="19" y="55"/>
                    </a:cubicBezTo>
                    <a:cubicBezTo>
                      <a:pt x="54" y="55"/>
                      <a:pt x="54" y="55"/>
                      <a:pt x="54" y="55"/>
                    </a:cubicBezTo>
                    <a:cubicBezTo>
                      <a:pt x="54" y="41"/>
                      <a:pt x="54" y="41"/>
                      <a:pt x="54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7"/>
                      <a:pt x="31" y="7"/>
                      <a:pt x="31" y="7"/>
                    </a:cubicBezTo>
                  </a:path>
                </a:pathLst>
              </a:custGeom>
              <a:solidFill>
                <a:srgbClr val="1E75B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3" name="Freeform 49"/>
              <p:cNvSpPr>
                <a:spLocks/>
              </p:cNvSpPr>
              <p:nvPr userDrawn="1"/>
            </p:nvSpPr>
            <p:spPr bwMode="auto">
              <a:xfrm>
                <a:off x="5572038" y="486217"/>
                <a:ext cx="139761" cy="131261"/>
              </a:xfrm>
              <a:custGeom>
                <a:avLst/>
                <a:gdLst>
                  <a:gd name="T0" fmla="*/ 59 w 63"/>
                  <a:gd name="T1" fmla="*/ 0 h 59"/>
                  <a:gd name="T2" fmla="*/ 50 w 63"/>
                  <a:gd name="T3" fmla="*/ 0 h 59"/>
                  <a:gd name="T4" fmla="*/ 50 w 63"/>
                  <a:gd name="T5" fmla="*/ 23 h 59"/>
                  <a:gd name="T6" fmla="*/ 13 w 63"/>
                  <a:gd name="T7" fmla="*/ 23 h 59"/>
                  <a:gd name="T8" fmla="*/ 13 w 63"/>
                  <a:gd name="T9" fmla="*/ 0 h 59"/>
                  <a:gd name="T10" fmla="*/ 4 w 63"/>
                  <a:gd name="T11" fmla="*/ 0 h 59"/>
                  <a:gd name="T12" fmla="*/ 0 w 63"/>
                  <a:gd name="T13" fmla="*/ 4 h 59"/>
                  <a:gd name="T14" fmla="*/ 0 w 63"/>
                  <a:gd name="T15" fmla="*/ 54 h 59"/>
                  <a:gd name="T16" fmla="*/ 4 w 63"/>
                  <a:gd name="T17" fmla="*/ 59 h 59"/>
                  <a:gd name="T18" fmla="*/ 13 w 63"/>
                  <a:gd name="T19" fmla="*/ 59 h 59"/>
                  <a:gd name="T20" fmla="*/ 13 w 63"/>
                  <a:gd name="T21" fmla="*/ 33 h 59"/>
                  <a:gd name="T22" fmla="*/ 50 w 63"/>
                  <a:gd name="T23" fmla="*/ 33 h 59"/>
                  <a:gd name="T24" fmla="*/ 50 w 63"/>
                  <a:gd name="T25" fmla="*/ 59 h 59"/>
                  <a:gd name="T26" fmla="*/ 59 w 63"/>
                  <a:gd name="T27" fmla="*/ 59 h 59"/>
                  <a:gd name="T28" fmla="*/ 63 w 63"/>
                  <a:gd name="T29" fmla="*/ 54 h 59"/>
                  <a:gd name="T30" fmla="*/ 63 w 63"/>
                  <a:gd name="T31" fmla="*/ 4 h 59"/>
                  <a:gd name="T32" fmla="*/ 59 w 63"/>
                  <a:gd name="T3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3" h="59">
                    <a:moveTo>
                      <a:pt x="59" y="0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7"/>
                      <a:pt x="2" y="59"/>
                      <a:pt x="4" y="59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50" y="33"/>
                      <a:pt x="50" y="33"/>
                      <a:pt x="50" y="33"/>
                    </a:cubicBezTo>
                    <a:cubicBezTo>
                      <a:pt x="50" y="59"/>
                      <a:pt x="50" y="59"/>
                      <a:pt x="50" y="59"/>
                    </a:cubicBezTo>
                    <a:cubicBezTo>
                      <a:pt x="59" y="59"/>
                      <a:pt x="59" y="59"/>
                      <a:pt x="59" y="59"/>
                    </a:cubicBezTo>
                    <a:cubicBezTo>
                      <a:pt x="62" y="59"/>
                      <a:pt x="63" y="57"/>
                      <a:pt x="63" y="54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2"/>
                      <a:pt x="62" y="0"/>
                      <a:pt x="59" y="0"/>
                    </a:cubicBezTo>
                  </a:path>
                </a:pathLst>
              </a:custGeom>
              <a:solidFill>
                <a:srgbClr val="1E75B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4" name="Freeform 50"/>
              <p:cNvSpPr>
                <a:spLocks/>
              </p:cNvSpPr>
              <p:nvPr userDrawn="1"/>
            </p:nvSpPr>
            <p:spPr bwMode="auto">
              <a:xfrm>
                <a:off x="5402059" y="486217"/>
                <a:ext cx="142593" cy="131261"/>
              </a:xfrm>
              <a:custGeom>
                <a:avLst/>
                <a:gdLst>
                  <a:gd name="T0" fmla="*/ 61 w 64"/>
                  <a:gd name="T1" fmla="*/ 0 h 59"/>
                  <a:gd name="T2" fmla="*/ 51 w 64"/>
                  <a:gd name="T3" fmla="*/ 0 h 59"/>
                  <a:gd name="T4" fmla="*/ 51 w 64"/>
                  <a:gd name="T5" fmla="*/ 45 h 59"/>
                  <a:gd name="T6" fmla="*/ 24 w 64"/>
                  <a:gd name="T7" fmla="*/ 9 h 59"/>
                  <a:gd name="T8" fmla="*/ 9 w 64"/>
                  <a:gd name="T9" fmla="*/ 0 h 59"/>
                  <a:gd name="T10" fmla="*/ 0 w 64"/>
                  <a:gd name="T11" fmla="*/ 0 h 59"/>
                  <a:gd name="T12" fmla="*/ 0 w 64"/>
                  <a:gd name="T13" fmla="*/ 54 h 59"/>
                  <a:gd name="T14" fmla="*/ 4 w 64"/>
                  <a:gd name="T15" fmla="*/ 59 h 59"/>
                  <a:gd name="T16" fmla="*/ 13 w 64"/>
                  <a:gd name="T17" fmla="*/ 59 h 59"/>
                  <a:gd name="T18" fmla="*/ 13 w 64"/>
                  <a:gd name="T19" fmla="*/ 13 h 59"/>
                  <a:gd name="T20" fmla="*/ 40 w 64"/>
                  <a:gd name="T21" fmla="*/ 49 h 59"/>
                  <a:gd name="T22" fmla="*/ 56 w 64"/>
                  <a:gd name="T23" fmla="*/ 59 h 59"/>
                  <a:gd name="T24" fmla="*/ 64 w 64"/>
                  <a:gd name="T25" fmla="*/ 59 h 59"/>
                  <a:gd name="T26" fmla="*/ 64 w 64"/>
                  <a:gd name="T27" fmla="*/ 4 h 59"/>
                  <a:gd name="T28" fmla="*/ 61 w 64"/>
                  <a:gd name="T2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59">
                    <a:moveTo>
                      <a:pt x="61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51" y="45"/>
                      <a:pt x="51" y="45"/>
                      <a:pt x="51" y="45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19" y="3"/>
                      <a:pt x="16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7"/>
                      <a:pt x="1" y="59"/>
                      <a:pt x="4" y="59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5" y="55"/>
                      <a:pt x="49" y="59"/>
                      <a:pt x="56" y="59"/>
                    </a:cubicBez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2"/>
                      <a:pt x="63" y="0"/>
                      <a:pt x="61" y="0"/>
                    </a:cubicBezTo>
                  </a:path>
                </a:pathLst>
              </a:custGeom>
              <a:solidFill>
                <a:srgbClr val="1E75B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5" name="Freeform 51"/>
              <p:cNvSpPr>
                <a:spLocks noEditPoints="1"/>
              </p:cNvSpPr>
              <p:nvPr userDrawn="1"/>
            </p:nvSpPr>
            <p:spPr bwMode="auto">
              <a:xfrm>
                <a:off x="5732574" y="488106"/>
                <a:ext cx="153926" cy="129373"/>
              </a:xfrm>
              <a:custGeom>
                <a:avLst/>
                <a:gdLst>
                  <a:gd name="T0" fmla="*/ 68 w 69"/>
                  <a:gd name="T1" fmla="*/ 40 h 58"/>
                  <a:gd name="T2" fmla="*/ 40 w 69"/>
                  <a:gd name="T3" fmla="*/ 40 h 58"/>
                  <a:gd name="T4" fmla="*/ 40 w 69"/>
                  <a:gd name="T5" fmla="*/ 58 h 58"/>
                  <a:gd name="T6" fmla="*/ 30 w 69"/>
                  <a:gd name="T7" fmla="*/ 58 h 58"/>
                  <a:gd name="T8" fmla="*/ 30 w 69"/>
                  <a:gd name="T9" fmla="*/ 40 h 58"/>
                  <a:gd name="T10" fmla="*/ 2 w 69"/>
                  <a:gd name="T11" fmla="*/ 40 h 58"/>
                  <a:gd name="T12" fmla="*/ 0 w 69"/>
                  <a:gd name="T13" fmla="*/ 36 h 58"/>
                  <a:gd name="T14" fmla="*/ 68 w 69"/>
                  <a:gd name="T15" fmla="*/ 36 h 58"/>
                  <a:gd name="T16" fmla="*/ 69 w 69"/>
                  <a:gd name="T17" fmla="*/ 38 h 58"/>
                  <a:gd name="T18" fmla="*/ 68 w 69"/>
                  <a:gd name="T19" fmla="*/ 40 h 58"/>
                  <a:gd name="T20" fmla="*/ 5 w 69"/>
                  <a:gd name="T21" fmla="*/ 25 h 58"/>
                  <a:gd name="T22" fmla="*/ 5 w 69"/>
                  <a:gd name="T23" fmla="*/ 0 h 58"/>
                  <a:gd name="T24" fmla="*/ 64 w 69"/>
                  <a:gd name="T25" fmla="*/ 0 h 58"/>
                  <a:gd name="T26" fmla="*/ 65 w 69"/>
                  <a:gd name="T27" fmla="*/ 2 h 58"/>
                  <a:gd name="T28" fmla="*/ 64 w 69"/>
                  <a:gd name="T29" fmla="*/ 4 h 58"/>
                  <a:gd name="T30" fmla="*/ 15 w 69"/>
                  <a:gd name="T31" fmla="*/ 4 h 58"/>
                  <a:gd name="T32" fmla="*/ 15 w 69"/>
                  <a:gd name="T33" fmla="*/ 12 h 58"/>
                  <a:gd name="T34" fmla="*/ 64 w 69"/>
                  <a:gd name="T35" fmla="*/ 12 h 58"/>
                  <a:gd name="T36" fmla="*/ 65 w 69"/>
                  <a:gd name="T37" fmla="*/ 14 h 58"/>
                  <a:gd name="T38" fmla="*/ 64 w 69"/>
                  <a:gd name="T39" fmla="*/ 16 h 58"/>
                  <a:gd name="T40" fmla="*/ 15 w 69"/>
                  <a:gd name="T41" fmla="*/ 16 h 58"/>
                  <a:gd name="T42" fmla="*/ 15 w 69"/>
                  <a:gd name="T43" fmla="*/ 23 h 58"/>
                  <a:gd name="T44" fmla="*/ 18 w 69"/>
                  <a:gd name="T45" fmla="*/ 25 h 58"/>
                  <a:gd name="T46" fmla="*/ 65 w 69"/>
                  <a:gd name="T47" fmla="*/ 25 h 58"/>
                  <a:gd name="T48" fmla="*/ 66 w 69"/>
                  <a:gd name="T49" fmla="*/ 27 h 58"/>
                  <a:gd name="T50" fmla="*/ 65 w 69"/>
                  <a:gd name="T51" fmla="*/ 29 h 58"/>
                  <a:gd name="T52" fmla="*/ 10 w 69"/>
                  <a:gd name="T53" fmla="*/ 29 h 58"/>
                  <a:gd name="T54" fmla="*/ 5 w 69"/>
                  <a:gd name="T55" fmla="*/ 25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9" h="58">
                    <a:moveTo>
                      <a:pt x="68" y="40"/>
                    </a:moveTo>
                    <a:cubicBezTo>
                      <a:pt x="40" y="40"/>
                      <a:pt x="40" y="40"/>
                      <a:pt x="40" y="40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30" y="58"/>
                      <a:pt x="30" y="58"/>
                      <a:pt x="30" y="58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68" y="36"/>
                      <a:pt x="68" y="36"/>
                      <a:pt x="68" y="36"/>
                    </a:cubicBezTo>
                    <a:cubicBezTo>
                      <a:pt x="69" y="36"/>
                      <a:pt x="69" y="37"/>
                      <a:pt x="69" y="38"/>
                    </a:cubicBezTo>
                    <a:cubicBezTo>
                      <a:pt x="69" y="40"/>
                      <a:pt x="69" y="40"/>
                      <a:pt x="68" y="40"/>
                    </a:cubicBezTo>
                    <a:moveTo>
                      <a:pt x="5" y="25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5" y="0"/>
                      <a:pt x="65" y="1"/>
                      <a:pt x="65" y="2"/>
                    </a:cubicBezTo>
                    <a:cubicBezTo>
                      <a:pt x="65" y="3"/>
                      <a:pt x="65" y="4"/>
                      <a:pt x="64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5" y="12"/>
                      <a:pt x="65" y="13"/>
                      <a:pt x="65" y="14"/>
                    </a:cubicBezTo>
                    <a:cubicBezTo>
                      <a:pt x="65" y="15"/>
                      <a:pt x="65" y="16"/>
                      <a:pt x="64" y="16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4"/>
                      <a:pt x="17" y="25"/>
                      <a:pt x="18" y="25"/>
                    </a:cubicBezTo>
                    <a:cubicBezTo>
                      <a:pt x="65" y="25"/>
                      <a:pt x="65" y="25"/>
                      <a:pt x="65" y="25"/>
                    </a:cubicBezTo>
                    <a:cubicBezTo>
                      <a:pt x="66" y="25"/>
                      <a:pt x="66" y="26"/>
                      <a:pt x="66" y="27"/>
                    </a:cubicBezTo>
                    <a:cubicBezTo>
                      <a:pt x="66" y="29"/>
                      <a:pt x="66" y="29"/>
                      <a:pt x="65" y="29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7" y="29"/>
                      <a:pt x="5" y="27"/>
                      <a:pt x="5" y="25"/>
                    </a:cubicBezTo>
                  </a:path>
                </a:pathLst>
              </a:custGeom>
              <a:solidFill>
                <a:srgbClr val="1E75B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6" name="Freeform 52"/>
              <p:cNvSpPr>
                <a:spLocks noEditPoints="1"/>
              </p:cNvSpPr>
              <p:nvPr userDrawn="1"/>
            </p:nvSpPr>
            <p:spPr bwMode="auto">
              <a:xfrm>
                <a:off x="5899720" y="483384"/>
                <a:ext cx="165257" cy="134094"/>
              </a:xfrm>
              <a:custGeom>
                <a:avLst/>
                <a:gdLst>
                  <a:gd name="T0" fmla="*/ 45 w 74"/>
                  <a:gd name="T1" fmla="*/ 55 h 60"/>
                  <a:gd name="T2" fmla="*/ 24 w 74"/>
                  <a:gd name="T3" fmla="*/ 38 h 60"/>
                  <a:gd name="T4" fmla="*/ 3 w 74"/>
                  <a:gd name="T5" fmla="*/ 55 h 60"/>
                  <a:gd name="T6" fmla="*/ 0 w 74"/>
                  <a:gd name="T7" fmla="*/ 52 h 60"/>
                  <a:gd name="T8" fmla="*/ 19 w 74"/>
                  <a:gd name="T9" fmla="*/ 23 h 60"/>
                  <a:gd name="T10" fmla="*/ 19 w 74"/>
                  <a:gd name="T11" fmla="*/ 7 h 60"/>
                  <a:gd name="T12" fmla="*/ 4 w 74"/>
                  <a:gd name="T13" fmla="*/ 7 h 60"/>
                  <a:gd name="T14" fmla="*/ 1 w 74"/>
                  <a:gd name="T15" fmla="*/ 2 h 60"/>
                  <a:gd name="T16" fmla="*/ 45 w 74"/>
                  <a:gd name="T17" fmla="*/ 2 h 60"/>
                  <a:gd name="T18" fmla="*/ 46 w 74"/>
                  <a:gd name="T19" fmla="*/ 4 h 60"/>
                  <a:gd name="T20" fmla="*/ 45 w 74"/>
                  <a:gd name="T21" fmla="*/ 7 h 60"/>
                  <a:gd name="T22" fmla="*/ 29 w 74"/>
                  <a:gd name="T23" fmla="*/ 7 h 60"/>
                  <a:gd name="T24" fmla="*/ 29 w 74"/>
                  <a:gd name="T25" fmla="*/ 23 h 60"/>
                  <a:gd name="T26" fmla="*/ 48 w 74"/>
                  <a:gd name="T27" fmla="*/ 52 h 60"/>
                  <a:gd name="T28" fmla="*/ 45 w 74"/>
                  <a:gd name="T29" fmla="*/ 55 h 60"/>
                  <a:gd name="T30" fmla="*/ 55 w 74"/>
                  <a:gd name="T31" fmla="*/ 60 h 60"/>
                  <a:gd name="T32" fmla="*/ 55 w 74"/>
                  <a:gd name="T33" fmla="*/ 0 h 60"/>
                  <a:gd name="T34" fmla="*/ 63 w 74"/>
                  <a:gd name="T35" fmla="*/ 0 h 60"/>
                  <a:gd name="T36" fmla="*/ 65 w 74"/>
                  <a:gd name="T37" fmla="*/ 2 h 60"/>
                  <a:gd name="T38" fmla="*/ 65 w 74"/>
                  <a:gd name="T39" fmla="*/ 18 h 60"/>
                  <a:gd name="T40" fmla="*/ 73 w 74"/>
                  <a:gd name="T41" fmla="*/ 18 h 60"/>
                  <a:gd name="T42" fmla="*/ 74 w 74"/>
                  <a:gd name="T43" fmla="*/ 20 h 60"/>
                  <a:gd name="T44" fmla="*/ 73 w 74"/>
                  <a:gd name="T45" fmla="*/ 22 h 60"/>
                  <a:gd name="T46" fmla="*/ 65 w 74"/>
                  <a:gd name="T47" fmla="*/ 22 h 60"/>
                  <a:gd name="T48" fmla="*/ 65 w 74"/>
                  <a:gd name="T49" fmla="*/ 60 h 60"/>
                  <a:gd name="T50" fmla="*/ 55 w 74"/>
                  <a:gd name="T51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4" h="60">
                    <a:moveTo>
                      <a:pt x="45" y="55"/>
                    </a:moveTo>
                    <a:cubicBezTo>
                      <a:pt x="37" y="52"/>
                      <a:pt x="27" y="46"/>
                      <a:pt x="24" y="38"/>
                    </a:cubicBezTo>
                    <a:cubicBezTo>
                      <a:pt x="21" y="46"/>
                      <a:pt x="11" y="52"/>
                      <a:pt x="3" y="55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10" y="48"/>
                      <a:pt x="19" y="38"/>
                      <a:pt x="19" y="23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45" y="2"/>
                      <a:pt x="45" y="2"/>
                      <a:pt x="45" y="2"/>
                    </a:cubicBezTo>
                    <a:cubicBezTo>
                      <a:pt x="46" y="2"/>
                      <a:pt x="46" y="3"/>
                      <a:pt x="46" y="4"/>
                    </a:cubicBezTo>
                    <a:cubicBezTo>
                      <a:pt x="46" y="6"/>
                      <a:pt x="46" y="7"/>
                      <a:pt x="45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38"/>
                      <a:pt x="38" y="48"/>
                      <a:pt x="48" y="52"/>
                    </a:cubicBezTo>
                    <a:lnTo>
                      <a:pt x="45" y="55"/>
                    </a:lnTo>
                    <a:close/>
                    <a:moveTo>
                      <a:pt x="55" y="60"/>
                    </a:moveTo>
                    <a:cubicBezTo>
                      <a:pt x="55" y="0"/>
                      <a:pt x="55" y="0"/>
                      <a:pt x="55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4" y="0"/>
                      <a:pt x="65" y="1"/>
                      <a:pt x="65" y="2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8"/>
                      <a:pt x="74" y="19"/>
                      <a:pt x="74" y="20"/>
                    </a:cubicBezTo>
                    <a:cubicBezTo>
                      <a:pt x="74" y="21"/>
                      <a:pt x="73" y="22"/>
                      <a:pt x="73" y="22"/>
                    </a:cubicBezTo>
                    <a:cubicBezTo>
                      <a:pt x="65" y="22"/>
                      <a:pt x="65" y="22"/>
                      <a:pt x="65" y="22"/>
                    </a:cubicBezTo>
                    <a:cubicBezTo>
                      <a:pt x="65" y="60"/>
                      <a:pt x="65" y="60"/>
                      <a:pt x="65" y="60"/>
                    </a:cubicBezTo>
                    <a:lnTo>
                      <a:pt x="55" y="60"/>
                    </a:lnTo>
                    <a:close/>
                  </a:path>
                </a:pathLst>
              </a:custGeom>
              <a:solidFill>
                <a:srgbClr val="1E75B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4443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H투자증권_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9906000" cy="873125"/>
          </a:xfrm>
          <a:prstGeom prst="rect">
            <a:avLst/>
          </a:prstGeom>
          <a:solidFill>
            <a:srgbClr val="DAE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/>
          </a:p>
        </p:txBody>
      </p:sp>
      <p:sp>
        <p:nvSpPr>
          <p:cNvPr id="22" name="슬라이드 번호 개체 틀 1"/>
          <p:cNvSpPr txBox="1">
            <a:spLocks/>
          </p:cNvSpPr>
          <p:nvPr userDrawn="1"/>
        </p:nvSpPr>
        <p:spPr>
          <a:xfrm>
            <a:off x="8768928" y="6462979"/>
            <a:ext cx="762000" cy="222394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100" kern="1200">
                <a:solidFill>
                  <a:schemeClr val="tx1"/>
                </a:solidFill>
                <a:latin typeface="코어 고딕 D 6 Bold" pitchFamily="34" charset="-127"/>
                <a:ea typeface="코어 고딕 D 6 Bold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3100-E839-4822-9B55-95FE4DC5E8F4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나눔고딕 ExtraBold" pitchFamily="50" charset="-127"/>
              <a:ea typeface="나눔고딕 ExtraBold" pitchFamily="50" charset="-127"/>
              <a:cs typeface="+mn-cs"/>
            </a:endParaRPr>
          </a:p>
        </p:txBody>
      </p:sp>
      <p:cxnSp>
        <p:nvCxnSpPr>
          <p:cNvPr id="17" name="직선 연결선 16"/>
          <p:cNvCxnSpPr/>
          <p:nvPr userDrawn="1"/>
        </p:nvCxnSpPr>
        <p:spPr>
          <a:xfrm flipH="1">
            <a:off x="838200" y="869950"/>
            <a:ext cx="9067800" cy="0"/>
          </a:xfrm>
          <a:prstGeom prst="line">
            <a:avLst/>
          </a:prstGeom>
          <a:ln w="6350">
            <a:solidFill>
              <a:srgbClr val="1E75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 userDrawn="1"/>
        </p:nvSpPr>
        <p:spPr>
          <a:xfrm>
            <a:off x="9429750" y="353405"/>
            <a:ext cx="476250" cy="519720"/>
          </a:xfrm>
          <a:prstGeom prst="rect">
            <a:avLst/>
          </a:prstGeom>
          <a:solidFill>
            <a:srgbClr val="1E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grpSp>
        <p:nvGrpSpPr>
          <p:cNvPr id="19" name="그룹 18"/>
          <p:cNvGrpSpPr/>
          <p:nvPr userDrawn="1"/>
        </p:nvGrpSpPr>
        <p:grpSpPr>
          <a:xfrm>
            <a:off x="7888171" y="572112"/>
            <a:ext cx="1172857" cy="170923"/>
            <a:chOff x="5208471" y="461665"/>
            <a:chExt cx="1172857" cy="170923"/>
          </a:xfrm>
        </p:grpSpPr>
        <p:sp>
          <p:nvSpPr>
            <p:cNvPr id="20" name="Freeform 44"/>
            <p:cNvSpPr>
              <a:spLocks/>
            </p:cNvSpPr>
            <p:nvPr userDrawn="1"/>
          </p:nvSpPr>
          <p:spPr bwMode="auto">
            <a:xfrm>
              <a:off x="5243411" y="461665"/>
              <a:ext cx="67047" cy="64214"/>
            </a:xfrm>
            <a:custGeom>
              <a:avLst/>
              <a:gdLst>
                <a:gd name="T0" fmla="*/ 71 w 71"/>
                <a:gd name="T1" fmla="*/ 0 h 68"/>
                <a:gd name="T2" fmla="*/ 36 w 71"/>
                <a:gd name="T3" fmla="*/ 19 h 68"/>
                <a:gd name="T4" fmla="*/ 0 w 71"/>
                <a:gd name="T5" fmla="*/ 0 h 68"/>
                <a:gd name="T6" fmla="*/ 36 w 71"/>
                <a:gd name="T7" fmla="*/ 68 h 68"/>
                <a:gd name="T8" fmla="*/ 71 w 71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8">
                  <a:moveTo>
                    <a:pt x="71" y="0"/>
                  </a:moveTo>
                  <a:lnTo>
                    <a:pt x="36" y="19"/>
                  </a:lnTo>
                  <a:lnTo>
                    <a:pt x="0" y="0"/>
                  </a:lnTo>
                  <a:lnTo>
                    <a:pt x="36" y="68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BB8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21" name="Freeform 45"/>
            <p:cNvSpPr>
              <a:spLocks/>
            </p:cNvSpPr>
            <p:nvPr userDrawn="1"/>
          </p:nvSpPr>
          <p:spPr bwMode="auto">
            <a:xfrm>
              <a:off x="5208471" y="465442"/>
              <a:ext cx="137872" cy="167146"/>
            </a:xfrm>
            <a:custGeom>
              <a:avLst/>
              <a:gdLst>
                <a:gd name="T0" fmla="*/ 52 w 62"/>
                <a:gd name="T1" fmla="*/ 20 h 75"/>
                <a:gd name="T2" fmla="*/ 52 w 62"/>
                <a:gd name="T3" fmla="*/ 20 h 75"/>
                <a:gd name="T4" fmla="*/ 62 w 62"/>
                <a:gd name="T5" fmla="*/ 16 h 75"/>
                <a:gd name="T6" fmla="*/ 62 w 62"/>
                <a:gd name="T7" fmla="*/ 0 h 75"/>
                <a:gd name="T8" fmla="*/ 43 w 62"/>
                <a:gd name="T9" fmla="*/ 8 h 75"/>
                <a:gd name="T10" fmla="*/ 33 w 62"/>
                <a:gd name="T11" fmla="*/ 28 h 75"/>
                <a:gd name="T12" fmla="*/ 47 w 62"/>
                <a:gd name="T13" fmla="*/ 44 h 75"/>
                <a:gd name="T14" fmla="*/ 31 w 62"/>
                <a:gd name="T15" fmla="*/ 60 h 75"/>
                <a:gd name="T16" fmla="*/ 15 w 62"/>
                <a:gd name="T17" fmla="*/ 44 h 75"/>
                <a:gd name="T18" fmla="*/ 29 w 62"/>
                <a:gd name="T19" fmla="*/ 28 h 75"/>
                <a:gd name="T20" fmla="*/ 19 w 62"/>
                <a:gd name="T21" fmla="*/ 8 h 75"/>
                <a:gd name="T22" fmla="*/ 0 w 62"/>
                <a:gd name="T23" fmla="*/ 0 h 75"/>
                <a:gd name="T24" fmla="*/ 0 w 62"/>
                <a:gd name="T25" fmla="*/ 16 h 75"/>
                <a:gd name="T26" fmla="*/ 11 w 62"/>
                <a:gd name="T27" fmla="*/ 20 h 75"/>
                <a:gd name="T28" fmla="*/ 11 w 62"/>
                <a:gd name="T29" fmla="*/ 20 h 75"/>
                <a:gd name="T30" fmla="*/ 0 w 62"/>
                <a:gd name="T31" fmla="*/ 44 h 75"/>
                <a:gd name="T32" fmla="*/ 31 w 62"/>
                <a:gd name="T33" fmla="*/ 75 h 75"/>
                <a:gd name="T34" fmla="*/ 62 w 62"/>
                <a:gd name="T35" fmla="*/ 44 h 75"/>
                <a:gd name="T36" fmla="*/ 52 w 62"/>
                <a:gd name="T37" fmla="*/ 2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" h="75">
                  <a:moveTo>
                    <a:pt x="52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33" y="28"/>
                    <a:pt x="33" y="28"/>
                  </a:cubicBezTo>
                  <a:cubicBezTo>
                    <a:pt x="41" y="29"/>
                    <a:pt x="47" y="36"/>
                    <a:pt x="47" y="44"/>
                  </a:cubicBezTo>
                  <a:cubicBezTo>
                    <a:pt x="47" y="53"/>
                    <a:pt x="40" y="60"/>
                    <a:pt x="31" y="60"/>
                  </a:cubicBezTo>
                  <a:cubicBezTo>
                    <a:pt x="22" y="60"/>
                    <a:pt x="15" y="53"/>
                    <a:pt x="15" y="44"/>
                  </a:cubicBezTo>
                  <a:cubicBezTo>
                    <a:pt x="15" y="36"/>
                    <a:pt x="21" y="29"/>
                    <a:pt x="29" y="28"/>
                  </a:cubicBezTo>
                  <a:cubicBezTo>
                    <a:pt x="29" y="28"/>
                    <a:pt x="19" y="8"/>
                    <a:pt x="19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4" y="26"/>
                    <a:pt x="0" y="35"/>
                    <a:pt x="0" y="44"/>
                  </a:cubicBezTo>
                  <a:cubicBezTo>
                    <a:pt x="0" y="61"/>
                    <a:pt x="14" y="75"/>
                    <a:pt x="31" y="75"/>
                  </a:cubicBezTo>
                  <a:cubicBezTo>
                    <a:pt x="48" y="75"/>
                    <a:pt x="62" y="61"/>
                    <a:pt x="62" y="44"/>
                  </a:cubicBezTo>
                  <a:cubicBezTo>
                    <a:pt x="62" y="35"/>
                    <a:pt x="59" y="26"/>
                    <a:pt x="52" y="20"/>
                  </a:cubicBezTo>
                </a:path>
              </a:pathLst>
            </a:custGeom>
            <a:solidFill>
              <a:srgbClr val="FBB8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23" name="Freeform 46"/>
            <p:cNvSpPr>
              <a:spLocks/>
            </p:cNvSpPr>
            <p:nvPr userDrawn="1"/>
          </p:nvSpPr>
          <p:spPr bwMode="auto">
            <a:xfrm>
              <a:off x="6071588" y="550432"/>
              <a:ext cx="151093" cy="73658"/>
            </a:xfrm>
            <a:custGeom>
              <a:avLst/>
              <a:gdLst>
                <a:gd name="T0" fmla="*/ 67 w 68"/>
                <a:gd name="T1" fmla="*/ 0 h 33"/>
                <a:gd name="T2" fmla="*/ 68 w 68"/>
                <a:gd name="T3" fmla="*/ 1 h 33"/>
                <a:gd name="T4" fmla="*/ 68 w 68"/>
                <a:gd name="T5" fmla="*/ 4 h 33"/>
                <a:gd name="T6" fmla="*/ 67 w 68"/>
                <a:gd name="T7" fmla="*/ 5 h 33"/>
                <a:gd name="T8" fmla="*/ 35 w 68"/>
                <a:gd name="T9" fmla="*/ 5 h 33"/>
                <a:gd name="T10" fmla="*/ 35 w 68"/>
                <a:gd name="T11" fmla="*/ 5 h 33"/>
                <a:gd name="T12" fmla="*/ 16 w 68"/>
                <a:gd name="T13" fmla="*/ 17 h 33"/>
                <a:gd name="T14" fmla="*/ 35 w 68"/>
                <a:gd name="T15" fmla="*/ 28 h 33"/>
                <a:gd name="T16" fmla="*/ 54 w 68"/>
                <a:gd name="T17" fmla="*/ 17 h 33"/>
                <a:gd name="T18" fmla="*/ 50 w 68"/>
                <a:gd name="T19" fmla="*/ 8 h 33"/>
                <a:gd name="T20" fmla="*/ 62 w 68"/>
                <a:gd name="T21" fmla="*/ 8 h 33"/>
                <a:gd name="T22" fmla="*/ 64 w 68"/>
                <a:gd name="T23" fmla="*/ 16 h 33"/>
                <a:gd name="T24" fmla="*/ 35 w 68"/>
                <a:gd name="T25" fmla="*/ 33 h 33"/>
                <a:gd name="T26" fmla="*/ 5 w 68"/>
                <a:gd name="T27" fmla="*/ 16 h 33"/>
                <a:gd name="T28" fmla="*/ 12 w 68"/>
                <a:gd name="T29" fmla="*/ 5 h 33"/>
                <a:gd name="T30" fmla="*/ 3 w 68"/>
                <a:gd name="T31" fmla="*/ 5 h 33"/>
                <a:gd name="T32" fmla="*/ 0 w 68"/>
                <a:gd name="T33" fmla="*/ 0 h 33"/>
                <a:gd name="T34" fmla="*/ 67 w 68"/>
                <a:gd name="T3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33">
                  <a:moveTo>
                    <a:pt x="67" y="0"/>
                  </a:moveTo>
                  <a:cubicBezTo>
                    <a:pt x="68" y="0"/>
                    <a:pt x="68" y="1"/>
                    <a:pt x="68" y="1"/>
                  </a:cubicBezTo>
                  <a:cubicBezTo>
                    <a:pt x="68" y="2"/>
                    <a:pt x="68" y="4"/>
                    <a:pt x="68" y="4"/>
                  </a:cubicBezTo>
                  <a:cubicBezTo>
                    <a:pt x="68" y="5"/>
                    <a:pt x="68" y="5"/>
                    <a:pt x="67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24" y="5"/>
                    <a:pt x="16" y="9"/>
                    <a:pt x="16" y="17"/>
                  </a:cubicBezTo>
                  <a:cubicBezTo>
                    <a:pt x="16" y="25"/>
                    <a:pt x="24" y="28"/>
                    <a:pt x="35" y="28"/>
                  </a:cubicBezTo>
                  <a:cubicBezTo>
                    <a:pt x="46" y="28"/>
                    <a:pt x="54" y="25"/>
                    <a:pt x="54" y="17"/>
                  </a:cubicBezTo>
                  <a:cubicBezTo>
                    <a:pt x="54" y="13"/>
                    <a:pt x="53" y="10"/>
                    <a:pt x="5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4" y="10"/>
                    <a:pt x="64" y="13"/>
                    <a:pt x="64" y="16"/>
                  </a:cubicBezTo>
                  <a:cubicBezTo>
                    <a:pt x="64" y="28"/>
                    <a:pt x="51" y="33"/>
                    <a:pt x="35" y="33"/>
                  </a:cubicBezTo>
                  <a:cubicBezTo>
                    <a:pt x="19" y="33"/>
                    <a:pt x="5" y="28"/>
                    <a:pt x="5" y="16"/>
                  </a:cubicBezTo>
                  <a:cubicBezTo>
                    <a:pt x="5" y="11"/>
                    <a:pt x="8" y="8"/>
                    <a:pt x="1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47"/>
            <p:cNvSpPr>
              <a:spLocks/>
            </p:cNvSpPr>
            <p:nvPr userDrawn="1"/>
          </p:nvSpPr>
          <p:spPr bwMode="auto">
            <a:xfrm>
              <a:off x="6071588" y="488106"/>
              <a:ext cx="151093" cy="53827"/>
            </a:xfrm>
            <a:custGeom>
              <a:avLst/>
              <a:gdLst>
                <a:gd name="T0" fmla="*/ 68 w 68"/>
                <a:gd name="T1" fmla="*/ 20 h 24"/>
                <a:gd name="T2" fmla="*/ 65 w 68"/>
                <a:gd name="T3" fmla="*/ 24 h 24"/>
                <a:gd name="T4" fmla="*/ 34 w 68"/>
                <a:gd name="T5" fmla="*/ 13 h 24"/>
                <a:gd name="T6" fmla="*/ 3 w 68"/>
                <a:gd name="T7" fmla="*/ 24 h 24"/>
                <a:gd name="T8" fmla="*/ 0 w 68"/>
                <a:gd name="T9" fmla="*/ 20 h 24"/>
                <a:gd name="T10" fmla="*/ 28 w 68"/>
                <a:gd name="T11" fmla="*/ 5 h 24"/>
                <a:gd name="T12" fmla="*/ 5 w 68"/>
                <a:gd name="T13" fmla="*/ 5 h 24"/>
                <a:gd name="T14" fmla="*/ 2 w 68"/>
                <a:gd name="T15" fmla="*/ 0 h 24"/>
                <a:gd name="T16" fmla="*/ 64 w 68"/>
                <a:gd name="T17" fmla="*/ 0 h 24"/>
                <a:gd name="T18" fmla="*/ 65 w 68"/>
                <a:gd name="T19" fmla="*/ 2 h 24"/>
                <a:gd name="T20" fmla="*/ 64 w 68"/>
                <a:gd name="T21" fmla="*/ 5 h 24"/>
                <a:gd name="T22" fmla="*/ 40 w 68"/>
                <a:gd name="T23" fmla="*/ 5 h 24"/>
                <a:gd name="T24" fmla="*/ 68 w 68"/>
                <a:gd name="T25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24">
                  <a:moveTo>
                    <a:pt x="68" y="20"/>
                  </a:moveTo>
                  <a:cubicBezTo>
                    <a:pt x="65" y="24"/>
                    <a:pt x="65" y="24"/>
                    <a:pt x="65" y="24"/>
                  </a:cubicBezTo>
                  <a:cubicBezTo>
                    <a:pt x="49" y="24"/>
                    <a:pt x="38" y="19"/>
                    <a:pt x="34" y="13"/>
                  </a:cubicBezTo>
                  <a:cubicBezTo>
                    <a:pt x="30" y="19"/>
                    <a:pt x="19" y="24"/>
                    <a:pt x="3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4" y="20"/>
                    <a:pt x="28" y="13"/>
                    <a:pt x="28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1"/>
                    <a:pt x="65" y="2"/>
                  </a:cubicBezTo>
                  <a:cubicBezTo>
                    <a:pt x="65" y="4"/>
                    <a:pt x="65" y="5"/>
                    <a:pt x="64" y="5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0" y="13"/>
                    <a:pt x="54" y="20"/>
                    <a:pt x="68" y="20"/>
                  </a:cubicBezTo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48"/>
            <p:cNvSpPr>
              <a:spLocks/>
            </p:cNvSpPr>
            <p:nvPr userDrawn="1"/>
          </p:nvSpPr>
          <p:spPr bwMode="auto">
            <a:xfrm>
              <a:off x="6238735" y="483384"/>
              <a:ext cx="142593" cy="134094"/>
            </a:xfrm>
            <a:custGeom>
              <a:avLst/>
              <a:gdLst>
                <a:gd name="T0" fmla="*/ 31 w 64"/>
                <a:gd name="T1" fmla="*/ 7 h 60"/>
                <a:gd name="T2" fmla="*/ 5 w 64"/>
                <a:gd name="T3" fmla="*/ 7 h 60"/>
                <a:gd name="T4" fmla="*/ 2 w 64"/>
                <a:gd name="T5" fmla="*/ 2 h 60"/>
                <a:gd name="T6" fmla="*/ 41 w 64"/>
                <a:gd name="T7" fmla="*/ 2 h 60"/>
                <a:gd name="T8" fmla="*/ 43 w 64"/>
                <a:gd name="T9" fmla="*/ 5 h 60"/>
                <a:gd name="T10" fmla="*/ 43 w 64"/>
                <a:gd name="T11" fmla="*/ 25 h 60"/>
                <a:gd name="T12" fmla="*/ 54 w 64"/>
                <a:gd name="T13" fmla="*/ 25 h 60"/>
                <a:gd name="T14" fmla="*/ 54 w 64"/>
                <a:gd name="T15" fmla="*/ 0 h 60"/>
                <a:gd name="T16" fmla="*/ 62 w 64"/>
                <a:gd name="T17" fmla="*/ 0 h 60"/>
                <a:gd name="T18" fmla="*/ 64 w 64"/>
                <a:gd name="T19" fmla="*/ 2 h 60"/>
                <a:gd name="T20" fmla="*/ 64 w 64"/>
                <a:gd name="T21" fmla="*/ 55 h 60"/>
                <a:gd name="T22" fmla="*/ 64 w 64"/>
                <a:gd name="T23" fmla="*/ 57 h 60"/>
                <a:gd name="T24" fmla="*/ 64 w 64"/>
                <a:gd name="T25" fmla="*/ 60 h 60"/>
                <a:gd name="T26" fmla="*/ 11 w 64"/>
                <a:gd name="T27" fmla="*/ 60 h 60"/>
                <a:gd name="T28" fmla="*/ 6 w 64"/>
                <a:gd name="T29" fmla="*/ 55 h 60"/>
                <a:gd name="T30" fmla="*/ 6 w 64"/>
                <a:gd name="T31" fmla="*/ 42 h 60"/>
                <a:gd name="T32" fmla="*/ 14 w 64"/>
                <a:gd name="T33" fmla="*/ 42 h 60"/>
                <a:gd name="T34" fmla="*/ 16 w 64"/>
                <a:gd name="T35" fmla="*/ 44 h 60"/>
                <a:gd name="T36" fmla="*/ 16 w 64"/>
                <a:gd name="T37" fmla="*/ 53 h 60"/>
                <a:gd name="T38" fmla="*/ 19 w 64"/>
                <a:gd name="T39" fmla="*/ 55 h 60"/>
                <a:gd name="T40" fmla="*/ 54 w 64"/>
                <a:gd name="T41" fmla="*/ 55 h 60"/>
                <a:gd name="T42" fmla="*/ 54 w 64"/>
                <a:gd name="T43" fmla="*/ 41 h 60"/>
                <a:gd name="T44" fmla="*/ 38 w 64"/>
                <a:gd name="T45" fmla="*/ 41 h 60"/>
                <a:gd name="T46" fmla="*/ 35 w 64"/>
                <a:gd name="T47" fmla="*/ 37 h 60"/>
                <a:gd name="T48" fmla="*/ 54 w 64"/>
                <a:gd name="T49" fmla="*/ 37 h 60"/>
                <a:gd name="T50" fmla="*/ 54 w 64"/>
                <a:gd name="T51" fmla="*/ 29 h 60"/>
                <a:gd name="T52" fmla="*/ 26 w 64"/>
                <a:gd name="T53" fmla="*/ 29 h 60"/>
                <a:gd name="T54" fmla="*/ 26 w 64"/>
                <a:gd name="T55" fmla="*/ 40 h 60"/>
                <a:gd name="T56" fmla="*/ 16 w 64"/>
                <a:gd name="T57" fmla="*/ 40 h 60"/>
                <a:gd name="T58" fmla="*/ 16 w 64"/>
                <a:gd name="T59" fmla="*/ 29 h 60"/>
                <a:gd name="T60" fmla="*/ 3 w 64"/>
                <a:gd name="T61" fmla="*/ 29 h 60"/>
                <a:gd name="T62" fmla="*/ 0 w 64"/>
                <a:gd name="T63" fmla="*/ 25 h 60"/>
                <a:gd name="T64" fmla="*/ 33 w 64"/>
                <a:gd name="T65" fmla="*/ 25 h 60"/>
                <a:gd name="T66" fmla="*/ 33 w 64"/>
                <a:gd name="T67" fmla="*/ 8 h 60"/>
                <a:gd name="T68" fmla="*/ 31 w 64"/>
                <a:gd name="T6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" h="60">
                  <a:moveTo>
                    <a:pt x="31" y="7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2" y="2"/>
                    <a:pt x="43" y="3"/>
                    <a:pt x="43" y="5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3" y="0"/>
                    <a:pt x="64" y="1"/>
                    <a:pt x="64" y="2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7"/>
                    <a:pt x="64" y="57"/>
                    <a:pt x="64" y="5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8" y="60"/>
                    <a:pt x="6" y="58"/>
                    <a:pt x="6" y="55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2"/>
                    <a:pt x="16" y="43"/>
                    <a:pt x="16" y="44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54"/>
                    <a:pt x="18" y="55"/>
                    <a:pt x="19" y="55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7"/>
                    <a:pt x="31" y="7"/>
                    <a:pt x="31" y="7"/>
                  </a:cubicBezTo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49"/>
            <p:cNvSpPr>
              <a:spLocks/>
            </p:cNvSpPr>
            <p:nvPr userDrawn="1"/>
          </p:nvSpPr>
          <p:spPr bwMode="auto">
            <a:xfrm>
              <a:off x="5572038" y="486217"/>
              <a:ext cx="139761" cy="131261"/>
            </a:xfrm>
            <a:custGeom>
              <a:avLst/>
              <a:gdLst>
                <a:gd name="T0" fmla="*/ 59 w 63"/>
                <a:gd name="T1" fmla="*/ 0 h 59"/>
                <a:gd name="T2" fmla="*/ 50 w 63"/>
                <a:gd name="T3" fmla="*/ 0 h 59"/>
                <a:gd name="T4" fmla="*/ 50 w 63"/>
                <a:gd name="T5" fmla="*/ 23 h 59"/>
                <a:gd name="T6" fmla="*/ 13 w 63"/>
                <a:gd name="T7" fmla="*/ 23 h 59"/>
                <a:gd name="T8" fmla="*/ 13 w 63"/>
                <a:gd name="T9" fmla="*/ 0 h 59"/>
                <a:gd name="T10" fmla="*/ 4 w 63"/>
                <a:gd name="T11" fmla="*/ 0 h 59"/>
                <a:gd name="T12" fmla="*/ 0 w 63"/>
                <a:gd name="T13" fmla="*/ 4 h 59"/>
                <a:gd name="T14" fmla="*/ 0 w 63"/>
                <a:gd name="T15" fmla="*/ 54 h 59"/>
                <a:gd name="T16" fmla="*/ 4 w 63"/>
                <a:gd name="T17" fmla="*/ 59 h 59"/>
                <a:gd name="T18" fmla="*/ 13 w 63"/>
                <a:gd name="T19" fmla="*/ 59 h 59"/>
                <a:gd name="T20" fmla="*/ 13 w 63"/>
                <a:gd name="T21" fmla="*/ 33 h 59"/>
                <a:gd name="T22" fmla="*/ 50 w 63"/>
                <a:gd name="T23" fmla="*/ 33 h 59"/>
                <a:gd name="T24" fmla="*/ 50 w 63"/>
                <a:gd name="T25" fmla="*/ 59 h 59"/>
                <a:gd name="T26" fmla="*/ 59 w 63"/>
                <a:gd name="T27" fmla="*/ 59 h 59"/>
                <a:gd name="T28" fmla="*/ 63 w 63"/>
                <a:gd name="T29" fmla="*/ 54 h 59"/>
                <a:gd name="T30" fmla="*/ 63 w 63"/>
                <a:gd name="T31" fmla="*/ 4 h 59"/>
                <a:gd name="T32" fmla="*/ 59 w 63"/>
                <a:gd name="T33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59">
                  <a:moveTo>
                    <a:pt x="59" y="0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2" y="59"/>
                    <a:pt x="4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62" y="59"/>
                    <a:pt x="63" y="57"/>
                    <a:pt x="63" y="5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2"/>
                    <a:pt x="62" y="0"/>
                    <a:pt x="59" y="0"/>
                  </a:cubicBezTo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50"/>
            <p:cNvSpPr>
              <a:spLocks/>
            </p:cNvSpPr>
            <p:nvPr userDrawn="1"/>
          </p:nvSpPr>
          <p:spPr bwMode="auto">
            <a:xfrm>
              <a:off x="5402059" y="486217"/>
              <a:ext cx="142593" cy="131261"/>
            </a:xfrm>
            <a:custGeom>
              <a:avLst/>
              <a:gdLst>
                <a:gd name="T0" fmla="*/ 61 w 64"/>
                <a:gd name="T1" fmla="*/ 0 h 59"/>
                <a:gd name="T2" fmla="*/ 51 w 64"/>
                <a:gd name="T3" fmla="*/ 0 h 59"/>
                <a:gd name="T4" fmla="*/ 51 w 64"/>
                <a:gd name="T5" fmla="*/ 45 h 59"/>
                <a:gd name="T6" fmla="*/ 24 w 64"/>
                <a:gd name="T7" fmla="*/ 9 h 59"/>
                <a:gd name="T8" fmla="*/ 9 w 64"/>
                <a:gd name="T9" fmla="*/ 0 h 59"/>
                <a:gd name="T10" fmla="*/ 0 w 64"/>
                <a:gd name="T11" fmla="*/ 0 h 59"/>
                <a:gd name="T12" fmla="*/ 0 w 64"/>
                <a:gd name="T13" fmla="*/ 54 h 59"/>
                <a:gd name="T14" fmla="*/ 4 w 64"/>
                <a:gd name="T15" fmla="*/ 59 h 59"/>
                <a:gd name="T16" fmla="*/ 13 w 64"/>
                <a:gd name="T17" fmla="*/ 59 h 59"/>
                <a:gd name="T18" fmla="*/ 13 w 64"/>
                <a:gd name="T19" fmla="*/ 13 h 59"/>
                <a:gd name="T20" fmla="*/ 40 w 64"/>
                <a:gd name="T21" fmla="*/ 49 h 59"/>
                <a:gd name="T22" fmla="*/ 56 w 64"/>
                <a:gd name="T23" fmla="*/ 59 h 59"/>
                <a:gd name="T24" fmla="*/ 64 w 64"/>
                <a:gd name="T25" fmla="*/ 59 h 59"/>
                <a:gd name="T26" fmla="*/ 64 w 64"/>
                <a:gd name="T27" fmla="*/ 4 h 59"/>
                <a:gd name="T28" fmla="*/ 61 w 64"/>
                <a:gd name="T2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59">
                  <a:moveTo>
                    <a:pt x="61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9" y="3"/>
                    <a:pt x="16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1" y="59"/>
                    <a:pt x="4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5" y="55"/>
                    <a:pt x="49" y="59"/>
                    <a:pt x="56" y="59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2"/>
                    <a:pt x="63" y="0"/>
                    <a:pt x="61" y="0"/>
                  </a:cubicBezTo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51"/>
            <p:cNvSpPr>
              <a:spLocks noEditPoints="1"/>
            </p:cNvSpPr>
            <p:nvPr userDrawn="1"/>
          </p:nvSpPr>
          <p:spPr bwMode="auto">
            <a:xfrm>
              <a:off x="5732574" y="488106"/>
              <a:ext cx="153926" cy="129373"/>
            </a:xfrm>
            <a:custGeom>
              <a:avLst/>
              <a:gdLst>
                <a:gd name="T0" fmla="*/ 68 w 69"/>
                <a:gd name="T1" fmla="*/ 40 h 58"/>
                <a:gd name="T2" fmla="*/ 40 w 69"/>
                <a:gd name="T3" fmla="*/ 40 h 58"/>
                <a:gd name="T4" fmla="*/ 40 w 69"/>
                <a:gd name="T5" fmla="*/ 58 h 58"/>
                <a:gd name="T6" fmla="*/ 30 w 69"/>
                <a:gd name="T7" fmla="*/ 58 h 58"/>
                <a:gd name="T8" fmla="*/ 30 w 69"/>
                <a:gd name="T9" fmla="*/ 40 h 58"/>
                <a:gd name="T10" fmla="*/ 2 w 69"/>
                <a:gd name="T11" fmla="*/ 40 h 58"/>
                <a:gd name="T12" fmla="*/ 0 w 69"/>
                <a:gd name="T13" fmla="*/ 36 h 58"/>
                <a:gd name="T14" fmla="*/ 68 w 69"/>
                <a:gd name="T15" fmla="*/ 36 h 58"/>
                <a:gd name="T16" fmla="*/ 69 w 69"/>
                <a:gd name="T17" fmla="*/ 38 h 58"/>
                <a:gd name="T18" fmla="*/ 68 w 69"/>
                <a:gd name="T19" fmla="*/ 40 h 58"/>
                <a:gd name="T20" fmla="*/ 5 w 69"/>
                <a:gd name="T21" fmla="*/ 25 h 58"/>
                <a:gd name="T22" fmla="*/ 5 w 69"/>
                <a:gd name="T23" fmla="*/ 0 h 58"/>
                <a:gd name="T24" fmla="*/ 64 w 69"/>
                <a:gd name="T25" fmla="*/ 0 h 58"/>
                <a:gd name="T26" fmla="*/ 65 w 69"/>
                <a:gd name="T27" fmla="*/ 2 h 58"/>
                <a:gd name="T28" fmla="*/ 64 w 69"/>
                <a:gd name="T29" fmla="*/ 4 h 58"/>
                <a:gd name="T30" fmla="*/ 15 w 69"/>
                <a:gd name="T31" fmla="*/ 4 h 58"/>
                <a:gd name="T32" fmla="*/ 15 w 69"/>
                <a:gd name="T33" fmla="*/ 12 h 58"/>
                <a:gd name="T34" fmla="*/ 64 w 69"/>
                <a:gd name="T35" fmla="*/ 12 h 58"/>
                <a:gd name="T36" fmla="*/ 65 w 69"/>
                <a:gd name="T37" fmla="*/ 14 h 58"/>
                <a:gd name="T38" fmla="*/ 64 w 69"/>
                <a:gd name="T39" fmla="*/ 16 h 58"/>
                <a:gd name="T40" fmla="*/ 15 w 69"/>
                <a:gd name="T41" fmla="*/ 16 h 58"/>
                <a:gd name="T42" fmla="*/ 15 w 69"/>
                <a:gd name="T43" fmla="*/ 23 h 58"/>
                <a:gd name="T44" fmla="*/ 18 w 69"/>
                <a:gd name="T45" fmla="*/ 25 h 58"/>
                <a:gd name="T46" fmla="*/ 65 w 69"/>
                <a:gd name="T47" fmla="*/ 25 h 58"/>
                <a:gd name="T48" fmla="*/ 66 w 69"/>
                <a:gd name="T49" fmla="*/ 27 h 58"/>
                <a:gd name="T50" fmla="*/ 65 w 69"/>
                <a:gd name="T51" fmla="*/ 29 h 58"/>
                <a:gd name="T52" fmla="*/ 10 w 69"/>
                <a:gd name="T53" fmla="*/ 29 h 58"/>
                <a:gd name="T54" fmla="*/ 5 w 69"/>
                <a:gd name="T55" fmla="*/ 2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9" h="58">
                  <a:moveTo>
                    <a:pt x="68" y="40"/>
                  </a:moveTo>
                  <a:cubicBezTo>
                    <a:pt x="40" y="40"/>
                    <a:pt x="40" y="40"/>
                    <a:pt x="40" y="40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9" y="36"/>
                    <a:pt x="69" y="37"/>
                    <a:pt x="69" y="38"/>
                  </a:cubicBezTo>
                  <a:cubicBezTo>
                    <a:pt x="69" y="40"/>
                    <a:pt x="69" y="40"/>
                    <a:pt x="68" y="40"/>
                  </a:cubicBezTo>
                  <a:moveTo>
                    <a:pt x="5" y="25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1"/>
                    <a:pt x="65" y="2"/>
                  </a:cubicBezTo>
                  <a:cubicBezTo>
                    <a:pt x="65" y="3"/>
                    <a:pt x="65" y="4"/>
                    <a:pt x="6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5" y="12"/>
                    <a:pt x="65" y="13"/>
                    <a:pt x="65" y="14"/>
                  </a:cubicBezTo>
                  <a:cubicBezTo>
                    <a:pt x="65" y="15"/>
                    <a:pt x="65" y="16"/>
                    <a:pt x="64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4"/>
                    <a:pt x="17" y="25"/>
                    <a:pt x="18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6" y="25"/>
                    <a:pt x="66" y="26"/>
                    <a:pt x="66" y="27"/>
                  </a:cubicBezTo>
                  <a:cubicBezTo>
                    <a:pt x="66" y="29"/>
                    <a:pt x="66" y="29"/>
                    <a:pt x="65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7" y="29"/>
                    <a:pt x="5" y="27"/>
                    <a:pt x="5" y="25"/>
                  </a:cubicBezTo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52"/>
            <p:cNvSpPr>
              <a:spLocks noEditPoints="1"/>
            </p:cNvSpPr>
            <p:nvPr userDrawn="1"/>
          </p:nvSpPr>
          <p:spPr bwMode="auto">
            <a:xfrm>
              <a:off x="5899720" y="483384"/>
              <a:ext cx="165257" cy="134094"/>
            </a:xfrm>
            <a:custGeom>
              <a:avLst/>
              <a:gdLst>
                <a:gd name="T0" fmla="*/ 45 w 74"/>
                <a:gd name="T1" fmla="*/ 55 h 60"/>
                <a:gd name="T2" fmla="*/ 24 w 74"/>
                <a:gd name="T3" fmla="*/ 38 h 60"/>
                <a:gd name="T4" fmla="*/ 3 w 74"/>
                <a:gd name="T5" fmla="*/ 55 h 60"/>
                <a:gd name="T6" fmla="*/ 0 w 74"/>
                <a:gd name="T7" fmla="*/ 52 h 60"/>
                <a:gd name="T8" fmla="*/ 19 w 74"/>
                <a:gd name="T9" fmla="*/ 23 h 60"/>
                <a:gd name="T10" fmla="*/ 19 w 74"/>
                <a:gd name="T11" fmla="*/ 7 h 60"/>
                <a:gd name="T12" fmla="*/ 4 w 74"/>
                <a:gd name="T13" fmla="*/ 7 h 60"/>
                <a:gd name="T14" fmla="*/ 1 w 74"/>
                <a:gd name="T15" fmla="*/ 2 h 60"/>
                <a:gd name="T16" fmla="*/ 45 w 74"/>
                <a:gd name="T17" fmla="*/ 2 h 60"/>
                <a:gd name="T18" fmla="*/ 46 w 74"/>
                <a:gd name="T19" fmla="*/ 4 h 60"/>
                <a:gd name="T20" fmla="*/ 45 w 74"/>
                <a:gd name="T21" fmla="*/ 7 h 60"/>
                <a:gd name="T22" fmla="*/ 29 w 74"/>
                <a:gd name="T23" fmla="*/ 7 h 60"/>
                <a:gd name="T24" fmla="*/ 29 w 74"/>
                <a:gd name="T25" fmla="*/ 23 h 60"/>
                <a:gd name="T26" fmla="*/ 48 w 74"/>
                <a:gd name="T27" fmla="*/ 52 h 60"/>
                <a:gd name="T28" fmla="*/ 45 w 74"/>
                <a:gd name="T29" fmla="*/ 55 h 60"/>
                <a:gd name="T30" fmla="*/ 55 w 74"/>
                <a:gd name="T31" fmla="*/ 60 h 60"/>
                <a:gd name="T32" fmla="*/ 55 w 74"/>
                <a:gd name="T33" fmla="*/ 0 h 60"/>
                <a:gd name="T34" fmla="*/ 63 w 74"/>
                <a:gd name="T35" fmla="*/ 0 h 60"/>
                <a:gd name="T36" fmla="*/ 65 w 74"/>
                <a:gd name="T37" fmla="*/ 2 h 60"/>
                <a:gd name="T38" fmla="*/ 65 w 74"/>
                <a:gd name="T39" fmla="*/ 18 h 60"/>
                <a:gd name="T40" fmla="*/ 73 w 74"/>
                <a:gd name="T41" fmla="*/ 18 h 60"/>
                <a:gd name="T42" fmla="*/ 74 w 74"/>
                <a:gd name="T43" fmla="*/ 20 h 60"/>
                <a:gd name="T44" fmla="*/ 73 w 74"/>
                <a:gd name="T45" fmla="*/ 22 h 60"/>
                <a:gd name="T46" fmla="*/ 65 w 74"/>
                <a:gd name="T47" fmla="*/ 22 h 60"/>
                <a:gd name="T48" fmla="*/ 65 w 74"/>
                <a:gd name="T49" fmla="*/ 60 h 60"/>
                <a:gd name="T50" fmla="*/ 55 w 74"/>
                <a:gd name="T5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4" h="60">
                  <a:moveTo>
                    <a:pt x="45" y="55"/>
                  </a:moveTo>
                  <a:cubicBezTo>
                    <a:pt x="37" y="52"/>
                    <a:pt x="27" y="46"/>
                    <a:pt x="24" y="38"/>
                  </a:cubicBezTo>
                  <a:cubicBezTo>
                    <a:pt x="21" y="46"/>
                    <a:pt x="11" y="52"/>
                    <a:pt x="3" y="55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0" y="48"/>
                    <a:pt x="19" y="38"/>
                    <a:pt x="19" y="23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6" y="2"/>
                    <a:pt x="46" y="3"/>
                    <a:pt x="46" y="4"/>
                  </a:cubicBezTo>
                  <a:cubicBezTo>
                    <a:pt x="46" y="6"/>
                    <a:pt x="46" y="7"/>
                    <a:pt x="45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38"/>
                    <a:pt x="38" y="48"/>
                    <a:pt x="48" y="52"/>
                  </a:cubicBezTo>
                  <a:lnTo>
                    <a:pt x="45" y="55"/>
                  </a:lnTo>
                  <a:close/>
                  <a:moveTo>
                    <a:pt x="55" y="6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4" y="0"/>
                    <a:pt x="65" y="1"/>
                    <a:pt x="65" y="2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3" y="18"/>
                    <a:pt x="74" y="19"/>
                    <a:pt x="74" y="20"/>
                  </a:cubicBezTo>
                  <a:cubicBezTo>
                    <a:pt x="74" y="21"/>
                    <a:pt x="73" y="22"/>
                    <a:pt x="73" y="22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65" y="60"/>
                    <a:pt x="65" y="60"/>
                    <a:pt x="65" y="60"/>
                  </a:cubicBezTo>
                  <a:lnTo>
                    <a:pt x="55" y="60"/>
                  </a:lnTo>
                  <a:close/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724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H투자증권_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1"/>
          <p:cNvSpPr txBox="1">
            <a:spLocks/>
          </p:cNvSpPr>
          <p:nvPr userDrawn="1"/>
        </p:nvSpPr>
        <p:spPr>
          <a:xfrm>
            <a:off x="8768928" y="6462979"/>
            <a:ext cx="762000" cy="222394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100" kern="1200">
                <a:solidFill>
                  <a:schemeClr val="tx1"/>
                </a:solidFill>
                <a:latin typeface="코어 고딕 D 6 Bold" pitchFamily="34" charset="-127"/>
                <a:ea typeface="코어 고딕 D 6 Bold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3100-E839-4822-9B55-95FE4DC5E8F4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나눔고딕 ExtraBold" pitchFamily="50" charset="-127"/>
              <a:ea typeface="나눔고딕 ExtraBold" pitchFamily="50" charset="-127"/>
              <a:cs typeface="+mn-cs"/>
            </a:endParaRPr>
          </a:p>
        </p:txBody>
      </p:sp>
      <p:sp>
        <p:nvSpPr>
          <p:cNvPr id="26" name="직사각형 25"/>
          <p:cNvSpPr/>
          <p:nvPr userDrawn="1"/>
        </p:nvSpPr>
        <p:spPr>
          <a:xfrm>
            <a:off x="0" y="0"/>
            <a:ext cx="9906000" cy="873125"/>
          </a:xfrm>
          <a:prstGeom prst="rect">
            <a:avLst/>
          </a:prstGeom>
          <a:solidFill>
            <a:srgbClr val="FEF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 flipH="1">
            <a:off x="838200" y="869950"/>
            <a:ext cx="9067800" cy="0"/>
          </a:xfrm>
          <a:prstGeom prst="line">
            <a:avLst/>
          </a:prstGeom>
          <a:ln w="6350">
            <a:solidFill>
              <a:srgbClr val="B1B3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 userDrawn="1"/>
        </p:nvSpPr>
        <p:spPr>
          <a:xfrm>
            <a:off x="9429750" y="353405"/>
            <a:ext cx="476250" cy="519720"/>
          </a:xfrm>
          <a:prstGeom prst="rect">
            <a:avLst/>
          </a:prstGeom>
          <a:solidFill>
            <a:srgbClr val="FBB8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7888171" y="572112"/>
            <a:ext cx="1172857" cy="170923"/>
            <a:chOff x="5208471" y="461665"/>
            <a:chExt cx="1172857" cy="170923"/>
          </a:xfrm>
        </p:grpSpPr>
        <p:sp>
          <p:nvSpPr>
            <p:cNvPr id="31" name="Freeform 44"/>
            <p:cNvSpPr>
              <a:spLocks/>
            </p:cNvSpPr>
            <p:nvPr userDrawn="1"/>
          </p:nvSpPr>
          <p:spPr bwMode="auto">
            <a:xfrm>
              <a:off x="5243411" y="461665"/>
              <a:ext cx="67047" cy="64214"/>
            </a:xfrm>
            <a:custGeom>
              <a:avLst/>
              <a:gdLst>
                <a:gd name="T0" fmla="*/ 71 w 71"/>
                <a:gd name="T1" fmla="*/ 0 h 68"/>
                <a:gd name="T2" fmla="*/ 36 w 71"/>
                <a:gd name="T3" fmla="*/ 19 h 68"/>
                <a:gd name="T4" fmla="*/ 0 w 71"/>
                <a:gd name="T5" fmla="*/ 0 h 68"/>
                <a:gd name="T6" fmla="*/ 36 w 71"/>
                <a:gd name="T7" fmla="*/ 68 h 68"/>
                <a:gd name="T8" fmla="*/ 71 w 71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8">
                  <a:moveTo>
                    <a:pt x="71" y="0"/>
                  </a:moveTo>
                  <a:lnTo>
                    <a:pt x="36" y="19"/>
                  </a:lnTo>
                  <a:lnTo>
                    <a:pt x="0" y="0"/>
                  </a:lnTo>
                  <a:lnTo>
                    <a:pt x="36" y="68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BB8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2" name="Freeform 45"/>
            <p:cNvSpPr>
              <a:spLocks/>
            </p:cNvSpPr>
            <p:nvPr userDrawn="1"/>
          </p:nvSpPr>
          <p:spPr bwMode="auto">
            <a:xfrm>
              <a:off x="5208471" y="465442"/>
              <a:ext cx="137872" cy="167146"/>
            </a:xfrm>
            <a:custGeom>
              <a:avLst/>
              <a:gdLst>
                <a:gd name="T0" fmla="*/ 52 w 62"/>
                <a:gd name="T1" fmla="*/ 20 h 75"/>
                <a:gd name="T2" fmla="*/ 52 w 62"/>
                <a:gd name="T3" fmla="*/ 20 h 75"/>
                <a:gd name="T4" fmla="*/ 62 w 62"/>
                <a:gd name="T5" fmla="*/ 16 h 75"/>
                <a:gd name="T6" fmla="*/ 62 w 62"/>
                <a:gd name="T7" fmla="*/ 0 h 75"/>
                <a:gd name="T8" fmla="*/ 43 w 62"/>
                <a:gd name="T9" fmla="*/ 8 h 75"/>
                <a:gd name="T10" fmla="*/ 33 w 62"/>
                <a:gd name="T11" fmla="*/ 28 h 75"/>
                <a:gd name="T12" fmla="*/ 47 w 62"/>
                <a:gd name="T13" fmla="*/ 44 h 75"/>
                <a:gd name="T14" fmla="*/ 31 w 62"/>
                <a:gd name="T15" fmla="*/ 60 h 75"/>
                <a:gd name="T16" fmla="*/ 15 w 62"/>
                <a:gd name="T17" fmla="*/ 44 h 75"/>
                <a:gd name="T18" fmla="*/ 29 w 62"/>
                <a:gd name="T19" fmla="*/ 28 h 75"/>
                <a:gd name="T20" fmla="*/ 19 w 62"/>
                <a:gd name="T21" fmla="*/ 8 h 75"/>
                <a:gd name="T22" fmla="*/ 0 w 62"/>
                <a:gd name="T23" fmla="*/ 0 h 75"/>
                <a:gd name="T24" fmla="*/ 0 w 62"/>
                <a:gd name="T25" fmla="*/ 16 h 75"/>
                <a:gd name="T26" fmla="*/ 11 w 62"/>
                <a:gd name="T27" fmla="*/ 20 h 75"/>
                <a:gd name="T28" fmla="*/ 11 w 62"/>
                <a:gd name="T29" fmla="*/ 20 h 75"/>
                <a:gd name="T30" fmla="*/ 0 w 62"/>
                <a:gd name="T31" fmla="*/ 44 h 75"/>
                <a:gd name="T32" fmla="*/ 31 w 62"/>
                <a:gd name="T33" fmla="*/ 75 h 75"/>
                <a:gd name="T34" fmla="*/ 62 w 62"/>
                <a:gd name="T35" fmla="*/ 44 h 75"/>
                <a:gd name="T36" fmla="*/ 52 w 62"/>
                <a:gd name="T37" fmla="*/ 2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" h="75">
                  <a:moveTo>
                    <a:pt x="52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33" y="28"/>
                    <a:pt x="33" y="28"/>
                  </a:cubicBezTo>
                  <a:cubicBezTo>
                    <a:pt x="41" y="29"/>
                    <a:pt x="47" y="36"/>
                    <a:pt x="47" y="44"/>
                  </a:cubicBezTo>
                  <a:cubicBezTo>
                    <a:pt x="47" y="53"/>
                    <a:pt x="40" y="60"/>
                    <a:pt x="31" y="60"/>
                  </a:cubicBezTo>
                  <a:cubicBezTo>
                    <a:pt x="22" y="60"/>
                    <a:pt x="15" y="53"/>
                    <a:pt x="15" y="44"/>
                  </a:cubicBezTo>
                  <a:cubicBezTo>
                    <a:pt x="15" y="36"/>
                    <a:pt x="21" y="29"/>
                    <a:pt x="29" y="28"/>
                  </a:cubicBezTo>
                  <a:cubicBezTo>
                    <a:pt x="29" y="28"/>
                    <a:pt x="19" y="8"/>
                    <a:pt x="19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4" y="26"/>
                    <a:pt x="0" y="35"/>
                    <a:pt x="0" y="44"/>
                  </a:cubicBezTo>
                  <a:cubicBezTo>
                    <a:pt x="0" y="61"/>
                    <a:pt x="14" y="75"/>
                    <a:pt x="31" y="75"/>
                  </a:cubicBezTo>
                  <a:cubicBezTo>
                    <a:pt x="48" y="75"/>
                    <a:pt x="62" y="61"/>
                    <a:pt x="62" y="44"/>
                  </a:cubicBezTo>
                  <a:cubicBezTo>
                    <a:pt x="62" y="35"/>
                    <a:pt x="59" y="26"/>
                    <a:pt x="52" y="20"/>
                  </a:cubicBezTo>
                </a:path>
              </a:pathLst>
            </a:custGeom>
            <a:solidFill>
              <a:srgbClr val="FBB8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3" name="Freeform 46"/>
            <p:cNvSpPr>
              <a:spLocks/>
            </p:cNvSpPr>
            <p:nvPr userDrawn="1"/>
          </p:nvSpPr>
          <p:spPr bwMode="auto">
            <a:xfrm>
              <a:off x="6071588" y="550432"/>
              <a:ext cx="151093" cy="73658"/>
            </a:xfrm>
            <a:custGeom>
              <a:avLst/>
              <a:gdLst>
                <a:gd name="T0" fmla="*/ 67 w 68"/>
                <a:gd name="T1" fmla="*/ 0 h 33"/>
                <a:gd name="T2" fmla="*/ 68 w 68"/>
                <a:gd name="T3" fmla="*/ 1 h 33"/>
                <a:gd name="T4" fmla="*/ 68 w 68"/>
                <a:gd name="T5" fmla="*/ 4 h 33"/>
                <a:gd name="T6" fmla="*/ 67 w 68"/>
                <a:gd name="T7" fmla="*/ 5 h 33"/>
                <a:gd name="T8" fmla="*/ 35 w 68"/>
                <a:gd name="T9" fmla="*/ 5 h 33"/>
                <a:gd name="T10" fmla="*/ 35 w 68"/>
                <a:gd name="T11" fmla="*/ 5 h 33"/>
                <a:gd name="T12" fmla="*/ 16 w 68"/>
                <a:gd name="T13" fmla="*/ 17 h 33"/>
                <a:gd name="T14" fmla="*/ 35 w 68"/>
                <a:gd name="T15" fmla="*/ 28 h 33"/>
                <a:gd name="T16" fmla="*/ 54 w 68"/>
                <a:gd name="T17" fmla="*/ 17 h 33"/>
                <a:gd name="T18" fmla="*/ 50 w 68"/>
                <a:gd name="T19" fmla="*/ 8 h 33"/>
                <a:gd name="T20" fmla="*/ 62 w 68"/>
                <a:gd name="T21" fmla="*/ 8 h 33"/>
                <a:gd name="T22" fmla="*/ 64 w 68"/>
                <a:gd name="T23" fmla="*/ 16 h 33"/>
                <a:gd name="T24" fmla="*/ 35 w 68"/>
                <a:gd name="T25" fmla="*/ 33 h 33"/>
                <a:gd name="T26" fmla="*/ 5 w 68"/>
                <a:gd name="T27" fmla="*/ 16 h 33"/>
                <a:gd name="T28" fmla="*/ 12 w 68"/>
                <a:gd name="T29" fmla="*/ 5 h 33"/>
                <a:gd name="T30" fmla="*/ 3 w 68"/>
                <a:gd name="T31" fmla="*/ 5 h 33"/>
                <a:gd name="T32" fmla="*/ 0 w 68"/>
                <a:gd name="T33" fmla="*/ 0 h 33"/>
                <a:gd name="T34" fmla="*/ 67 w 68"/>
                <a:gd name="T3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33">
                  <a:moveTo>
                    <a:pt x="67" y="0"/>
                  </a:moveTo>
                  <a:cubicBezTo>
                    <a:pt x="68" y="0"/>
                    <a:pt x="68" y="1"/>
                    <a:pt x="68" y="1"/>
                  </a:cubicBezTo>
                  <a:cubicBezTo>
                    <a:pt x="68" y="2"/>
                    <a:pt x="68" y="4"/>
                    <a:pt x="68" y="4"/>
                  </a:cubicBezTo>
                  <a:cubicBezTo>
                    <a:pt x="68" y="5"/>
                    <a:pt x="68" y="5"/>
                    <a:pt x="67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24" y="5"/>
                    <a:pt x="16" y="9"/>
                    <a:pt x="16" y="17"/>
                  </a:cubicBezTo>
                  <a:cubicBezTo>
                    <a:pt x="16" y="25"/>
                    <a:pt x="24" y="28"/>
                    <a:pt x="35" y="28"/>
                  </a:cubicBezTo>
                  <a:cubicBezTo>
                    <a:pt x="46" y="28"/>
                    <a:pt x="54" y="25"/>
                    <a:pt x="54" y="17"/>
                  </a:cubicBezTo>
                  <a:cubicBezTo>
                    <a:pt x="54" y="13"/>
                    <a:pt x="53" y="10"/>
                    <a:pt x="5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4" y="10"/>
                    <a:pt x="64" y="13"/>
                    <a:pt x="64" y="16"/>
                  </a:cubicBezTo>
                  <a:cubicBezTo>
                    <a:pt x="64" y="28"/>
                    <a:pt x="51" y="33"/>
                    <a:pt x="35" y="33"/>
                  </a:cubicBezTo>
                  <a:cubicBezTo>
                    <a:pt x="19" y="33"/>
                    <a:pt x="5" y="28"/>
                    <a:pt x="5" y="16"/>
                  </a:cubicBezTo>
                  <a:cubicBezTo>
                    <a:pt x="5" y="11"/>
                    <a:pt x="8" y="8"/>
                    <a:pt x="1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47"/>
            <p:cNvSpPr>
              <a:spLocks/>
            </p:cNvSpPr>
            <p:nvPr userDrawn="1"/>
          </p:nvSpPr>
          <p:spPr bwMode="auto">
            <a:xfrm>
              <a:off x="6071588" y="488106"/>
              <a:ext cx="151093" cy="53827"/>
            </a:xfrm>
            <a:custGeom>
              <a:avLst/>
              <a:gdLst>
                <a:gd name="T0" fmla="*/ 68 w 68"/>
                <a:gd name="T1" fmla="*/ 20 h 24"/>
                <a:gd name="T2" fmla="*/ 65 w 68"/>
                <a:gd name="T3" fmla="*/ 24 h 24"/>
                <a:gd name="T4" fmla="*/ 34 w 68"/>
                <a:gd name="T5" fmla="*/ 13 h 24"/>
                <a:gd name="T6" fmla="*/ 3 w 68"/>
                <a:gd name="T7" fmla="*/ 24 h 24"/>
                <a:gd name="T8" fmla="*/ 0 w 68"/>
                <a:gd name="T9" fmla="*/ 20 h 24"/>
                <a:gd name="T10" fmla="*/ 28 w 68"/>
                <a:gd name="T11" fmla="*/ 5 h 24"/>
                <a:gd name="T12" fmla="*/ 5 w 68"/>
                <a:gd name="T13" fmla="*/ 5 h 24"/>
                <a:gd name="T14" fmla="*/ 2 w 68"/>
                <a:gd name="T15" fmla="*/ 0 h 24"/>
                <a:gd name="T16" fmla="*/ 64 w 68"/>
                <a:gd name="T17" fmla="*/ 0 h 24"/>
                <a:gd name="T18" fmla="*/ 65 w 68"/>
                <a:gd name="T19" fmla="*/ 2 h 24"/>
                <a:gd name="T20" fmla="*/ 64 w 68"/>
                <a:gd name="T21" fmla="*/ 5 h 24"/>
                <a:gd name="T22" fmla="*/ 40 w 68"/>
                <a:gd name="T23" fmla="*/ 5 h 24"/>
                <a:gd name="T24" fmla="*/ 68 w 68"/>
                <a:gd name="T25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24">
                  <a:moveTo>
                    <a:pt x="68" y="20"/>
                  </a:moveTo>
                  <a:cubicBezTo>
                    <a:pt x="65" y="24"/>
                    <a:pt x="65" y="24"/>
                    <a:pt x="65" y="24"/>
                  </a:cubicBezTo>
                  <a:cubicBezTo>
                    <a:pt x="49" y="24"/>
                    <a:pt x="38" y="19"/>
                    <a:pt x="34" y="13"/>
                  </a:cubicBezTo>
                  <a:cubicBezTo>
                    <a:pt x="30" y="19"/>
                    <a:pt x="19" y="24"/>
                    <a:pt x="3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4" y="20"/>
                    <a:pt x="28" y="13"/>
                    <a:pt x="28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1"/>
                    <a:pt x="65" y="2"/>
                  </a:cubicBezTo>
                  <a:cubicBezTo>
                    <a:pt x="65" y="4"/>
                    <a:pt x="65" y="5"/>
                    <a:pt x="64" y="5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0" y="13"/>
                    <a:pt x="54" y="20"/>
                    <a:pt x="68" y="20"/>
                  </a:cubicBezTo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48"/>
            <p:cNvSpPr>
              <a:spLocks/>
            </p:cNvSpPr>
            <p:nvPr userDrawn="1"/>
          </p:nvSpPr>
          <p:spPr bwMode="auto">
            <a:xfrm>
              <a:off x="6238735" y="483384"/>
              <a:ext cx="142593" cy="134094"/>
            </a:xfrm>
            <a:custGeom>
              <a:avLst/>
              <a:gdLst>
                <a:gd name="T0" fmla="*/ 31 w 64"/>
                <a:gd name="T1" fmla="*/ 7 h 60"/>
                <a:gd name="T2" fmla="*/ 5 w 64"/>
                <a:gd name="T3" fmla="*/ 7 h 60"/>
                <a:gd name="T4" fmla="*/ 2 w 64"/>
                <a:gd name="T5" fmla="*/ 2 h 60"/>
                <a:gd name="T6" fmla="*/ 41 w 64"/>
                <a:gd name="T7" fmla="*/ 2 h 60"/>
                <a:gd name="T8" fmla="*/ 43 w 64"/>
                <a:gd name="T9" fmla="*/ 5 h 60"/>
                <a:gd name="T10" fmla="*/ 43 w 64"/>
                <a:gd name="T11" fmla="*/ 25 h 60"/>
                <a:gd name="T12" fmla="*/ 54 w 64"/>
                <a:gd name="T13" fmla="*/ 25 h 60"/>
                <a:gd name="T14" fmla="*/ 54 w 64"/>
                <a:gd name="T15" fmla="*/ 0 h 60"/>
                <a:gd name="T16" fmla="*/ 62 w 64"/>
                <a:gd name="T17" fmla="*/ 0 h 60"/>
                <a:gd name="T18" fmla="*/ 64 w 64"/>
                <a:gd name="T19" fmla="*/ 2 h 60"/>
                <a:gd name="T20" fmla="*/ 64 w 64"/>
                <a:gd name="T21" fmla="*/ 55 h 60"/>
                <a:gd name="T22" fmla="*/ 64 w 64"/>
                <a:gd name="T23" fmla="*/ 57 h 60"/>
                <a:gd name="T24" fmla="*/ 64 w 64"/>
                <a:gd name="T25" fmla="*/ 60 h 60"/>
                <a:gd name="T26" fmla="*/ 11 w 64"/>
                <a:gd name="T27" fmla="*/ 60 h 60"/>
                <a:gd name="T28" fmla="*/ 6 w 64"/>
                <a:gd name="T29" fmla="*/ 55 h 60"/>
                <a:gd name="T30" fmla="*/ 6 w 64"/>
                <a:gd name="T31" fmla="*/ 42 h 60"/>
                <a:gd name="T32" fmla="*/ 14 w 64"/>
                <a:gd name="T33" fmla="*/ 42 h 60"/>
                <a:gd name="T34" fmla="*/ 16 w 64"/>
                <a:gd name="T35" fmla="*/ 44 h 60"/>
                <a:gd name="T36" fmla="*/ 16 w 64"/>
                <a:gd name="T37" fmla="*/ 53 h 60"/>
                <a:gd name="T38" fmla="*/ 19 w 64"/>
                <a:gd name="T39" fmla="*/ 55 h 60"/>
                <a:gd name="T40" fmla="*/ 54 w 64"/>
                <a:gd name="T41" fmla="*/ 55 h 60"/>
                <a:gd name="T42" fmla="*/ 54 w 64"/>
                <a:gd name="T43" fmla="*/ 41 h 60"/>
                <a:gd name="T44" fmla="*/ 38 w 64"/>
                <a:gd name="T45" fmla="*/ 41 h 60"/>
                <a:gd name="T46" fmla="*/ 35 w 64"/>
                <a:gd name="T47" fmla="*/ 37 h 60"/>
                <a:gd name="T48" fmla="*/ 54 w 64"/>
                <a:gd name="T49" fmla="*/ 37 h 60"/>
                <a:gd name="T50" fmla="*/ 54 w 64"/>
                <a:gd name="T51" fmla="*/ 29 h 60"/>
                <a:gd name="T52" fmla="*/ 26 w 64"/>
                <a:gd name="T53" fmla="*/ 29 h 60"/>
                <a:gd name="T54" fmla="*/ 26 w 64"/>
                <a:gd name="T55" fmla="*/ 40 h 60"/>
                <a:gd name="T56" fmla="*/ 16 w 64"/>
                <a:gd name="T57" fmla="*/ 40 h 60"/>
                <a:gd name="T58" fmla="*/ 16 w 64"/>
                <a:gd name="T59" fmla="*/ 29 h 60"/>
                <a:gd name="T60" fmla="*/ 3 w 64"/>
                <a:gd name="T61" fmla="*/ 29 h 60"/>
                <a:gd name="T62" fmla="*/ 0 w 64"/>
                <a:gd name="T63" fmla="*/ 25 h 60"/>
                <a:gd name="T64" fmla="*/ 33 w 64"/>
                <a:gd name="T65" fmla="*/ 25 h 60"/>
                <a:gd name="T66" fmla="*/ 33 w 64"/>
                <a:gd name="T67" fmla="*/ 8 h 60"/>
                <a:gd name="T68" fmla="*/ 31 w 64"/>
                <a:gd name="T6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" h="60">
                  <a:moveTo>
                    <a:pt x="31" y="7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2" y="2"/>
                    <a:pt x="43" y="3"/>
                    <a:pt x="43" y="5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3" y="0"/>
                    <a:pt x="64" y="1"/>
                    <a:pt x="64" y="2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7"/>
                    <a:pt x="64" y="57"/>
                    <a:pt x="64" y="5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8" y="60"/>
                    <a:pt x="6" y="58"/>
                    <a:pt x="6" y="55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2"/>
                    <a:pt x="16" y="43"/>
                    <a:pt x="16" y="44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54"/>
                    <a:pt x="18" y="55"/>
                    <a:pt x="19" y="55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7"/>
                    <a:pt x="31" y="7"/>
                    <a:pt x="31" y="7"/>
                  </a:cubicBezTo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49"/>
            <p:cNvSpPr>
              <a:spLocks/>
            </p:cNvSpPr>
            <p:nvPr userDrawn="1"/>
          </p:nvSpPr>
          <p:spPr bwMode="auto">
            <a:xfrm>
              <a:off x="5572038" y="486217"/>
              <a:ext cx="139761" cy="131261"/>
            </a:xfrm>
            <a:custGeom>
              <a:avLst/>
              <a:gdLst>
                <a:gd name="T0" fmla="*/ 59 w 63"/>
                <a:gd name="T1" fmla="*/ 0 h 59"/>
                <a:gd name="T2" fmla="*/ 50 w 63"/>
                <a:gd name="T3" fmla="*/ 0 h 59"/>
                <a:gd name="T4" fmla="*/ 50 w 63"/>
                <a:gd name="T5" fmla="*/ 23 h 59"/>
                <a:gd name="T6" fmla="*/ 13 w 63"/>
                <a:gd name="T7" fmla="*/ 23 h 59"/>
                <a:gd name="T8" fmla="*/ 13 w 63"/>
                <a:gd name="T9" fmla="*/ 0 h 59"/>
                <a:gd name="T10" fmla="*/ 4 w 63"/>
                <a:gd name="T11" fmla="*/ 0 h 59"/>
                <a:gd name="T12" fmla="*/ 0 w 63"/>
                <a:gd name="T13" fmla="*/ 4 h 59"/>
                <a:gd name="T14" fmla="*/ 0 w 63"/>
                <a:gd name="T15" fmla="*/ 54 h 59"/>
                <a:gd name="T16" fmla="*/ 4 w 63"/>
                <a:gd name="T17" fmla="*/ 59 h 59"/>
                <a:gd name="T18" fmla="*/ 13 w 63"/>
                <a:gd name="T19" fmla="*/ 59 h 59"/>
                <a:gd name="T20" fmla="*/ 13 w 63"/>
                <a:gd name="T21" fmla="*/ 33 h 59"/>
                <a:gd name="T22" fmla="*/ 50 w 63"/>
                <a:gd name="T23" fmla="*/ 33 h 59"/>
                <a:gd name="T24" fmla="*/ 50 w 63"/>
                <a:gd name="T25" fmla="*/ 59 h 59"/>
                <a:gd name="T26" fmla="*/ 59 w 63"/>
                <a:gd name="T27" fmla="*/ 59 h 59"/>
                <a:gd name="T28" fmla="*/ 63 w 63"/>
                <a:gd name="T29" fmla="*/ 54 h 59"/>
                <a:gd name="T30" fmla="*/ 63 w 63"/>
                <a:gd name="T31" fmla="*/ 4 h 59"/>
                <a:gd name="T32" fmla="*/ 59 w 63"/>
                <a:gd name="T33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59">
                  <a:moveTo>
                    <a:pt x="59" y="0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2" y="59"/>
                    <a:pt x="4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62" y="59"/>
                    <a:pt x="63" y="57"/>
                    <a:pt x="63" y="5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2"/>
                    <a:pt x="62" y="0"/>
                    <a:pt x="59" y="0"/>
                  </a:cubicBezTo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50"/>
            <p:cNvSpPr>
              <a:spLocks/>
            </p:cNvSpPr>
            <p:nvPr userDrawn="1"/>
          </p:nvSpPr>
          <p:spPr bwMode="auto">
            <a:xfrm>
              <a:off x="5402059" y="486217"/>
              <a:ext cx="142593" cy="131261"/>
            </a:xfrm>
            <a:custGeom>
              <a:avLst/>
              <a:gdLst>
                <a:gd name="T0" fmla="*/ 61 w 64"/>
                <a:gd name="T1" fmla="*/ 0 h 59"/>
                <a:gd name="T2" fmla="*/ 51 w 64"/>
                <a:gd name="T3" fmla="*/ 0 h 59"/>
                <a:gd name="T4" fmla="*/ 51 w 64"/>
                <a:gd name="T5" fmla="*/ 45 h 59"/>
                <a:gd name="T6" fmla="*/ 24 w 64"/>
                <a:gd name="T7" fmla="*/ 9 h 59"/>
                <a:gd name="T8" fmla="*/ 9 w 64"/>
                <a:gd name="T9" fmla="*/ 0 h 59"/>
                <a:gd name="T10" fmla="*/ 0 w 64"/>
                <a:gd name="T11" fmla="*/ 0 h 59"/>
                <a:gd name="T12" fmla="*/ 0 w 64"/>
                <a:gd name="T13" fmla="*/ 54 h 59"/>
                <a:gd name="T14" fmla="*/ 4 w 64"/>
                <a:gd name="T15" fmla="*/ 59 h 59"/>
                <a:gd name="T16" fmla="*/ 13 w 64"/>
                <a:gd name="T17" fmla="*/ 59 h 59"/>
                <a:gd name="T18" fmla="*/ 13 w 64"/>
                <a:gd name="T19" fmla="*/ 13 h 59"/>
                <a:gd name="T20" fmla="*/ 40 w 64"/>
                <a:gd name="T21" fmla="*/ 49 h 59"/>
                <a:gd name="T22" fmla="*/ 56 w 64"/>
                <a:gd name="T23" fmla="*/ 59 h 59"/>
                <a:gd name="T24" fmla="*/ 64 w 64"/>
                <a:gd name="T25" fmla="*/ 59 h 59"/>
                <a:gd name="T26" fmla="*/ 64 w 64"/>
                <a:gd name="T27" fmla="*/ 4 h 59"/>
                <a:gd name="T28" fmla="*/ 61 w 64"/>
                <a:gd name="T2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59">
                  <a:moveTo>
                    <a:pt x="61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9" y="3"/>
                    <a:pt x="16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1" y="59"/>
                    <a:pt x="4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5" y="55"/>
                    <a:pt x="49" y="59"/>
                    <a:pt x="56" y="59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2"/>
                    <a:pt x="63" y="0"/>
                    <a:pt x="61" y="0"/>
                  </a:cubicBezTo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Freeform 51"/>
            <p:cNvSpPr>
              <a:spLocks noEditPoints="1"/>
            </p:cNvSpPr>
            <p:nvPr userDrawn="1"/>
          </p:nvSpPr>
          <p:spPr bwMode="auto">
            <a:xfrm>
              <a:off x="5732574" y="488106"/>
              <a:ext cx="153926" cy="129373"/>
            </a:xfrm>
            <a:custGeom>
              <a:avLst/>
              <a:gdLst>
                <a:gd name="T0" fmla="*/ 68 w 69"/>
                <a:gd name="T1" fmla="*/ 40 h 58"/>
                <a:gd name="T2" fmla="*/ 40 w 69"/>
                <a:gd name="T3" fmla="*/ 40 h 58"/>
                <a:gd name="T4" fmla="*/ 40 w 69"/>
                <a:gd name="T5" fmla="*/ 58 h 58"/>
                <a:gd name="T6" fmla="*/ 30 w 69"/>
                <a:gd name="T7" fmla="*/ 58 h 58"/>
                <a:gd name="T8" fmla="*/ 30 w 69"/>
                <a:gd name="T9" fmla="*/ 40 h 58"/>
                <a:gd name="T10" fmla="*/ 2 w 69"/>
                <a:gd name="T11" fmla="*/ 40 h 58"/>
                <a:gd name="T12" fmla="*/ 0 w 69"/>
                <a:gd name="T13" fmla="*/ 36 h 58"/>
                <a:gd name="T14" fmla="*/ 68 w 69"/>
                <a:gd name="T15" fmla="*/ 36 h 58"/>
                <a:gd name="T16" fmla="*/ 69 w 69"/>
                <a:gd name="T17" fmla="*/ 38 h 58"/>
                <a:gd name="T18" fmla="*/ 68 w 69"/>
                <a:gd name="T19" fmla="*/ 40 h 58"/>
                <a:gd name="T20" fmla="*/ 5 w 69"/>
                <a:gd name="T21" fmla="*/ 25 h 58"/>
                <a:gd name="T22" fmla="*/ 5 w 69"/>
                <a:gd name="T23" fmla="*/ 0 h 58"/>
                <a:gd name="T24" fmla="*/ 64 w 69"/>
                <a:gd name="T25" fmla="*/ 0 h 58"/>
                <a:gd name="T26" fmla="*/ 65 w 69"/>
                <a:gd name="T27" fmla="*/ 2 h 58"/>
                <a:gd name="T28" fmla="*/ 64 w 69"/>
                <a:gd name="T29" fmla="*/ 4 h 58"/>
                <a:gd name="T30" fmla="*/ 15 w 69"/>
                <a:gd name="T31" fmla="*/ 4 h 58"/>
                <a:gd name="T32" fmla="*/ 15 w 69"/>
                <a:gd name="T33" fmla="*/ 12 h 58"/>
                <a:gd name="T34" fmla="*/ 64 w 69"/>
                <a:gd name="T35" fmla="*/ 12 h 58"/>
                <a:gd name="T36" fmla="*/ 65 w 69"/>
                <a:gd name="T37" fmla="*/ 14 h 58"/>
                <a:gd name="T38" fmla="*/ 64 w 69"/>
                <a:gd name="T39" fmla="*/ 16 h 58"/>
                <a:gd name="T40" fmla="*/ 15 w 69"/>
                <a:gd name="T41" fmla="*/ 16 h 58"/>
                <a:gd name="T42" fmla="*/ 15 w 69"/>
                <a:gd name="T43" fmla="*/ 23 h 58"/>
                <a:gd name="T44" fmla="*/ 18 w 69"/>
                <a:gd name="T45" fmla="*/ 25 h 58"/>
                <a:gd name="T46" fmla="*/ 65 w 69"/>
                <a:gd name="T47" fmla="*/ 25 h 58"/>
                <a:gd name="T48" fmla="*/ 66 w 69"/>
                <a:gd name="T49" fmla="*/ 27 h 58"/>
                <a:gd name="T50" fmla="*/ 65 w 69"/>
                <a:gd name="T51" fmla="*/ 29 h 58"/>
                <a:gd name="T52" fmla="*/ 10 w 69"/>
                <a:gd name="T53" fmla="*/ 29 h 58"/>
                <a:gd name="T54" fmla="*/ 5 w 69"/>
                <a:gd name="T55" fmla="*/ 2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9" h="58">
                  <a:moveTo>
                    <a:pt x="68" y="40"/>
                  </a:moveTo>
                  <a:cubicBezTo>
                    <a:pt x="40" y="40"/>
                    <a:pt x="40" y="40"/>
                    <a:pt x="40" y="40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9" y="36"/>
                    <a:pt x="69" y="37"/>
                    <a:pt x="69" y="38"/>
                  </a:cubicBezTo>
                  <a:cubicBezTo>
                    <a:pt x="69" y="40"/>
                    <a:pt x="69" y="40"/>
                    <a:pt x="68" y="40"/>
                  </a:cubicBezTo>
                  <a:moveTo>
                    <a:pt x="5" y="25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1"/>
                    <a:pt x="65" y="2"/>
                  </a:cubicBezTo>
                  <a:cubicBezTo>
                    <a:pt x="65" y="3"/>
                    <a:pt x="65" y="4"/>
                    <a:pt x="6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5" y="12"/>
                    <a:pt x="65" y="13"/>
                    <a:pt x="65" y="14"/>
                  </a:cubicBezTo>
                  <a:cubicBezTo>
                    <a:pt x="65" y="15"/>
                    <a:pt x="65" y="16"/>
                    <a:pt x="64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4"/>
                    <a:pt x="17" y="25"/>
                    <a:pt x="18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6" y="25"/>
                    <a:pt x="66" y="26"/>
                    <a:pt x="66" y="27"/>
                  </a:cubicBezTo>
                  <a:cubicBezTo>
                    <a:pt x="66" y="29"/>
                    <a:pt x="66" y="29"/>
                    <a:pt x="65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7" y="29"/>
                    <a:pt x="5" y="27"/>
                    <a:pt x="5" y="25"/>
                  </a:cubicBezTo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Freeform 52"/>
            <p:cNvSpPr>
              <a:spLocks noEditPoints="1"/>
            </p:cNvSpPr>
            <p:nvPr userDrawn="1"/>
          </p:nvSpPr>
          <p:spPr bwMode="auto">
            <a:xfrm>
              <a:off x="5899720" y="483384"/>
              <a:ext cx="165257" cy="134094"/>
            </a:xfrm>
            <a:custGeom>
              <a:avLst/>
              <a:gdLst>
                <a:gd name="T0" fmla="*/ 45 w 74"/>
                <a:gd name="T1" fmla="*/ 55 h 60"/>
                <a:gd name="T2" fmla="*/ 24 w 74"/>
                <a:gd name="T3" fmla="*/ 38 h 60"/>
                <a:gd name="T4" fmla="*/ 3 w 74"/>
                <a:gd name="T5" fmla="*/ 55 h 60"/>
                <a:gd name="T6" fmla="*/ 0 w 74"/>
                <a:gd name="T7" fmla="*/ 52 h 60"/>
                <a:gd name="T8" fmla="*/ 19 w 74"/>
                <a:gd name="T9" fmla="*/ 23 h 60"/>
                <a:gd name="T10" fmla="*/ 19 w 74"/>
                <a:gd name="T11" fmla="*/ 7 h 60"/>
                <a:gd name="T12" fmla="*/ 4 w 74"/>
                <a:gd name="T13" fmla="*/ 7 h 60"/>
                <a:gd name="T14" fmla="*/ 1 w 74"/>
                <a:gd name="T15" fmla="*/ 2 h 60"/>
                <a:gd name="T16" fmla="*/ 45 w 74"/>
                <a:gd name="T17" fmla="*/ 2 h 60"/>
                <a:gd name="T18" fmla="*/ 46 w 74"/>
                <a:gd name="T19" fmla="*/ 4 h 60"/>
                <a:gd name="T20" fmla="*/ 45 w 74"/>
                <a:gd name="T21" fmla="*/ 7 h 60"/>
                <a:gd name="T22" fmla="*/ 29 w 74"/>
                <a:gd name="T23" fmla="*/ 7 h 60"/>
                <a:gd name="T24" fmla="*/ 29 w 74"/>
                <a:gd name="T25" fmla="*/ 23 h 60"/>
                <a:gd name="T26" fmla="*/ 48 w 74"/>
                <a:gd name="T27" fmla="*/ 52 h 60"/>
                <a:gd name="T28" fmla="*/ 45 w 74"/>
                <a:gd name="T29" fmla="*/ 55 h 60"/>
                <a:gd name="T30" fmla="*/ 55 w 74"/>
                <a:gd name="T31" fmla="*/ 60 h 60"/>
                <a:gd name="T32" fmla="*/ 55 w 74"/>
                <a:gd name="T33" fmla="*/ 0 h 60"/>
                <a:gd name="T34" fmla="*/ 63 w 74"/>
                <a:gd name="T35" fmla="*/ 0 h 60"/>
                <a:gd name="T36" fmla="*/ 65 w 74"/>
                <a:gd name="T37" fmla="*/ 2 h 60"/>
                <a:gd name="T38" fmla="*/ 65 w 74"/>
                <a:gd name="T39" fmla="*/ 18 h 60"/>
                <a:gd name="T40" fmla="*/ 73 w 74"/>
                <a:gd name="T41" fmla="*/ 18 h 60"/>
                <a:gd name="T42" fmla="*/ 74 w 74"/>
                <a:gd name="T43" fmla="*/ 20 h 60"/>
                <a:gd name="T44" fmla="*/ 73 w 74"/>
                <a:gd name="T45" fmla="*/ 22 h 60"/>
                <a:gd name="T46" fmla="*/ 65 w 74"/>
                <a:gd name="T47" fmla="*/ 22 h 60"/>
                <a:gd name="T48" fmla="*/ 65 w 74"/>
                <a:gd name="T49" fmla="*/ 60 h 60"/>
                <a:gd name="T50" fmla="*/ 55 w 74"/>
                <a:gd name="T5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4" h="60">
                  <a:moveTo>
                    <a:pt x="45" y="55"/>
                  </a:moveTo>
                  <a:cubicBezTo>
                    <a:pt x="37" y="52"/>
                    <a:pt x="27" y="46"/>
                    <a:pt x="24" y="38"/>
                  </a:cubicBezTo>
                  <a:cubicBezTo>
                    <a:pt x="21" y="46"/>
                    <a:pt x="11" y="52"/>
                    <a:pt x="3" y="55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0" y="48"/>
                    <a:pt x="19" y="38"/>
                    <a:pt x="19" y="23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6" y="2"/>
                    <a:pt x="46" y="3"/>
                    <a:pt x="46" y="4"/>
                  </a:cubicBezTo>
                  <a:cubicBezTo>
                    <a:pt x="46" y="6"/>
                    <a:pt x="46" y="7"/>
                    <a:pt x="45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38"/>
                    <a:pt x="38" y="48"/>
                    <a:pt x="48" y="52"/>
                  </a:cubicBezTo>
                  <a:lnTo>
                    <a:pt x="45" y="55"/>
                  </a:lnTo>
                  <a:close/>
                  <a:moveTo>
                    <a:pt x="55" y="6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4" y="0"/>
                    <a:pt x="65" y="1"/>
                    <a:pt x="65" y="2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3" y="18"/>
                    <a:pt x="74" y="19"/>
                    <a:pt x="74" y="20"/>
                  </a:cubicBezTo>
                  <a:cubicBezTo>
                    <a:pt x="74" y="21"/>
                    <a:pt x="73" y="22"/>
                    <a:pt x="73" y="22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65" y="60"/>
                    <a:pt x="65" y="60"/>
                    <a:pt x="65" y="60"/>
                  </a:cubicBezTo>
                  <a:lnTo>
                    <a:pt x="55" y="60"/>
                  </a:lnTo>
                  <a:close/>
                </a:path>
              </a:pathLst>
            </a:custGeom>
            <a:solidFill>
              <a:srgbClr val="1E75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300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H투자증권_폴더커버">
    <p:bg>
      <p:bgPr>
        <a:solidFill>
          <a:srgbClr val="1E7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 userDrawn="1"/>
        </p:nvGrpSpPr>
        <p:grpSpPr>
          <a:xfrm>
            <a:off x="3940630" y="3281466"/>
            <a:ext cx="2024742" cy="295068"/>
            <a:chOff x="4205261" y="9329720"/>
            <a:chExt cx="1491991" cy="217431"/>
          </a:xfrm>
          <a:solidFill>
            <a:schemeClr val="bg1"/>
          </a:solidFill>
        </p:grpSpPr>
        <p:sp>
          <p:nvSpPr>
            <p:cNvPr id="28" name="Freeform 44"/>
            <p:cNvSpPr>
              <a:spLocks/>
            </p:cNvSpPr>
            <p:nvPr userDrawn="1"/>
          </p:nvSpPr>
          <p:spPr bwMode="auto">
            <a:xfrm>
              <a:off x="4249708" y="9329720"/>
              <a:ext cx="85291" cy="81687"/>
            </a:xfrm>
            <a:custGeom>
              <a:avLst/>
              <a:gdLst>
                <a:gd name="T0" fmla="*/ 71 w 71"/>
                <a:gd name="T1" fmla="*/ 0 h 68"/>
                <a:gd name="T2" fmla="*/ 36 w 71"/>
                <a:gd name="T3" fmla="*/ 19 h 68"/>
                <a:gd name="T4" fmla="*/ 0 w 71"/>
                <a:gd name="T5" fmla="*/ 0 h 68"/>
                <a:gd name="T6" fmla="*/ 36 w 71"/>
                <a:gd name="T7" fmla="*/ 68 h 68"/>
                <a:gd name="T8" fmla="*/ 71 w 71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8">
                  <a:moveTo>
                    <a:pt x="71" y="0"/>
                  </a:moveTo>
                  <a:lnTo>
                    <a:pt x="36" y="19"/>
                  </a:lnTo>
                  <a:lnTo>
                    <a:pt x="0" y="0"/>
                  </a:lnTo>
                  <a:lnTo>
                    <a:pt x="36" y="68"/>
                  </a:lnTo>
                  <a:lnTo>
                    <a:pt x="7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29" name="Freeform 45"/>
            <p:cNvSpPr>
              <a:spLocks/>
            </p:cNvSpPr>
            <p:nvPr userDrawn="1"/>
          </p:nvSpPr>
          <p:spPr bwMode="auto">
            <a:xfrm>
              <a:off x="4205261" y="9334525"/>
              <a:ext cx="175387" cy="212626"/>
            </a:xfrm>
            <a:custGeom>
              <a:avLst/>
              <a:gdLst>
                <a:gd name="T0" fmla="*/ 52 w 62"/>
                <a:gd name="T1" fmla="*/ 20 h 75"/>
                <a:gd name="T2" fmla="*/ 52 w 62"/>
                <a:gd name="T3" fmla="*/ 20 h 75"/>
                <a:gd name="T4" fmla="*/ 62 w 62"/>
                <a:gd name="T5" fmla="*/ 16 h 75"/>
                <a:gd name="T6" fmla="*/ 62 w 62"/>
                <a:gd name="T7" fmla="*/ 0 h 75"/>
                <a:gd name="T8" fmla="*/ 43 w 62"/>
                <a:gd name="T9" fmla="*/ 8 h 75"/>
                <a:gd name="T10" fmla="*/ 33 w 62"/>
                <a:gd name="T11" fmla="*/ 28 h 75"/>
                <a:gd name="T12" fmla="*/ 47 w 62"/>
                <a:gd name="T13" fmla="*/ 44 h 75"/>
                <a:gd name="T14" fmla="*/ 31 w 62"/>
                <a:gd name="T15" fmla="*/ 60 h 75"/>
                <a:gd name="T16" fmla="*/ 15 w 62"/>
                <a:gd name="T17" fmla="*/ 44 h 75"/>
                <a:gd name="T18" fmla="*/ 29 w 62"/>
                <a:gd name="T19" fmla="*/ 28 h 75"/>
                <a:gd name="T20" fmla="*/ 19 w 62"/>
                <a:gd name="T21" fmla="*/ 8 h 75"/>
                <a:gd name="T22" fmla="*/ 0 w 62"/>
                <a:gd name="T23" fmla="*/ 0 h 75"/>
                <a:gd name="T24" fmla="*/ 0 w 62"/>
                <a:gd name="T25" fmla="*/ 16 h 75"/>
                <a:gd name="T26" fmla="*/ 11 w 62"/>
                <a:gd name="T27" fmla="*/ 20 h 75"/>
                <a:gd name="T28" fmla="*/ 11 w 62"/>
                <a:gd name="T29" fmla="*/ 20 h 75"/>
                <a:gd name="T30" fmla="*/ 0 w 62"/>
                <a:gd name="T31" fmla="*/ 44 h 75"/>
                <a:gd name="T32" fmla="*/ 31 w 62"/>
                <a:gd name="T33" fmla="*/ 75 h 75"/>
                <a:gd name="T34" fmla="*/ 62 w 62"/>
                <a:gd name="T35" fmla="*/ 44 h 75"/>
                <a:gd name="T36" fmla="*/ 52 w 62"/>
                <a:gd name="T37" fmla="*/ 2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" h="75">
                  <a:moveTo>
                    <a:pt x="52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33" y="28"/>
                    <a:pt x="33" y="28"/>
                  </a:cubicBezTo>
                  <a:cubicBezTo>
                    <a:pt x="41" y="29"/>
                    <a:pt x="47" y="36"/>
                    <a:pt x="47" y="44"/>
                  </a:cubicBezTo>
                  <a:cubicBezTo>
                    <a:pt x="47" y="53"/>
                    <a:pt x="40" y="60"/>
                    <a:pt x="31" y="60"/>
                  </a:cubicBezTo>
                  <a:cubicBezTo>
                    <a:pt x="22" y="60"/>
                    <a:pt x="15" y="53"/>
                    <a:pt x="15" y="44"/>
                  </a:cubicBezTo>
                  <a:cubicBezTo>
                    <a:pt x="15" y="36"/>
                    <a:pt x="21" y="29"/>
                    <a:pt x="29" y="28"/>
                  </a:cubicBezTo>
                  <a:cubicBezTo>
                    <a:pt x="29" y="28"/>
                    <a:pt x="19" y="8"/>
                    <a:pt x="19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4" y="26"/>
                    <a:pt x="0" y="35"/>
                    <a:pt x="0" y="44"/>
                  </a:cubicBezTo>
                  <a:cubicBezTo>
                    <a:pt x="0" y="61"/>
                    <a:pt x="14" y="75"/>
                    <a:pt x="31" y="75"/>
                  </a:cubicBezTo>
                  <a:cubicBezTo>
                    <a:pt x="48" y="75"/>
                    <a:pt x="62" y="61"/>
                    <a:pt x="62" y="44"/>
                  </a:cubicBezTo>
                  <a:cubicBezTo>
                    <a:pt x="62" y="35"/>
                    <a:pt x="59" y="26"/>
                    <a:pt x="52" y="20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0" name="Freeform 46"/>
            <p:cNvSpPr>
              <a:spLocks/>
            </p:cNvSpPr>
            <p:nvPr userDrawn="1"/>
          </p:nvSpPr>
          <p:spPr bwMode="auto">
            <a:xfrm>
              <a:off x="5303232" y="9442640"/>
              <a:ext cx="192205" cy="93700"/>
            </a:xfrm>
            <a:custGeom>
              <a:avLst/>
              <a:gdLst>
                <a:gd name="T0" fmla="*/ 67 w 68"/>
                <a:gd name="T1" fmla="*/ 0 h 33"/>
                <a:gd name="T2" fmla="*/ 68 w 68"/>
                <a:gd name="T3" fmla="*/ 1 h 33"/>
                <a:gd name="T4" fmla="*/ 68 w 68"/>
                <a:gd name="T5" fmla="*/ 4 h 33"/>
                <a:gd name="T6" fmla="*/ 67 w 68"/>
                <a:gd name="T7" fmla="*/ 5 h 33"/>
                <a:gd name="T8" fmla="*/ 35 w 68"/>
                <a:gd name="T9" fmla="*/ 5 h 33"/>
                <a:gd name="T10" fmla="*/ 35 w 68"/>
                <a:gd name="T11" fmla="*/ 5 h 33"/>
                <a:gd name="T12" fmla="*/ 16 w 68"/>
                <a:gd name="T13" fmla="*/ 17 h 33"/>
                <a:gd name="T14" fmla="*/ 35 w 68"/>
                <a:gd name="T15" fmla="*/ 28 h 33"/>
                <a:gd name="T16" fmla="*/ 54 w 68"/>
                <a:gd name="T17" fmla="*/ 17 h 33"/>
                <a:gd name="T18" fmla="*/ 50 w 68"/>
                <a:gd name="T19" fmla="*/ 8 h 33"/>
                <a:gd name="T20" fmla="*/ 62 w 68"/>
                <a:gd name="T21" fmla="*/ 8 h 33"/>
                <a:gd name="T22" fmla="*/ 64 w 68"/>
                <a:gd name="T23" fmla="*/ 16 h 33"/>
                <a:gd name="T24" fmla="*/ 35 w 68"/>
                <a:gd name="T25" fmla="*/ 33 h 33"/>
                <a:gd name="T26" fmla="*/ 5 w 68"/>
                <a:gd name="T27" fmla="*/ 16 h 33"/>
                <a:gd name="T28" fmla="*/ 12 w 68"/>
                <a:gd name="T29" fmla="*/ 5 h 33"/>
                <a:gd name="T30" fmla="*/ 3 w 68"/>
                <a:gd name="T31" fmla="*/ 5 h 33"/>
                <a:gd name="T32" fmla="*/ 0 w 68"/>
                <a:gd name="T33" fmla="*/ 0 h 33"/>
                <a:gd name="T34" fmla="*/ 67 w 68"/>
                <a:gd name="T3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33">
                  <a:moveTo>
                    <a:pt x="67" y="0"/>
                  </a:moveTo>
                  <a:cubicBezTo>
                    <a:pt x="68" y="0"/>
                    <a:pt x="68" y="1"/>
                    <a:pt x="68" y="1"/>
                  </a:cubicBezTo>
                  <a:cubicBezTo>
                    <a:pt x="68" y="2"/>
                    <a:pt x="68" y="4"/>
                    <a:pt x="68" y="4"/>
                  </a:cubicBezTo>
                  <a:cubicBezTo>
                    <a:pt x="68" y="5"/>
                    <a:pt x="68" y="5"/>
                    <a:pt x="67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24" y="5"/>
                    <a:pt x="16" y="9"/>
                    <a:pt x="16" y="17"/>
                  </a:cubicBezTo>
                  <a:cubicBezTo>
                    <a:pt x="16" y="25"/>
                    <a:pt x="24" y="28"/>
                    <a:pt x="35" y="28"/>
                  </a:cubicBezTo>
                  <a:cubicBezTo>
                    <a:pt x="46" y="28"/>
                    <a:pt x="54" y="25"/>
                    <a:pt x="54" y="17"/>
                  </a:cubicBezTo>
                  <a:cubicBezTo>
                    <a:pt x="54" y="13"/>
                    <a:pt x="53" y="10"/>
                    <a:pt x="5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4" y="10"/>
                    <a:pt x="64" y="13"/>
                    <a:pt x="64" y="16"/>
                  </a:cubicBezTo>
                  <a:cubicBezTo>
                    <a:pt x="64" y="28"/>
                    <a:pt x="51" y="33"/>
                    <a:pt x="35" y="33"/>
                  </a:cubicBezTo>
                  <a:cubicBezTo>
                    <a:pt x="19" y="33"/>
                    <a:pt x="5" y="28"/>
                    <a:pt x="5" y="16"/>
                  </a:cubicBezTo>
                  <a:cubicBezTo>
                    <a:pt x="5" y="11"/>
                    <a:pt x="8" y="8"/>
                    <a:pt x="1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47"/>
            <p:cNvSpPr>
              <a:spLocks/>
            </p:cNvSpPr>
            <p:nvPr userDrawn="1"/>
          </p:nvSpPr>
          <p:spPr bwMode="auto">
            <a:xfrm>
              <a:off x="5303232" y="9363356"/>
              <a:ext cx="192205" cy="68473"/>
            </a:xfrm>
            <a:custGeom>
              <a:avLst/>
              <a:gdLst>
                <a:gd name="T0" fmla="*/ 68 w 68"/>
                <a:gd name="T1" fmla="*/ 20 h 24"/>
                <a:gd name="T2" fmla="*/ 65 w 68"/>
                <a:gd name="T3" fmla="*/ 24 h 24"/>
                <a:gd name="T4" fmla="*/ 34 w 68"/>
                <a:gd name="T5" fmla="*/ 13 h 24"/>
                <a:gd name="T6" fmla="*/ 3 w 68"/>
                <a:gd name="T7" fmla="*/ 24 h 24"/>
                <a:gd name="T8" fmla="*/ 0 w 68"/>
                <a:gd name="T9" fmla="*/ 20 h 24"/>
                <a:gd name="T10" fmla="*/ 28 w 68"/>
                <a:gd name="T11" fmla="*/ 5 h 24"/>
                <a:gd name="T12" fmla="*/ 5 w 68"/>
                <a:gd name="T13" fmla="*/ 5 h 24"/>
                <a:gd name="T14" fmla="*/ 2 w 68"/>
                <a:gd name="T15" fmla="*/ 0 h 24"/>
                <a:gd name="T16" fmla="*/ 64 w 68"/>
                <a:gd name="T17" fmla="*/ 0 h 24"/>
                <a:gd name="T18" fmla="*/ 65 w 68"/>
                <a:gd name="T19" fmla="*/ 2 h 24"/>
                <a:gd name="T20" fmla="*/ 64 w 68"/>
                <a:gd name="T21" fmla="*/ 5 h 24"/>
                <a:gd name="T22" fmla="*/ 40 w 68"/>
                <a:gd name="T23" fmla="*/ 5 h 24"/>
                <a:gd name="T24" fmla="*/ 68 w 68"/>
                <a:gd name="T25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24">
                  <a:moveTo>
                    <a:pt x="68" y="20"/>
                  </a:moveTo>
                  <a:cubicBezTo>
                    <a:pt x="65" y="24"/>
                    <a:pt x="65" y="24"/>
                    <a:pt x="65" y="24"/>
                  </a:cubicBezTo>
                  <a:cubicBezTo>
                    <a:pt x="49" y="24"/>
                    <a:pt x="38" y="19"/>
                    <a:pt x="34" y="13"/>
                  </a:cubicBezTo>
                  <a:cubicBezTo>
                    <a:pt x="30" y="19"/>
                    <a:pt x="19" y="24"/>
                    <a:pt x="3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4" y="20"/>
                    <a:pt x="28" y="13"/>
                    <a:pt x="28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1"/>
                    <a:pt x="65" y="2"/>
                  </a:cubicBezTo>
                  <a:cubicBezTo>
                    <a:pt x="65" y="4"/>
                    <a:pt x="65" y="5"/>
                    <a:pt x="64" y="5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0" y="13"/>
                    <a:pt x="54" y="20"/>
                    <a:pt x="68" y="2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48"/>
            <p:cNvSpPr>
              <a:spLocks/>
            </p:cNvSpPr>
            <p:nvPr userDrawn="1"/>
          </p:nvSpPr>
          <p:spPr bwMode="auto">
            <a:xfrm>
              <a:off x="5515859" y="9357349"/>
              <a:ext cx="181393" cy="170581"/>
            </a:xfrm>
            <a:custGeom>
              <a:avLst/>
              <a:gdLst>
                <a:gd name="T0" fmla="*/ 31 w 64"/>
                <a:gd name="T1" fmla="*/ 7 h 60"/>
                <a:gd name="T2" fmla="*/ 5 w 64"/>
                <a:gd name="T3" fmla="*/ 7 h 60"/>
                <a:gd name="T4" fmla="*/ 2 w 64"/>
                <a:gd name="T5" fmla="*/ 2 h 60"/>
                <a:gd name="T6" fmla="*/ 41 w 64"/>
                <a:gd name="T7" fmla="*/ 2 h 60"/>
                <a:gd name="T8" fmla="*/ 43 w 64"/>
                <a:gd name="T9" fmla="*/ 5 h 60"/>
                <a:gd name="T10" fmla="*/ 43 w 64"/>
                <a:gd name="T11" fmla="*/ 25 h 60"/>
                <a:gd name="T12" fmla="*/ 54 w 64"/>
                <a:gd name="T13" fmla="*/ 25 h 60"/>
                <a:gd name="T14" fmla="*/ 54 w 64"/>
                <a:gd name="T15" fmla="*/ 0 h 60"/>
                <a:gd name="T16" fmla="*/ 62 w 64"/>
                <a:gd name="T17" fmla="*/ 0 h 60"/>
                <a:gd name="T18" fmla="*/ 64 w 64"/>
                <a:gd name="T19" fmla="*/ 2 h 60"/>
                <a:gd name="T20" fmla="*/ 64 w 64"/>
                <a:gd name="T21" fmla="*/ 55 h 60"/>
                <a:gd name="T22" fmla="*/ 64 w 64"/>
                <a:gd name="T23" fmla="*/ 57 h 60"/>
                <a:gd name="T24" fmla="*/ 64 w 64"/>
                <a:gd name="T25" fmla="*/ 60 h 60"/>
                <a:gd name="T26" fmla="*/ 11 w 64"/>
                <a:gd name="T27" fmla="*/ 60 h 60"/>
                <a:gd name="T28" fmla="*/ 6 w 64"/>
                <a:gd name="T29" fmla="*/ 55 h 60"/>
                <a:gd name="T30" fmla="*/ 6 w 64"/>
                <a:gd name="T31" fmla="*/ 42 h 60"/>
                <a:gd name="T32" fmla="*/ 14 w 64"/>
                <a:gd name="T33" fmla="*/ 42 h 60"/>
                <a:gd name="T34" fmla="*/ 16 w 64"/>
                <a:gd name="T35" fmla="*/ 44 h 60"/>
                <a:gd name="T36" fmla="*/ 16 w 64"/>
                <a:gd name="T37" fmla="*/ 53 h 60"/>
                <a:gd name="T38" fmla="*/ 19 w 64"/>
                <a:gd name="T39" fmla="*/ 55 h 60"/>
                <a:gd name="T40" fmla="*/ 54 w 64"/>
                <a:gd name="T41" fmla="*/ 55 h 60"/>
                <a:gd name="T42" fmla="*/ 54 w 64"/>
                <a:gd name="T43" fmla="*/ 41 h 60"/>
                <a:gd name="T44" fmla="*/ 38 w 64"/>
                <a:gd name="T45" fmla="*/ 41 h 60"/>
                <a:gd name="T46" fmla="*/ 35 w 64"/>
                <a:gd name="T47" fmla="*/ 37 h 60"/>
                <a:gd name="T48" fmla="*/ 54 w 64"/>
                <a:gd name="T49" fmla="*/ 37 h 60"/>
                <a:gd name="T50" fmla="*/ 54 w 64"/>
                <a:gd name="T51" fmla="*/ 29 h 60"/>
                <a:gd name="T52" fmla="*/ 26 w 64"/>
                <a:gd name="T53" fmla="*/ 29 h 60"/>
                <a:gd name="T54" fmla="*/ 26 w 64"/>
                <a:gd name="T55" fmla="*/ 40 h 60"/>
                <a:gd name="T56" fmla="*/ 16 w 64"/>
                <a:gd name="T57" fmla="*/ 40 h 60"/>
                <a:gd name="T58" fmla="*/ 16 w 64"/>
                <a:gd name="T59" fmla="*/ 29 h 60"/>
                <a:gd name="T60" fmla="*/ 3 w 64"/>
                <a:gd name="T61" fmla="*/ 29 h 60"/>
                <a:gd name="T62" fmla="*/ 0 w 64"/>
                <a:gd name="T63" fmla="*/ 25 h 60"/>
                <a:gd name="T64" fmla="*/ 33 w 64"/>
                <a:gd name="T65" fmla="*/ 25 h 60"/>
                <a:gd name="T66" fmla="*/ 33 w 64"/>
                <a:gd name="T67" fmla="*/ 8 h 60"/>
                <a:gd name="T68" fmla="*/ 31 w 64"/>
                <a:gd name="T6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" h="60">
                  <a:moveTo>
                    <a:pt x="31" y="7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2" y="2"/>
                    <a:pt x="43" y="3"/>
                    <a:pt x="43" y="5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3" y="0"/>
                    <a:pt x="64" y="1"/>
                    <a:pt x="64" y="2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7"/>
                    <a:pt x="64" y="57"/>
                    <a:pt x="64" y="5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8" y="60"/>
                    <a:pt x="6" y="58"/>
                    <a:pt x="6" y="55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2"/>
                    <a:pt x="16" y="43"/>
                    <a:pt x="16" y="44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54"/>
                    <a:pt x="18" y="55"/>
                    <a:pt x="19" y="55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7"/>
                    <a:pt x="31" y="7"/>
                    <a:pt x="31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49"/>
            <p:cNvSpPr>
              <a:spLocks/>
            </p:cNvSpPr>
            <p:nvPr userDrawn="1"/>
          </p:nvSpPr>
          <p:spPr bwMode="auto">
            <a:xfrm>
              <a:off x="4667754" y="9360953"/>
              <a:ext cx="177790" cy="166977"/>
            </a:xfrm>
            <a:custGeom>
              <a:avLst/>
              <a:gdLst>
                <a:gd name="T0" fmla="*/ 59 w 63"/>
                <a:gd name="T1" fmla="*/ 0 h 59"/>
                <a:gd name="T2" fmla="*/ 50 w 63"/>
                <a:gd name="T3" fmla="*/ 0 h 59"/>
                <a:gd name="T4" fmla="*/ 50 w 63"/>
                <a:gd name="T5" fmla="*/ 23 h 59"/>
                <a:gd name="T6" fmla="*/ 13 w 63"/>
                <a:gd name="T7" fmla="*/ 23 h 59"/>
                <a:gd name="T8" fmla="*/ 13 w 63"/>
                <a:gd name="T9" fmla="*/ 0 h 59"/>
                <a:gd name="T10" fmla="*/ 4 w 63"/>
                <a:gd name="T11" fmla="*/ 0 h 59"/>
                <a:gd name="T12" fmla="*/ 0 w 63"/>
                <a:gd name="T13" fmla="*/ 4 h 59"/>
                <a:gd name="T14" fmla="*/ 0 w 63"/>
                <a:gd name="T15" fmla="*/ 54 h 59"/>
                <a:gd name="T16" fmla="*/ 4 w 63"/>
                <a:gd name="T17" fmla="*/ 59 h 59"/>
                <a:gd name="T18" fmla="*/ 13 w 63"/>
                <a:gd name="T19" fmla="*/ 59 h 59"/>
                <a:gd name="T20" fmla="*/ 13 w 63"/>
                <a:gd name="T21" fmla="*/ 33 h 59"/>
                <a:gd name="T22" fmla="*/ 50 w 63"/>
                <a:gd name="T23" fmla="*/ 33 h 59"/>
                <a:gd name="T24" fmla="*/ 50 w 63"/>
                <a:gd name="T25" fmla="*/ 59 h 59"/>
                <a:gd name="T26" fmla="*/ 59 w 63"/>
                <a:gd name="T27" fmla="*/ 59 h 59"/>
                <a:gd name="T28" fmla="*/ 63 w 63"/>
                <a:gd name="T29" fmla="*/ 54 h 59"/>
                <a:gd name="T30" fmla="*/ 63 w 63"/>
                <a:gd name="T31" fmla="*/ 4 h 59"/>
                <a:gd name="T32" fmla="*/ 59 w 63"/>
                <a:gd name="T33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59">
                  <a:moveTo>
                    <a:pt x="59" y="0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2" y="59"/>
                    <a:pt x="4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62" y="59"/>
                    <a:pt x="63" y="57"/>
                    <a:pt x="63" y="5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2"/>
                    <a:pt x="62" y="0"/>
                    <a:pt x="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50"/>
            <p:cNvSpPr>
              <a:spLocks/>
            </p:cNvSpPr>
            <p:nvPr userDrawn="1"/>
          </p:nvSpPr>
          <p:spPr bwMode="auto">
            <a:xfrm>
              <a:off x="4451524" y="9360953"/>
              <a:ext cx="181393" cy="166977"/>
            </a:xfrm>
            <a:custGeom>
              <a:avLst/>
              <a:gdLst>
                <a:gd name="T0" fmla="*/ 61 w 64"/>
                <a:gd name="T1" fmla="*/ 0 h 59"/>
                <a:gd name="T2" fmla="*/ 51 w 64"/>
                <a:gd name="T3" fmla="*/ 0 h 59"/>
                <a:gd name="T4" fmla="*/ 51 w 64"/>
                <a:gd name="T5" fmla="*/ 45 h 59"/>
                <a:gd name="T6" fmla="*/ 24 w 64"/>
                <a:gd name="T7" fmla="*/ 9 h 59"/>
                <a:gd name="T8" fmla="*/ 9 w 64"/>
                <a:gd name="T9" fmla="*/ 0 h 59"/>
                <a:gd name="T10" fmla="*/ 0 w 64"/>
                <a:gd name="T11" fmla="*/ 0 h 59"/>
                <a:gd name="T12" fmla="*/ 0 w 64"/>
                <a:gd name="T13" fmla="*/ 54 h 59"/>
                <a:gd name="T14" fmla="*/ 4 w 64"/>
                <a:gd name="T15" fmla="*/ 59 h 59"/>
                <a:gd name="T16" fmla="*/ 13 w 64"/>
                <a:gd name="T17" fmla="*/ 59 h 59"/>
                <a:gd name="T18" fmla="*/ 13 w 64"/>
                <a:gd name="T19" fmla="*/ 13 h 59"/>
                <a:gd name="T20" fmla="*/ 40 w 64"/>
                <a:gd name="T21" fmla="*/ 49 h 59"/>
                <a:gd name="T22" fmla="*/ 56 w 64"/>
                <a:gd name="T23" fmla="*/ 59 h 59"/>
                <a:gd name="T24" fmla="*/ 64 w 64"/>
                <a:gd name="T25" fmla="*/ 59 h 59"/>
                <a:gd name="T26" fmla="*/ 64 w 64"/>
                <a:gd name="T27" fmla="*/ 4 h 59"/>
                <a:gd name="T28" fmla="*/ 61 w 64"/>
                <a:gd name="T2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59">
                  <a:moveTo>
                    <a:pt x="61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9" y="3"/>
                    <a:pt x="16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1" y="59"/>
                    <a:pt x="4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5" y="55"/>
                    <a:pt x="49" y="59"/>
                    <a:pt x="56" y="59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2"/>
                    <a:pt x="63" y="0"/>
                    <a:pt x="61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51"/>
            <p:cNvSpPr>
              <a:spLocks noEditPoints="1"/>
            </p:cNvSpPr>
            <p:nvPr userDrawn="1"/>
          </p:nvSpPr>
          <p:spPr bwMode="auto">
            <a:xfrm>
              <a:off x="4871972" y="9363356"/>
              <a:ext cx="195809" cy="164575"/>
            </a:xfrm>
            <a:custGeom>
              <a:avLst/>
              <a:gdLst>
                <a:gd name="T0" fmla="*/ 68 w 69"/>
                <a:gd name="T1" fmla="*/ 40 h 58"/>
                <a:gd name="T2" fmla="*/ 40 w 69"/>
                <a:gd name="T3" fmla="*/ 40 h 58"/>
                <a:gd name="T4" fmla="*/ 40 w 69"/>
                <a:gd name="T5" fmla="*/ 58 h 58"/>
                <a:gd name="T6" fmla="*/ 30 w 69"/>
                <a:gd name="T7" fmla="*/ 58 h 58"/>
                <a:gd name="T8" fmla="*/ 30 w 69"/>
                <a:gd name="T9" fmla="*/ 40 h 58"/>
                <a:gd name="T10" fmla="*/ 2 w 69"/>
                <a:gd name="T11" fmla="*/ 40 h 58"/>
                <a:gd name="T12" fmla="*/ 0 w 69"/>
                <a:gd name="T13" fmla="*/ 36 h 58"/>
                <a:gd name="T14" fmla="*/ 68 w 69"/>
                <a:gd name="T15" fmla="*/ 36 h 58"/>
                <a:gd name="T16" fmla="*/ 69 w 69"/>
                <a:gd name="T17" fmla="*/ 38 h 58"/>
                <a:gd name="T18" fmla="*/ 68 w 69"/>
                <a:gd name="T19" fmla="*/ 40 h 58"/>
                <a:gd name="T20" fmla="*/ 5 w 69"/>
                <a:gd name="T21" fmla="*/ 25 h 58"/>
                <a:gd name="T22" fmla="*/ 5 w 69"/>
                <a:gd name="T23" fmla="*/ 0 h 58"/>
                <a:gd name="T24" fmla="*/ 64 w 69"/>
                <a:gd name="T25" fmla="*/ 0 h 58"/>
                <a:gd name="T26" fmla="*/ 65 w 69"/>
                <a:gd name="T27" fmla="*/ 2 h 58"/>
                <a:gd name="T28" fmla="*/ 64 w 69"/>
                <a:gd name="T29" fmla="*/ 4 h 58"/>
                <a:gd name="T30" fmla="*/ 15 w 69"/>
                <a:gd name="T31" fmla="*/ 4 h 58"/>
                <a:gd name="T32" fmla="*/ 15 w 69"/>
                <a:gd name="T33" fmla="*/ 12 h 58"/>
                <a:gd name="T34" fmla="*/ 64 w 69"/>
                <a:gd name="T35" fmla="*/ 12 h 58"/>
                <a:gd name="T36" fmla="*/ 65 w 69"/>
                <a:gd name="T37" fmla="*/ 14 h 58"/>
                <a:gd name="T38" fmla="*/ 64 w 69"/>
                <a:gd name="T39" fmla="*/ 16 h 58"/>
                <a:gd name="T40" fmla="*/ 15 w 69"/>
                <a:gd name="T41" fmla="*/ 16 h 58"/>
                <a:gd name="T42" fmla="*/ 15 w 69"/>
                <a:gd name="T43" fmla="*/ 23 h 58"/>
                <a:gd name="T44" fmla="*/ 18 w 69"/>
                <a:gd name="T45" fmla="*/ 25 h 58"/>
                <a:gd name="T46" fmla="*/ 65 w 69"/>
                <a:gd name="T47" fmla="*/ 25 h 58"/>
                <a:gd name="T48" fmla="*/ 66 w 69"/>
                <a:gd name="T49" fmla="*/ 27 h 58"/>
                <a:gd name="T50" fmla="*/ 65 w 69"/>
                <a:gd name="T51" fmla="*/ 29 h 58"/>
                <a:gd name="T52" fmla="*/ 10 w 69"/>
                <a:gd name="T53" fmla="*/ 29 h 58"/>
                <a:gd name="T54" fmla="*/ 5 w 69"/>
                <a:gd name="T55" fmla="*/ 2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9" h="58">
                  <a:moveTo>
                    <a:pt x="68" y="40"/>
                  </a:moveTo>
                  <a:cubicBezTo>
                    <a:pt x="40" y="40"/>
                    <a:pt x="40" y="40"/>
                    <a:pt x="40" y="40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9" y="36"/>
                    <a:pt x="69" y="37"/>
                    <a:pt x="69" y="38"/>
                  </a:cubicBezTo>
                  <a:cubicBezTo>
                    <a:pt x="69" y="40"/>
                    <a:pt x="69" y="40"/>
                    <a:pt x="68" y="40"/>
                  </a:cubicBezTo>
                  <a:moveTo>
                    <a:pt x="5" y="25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1"/>
                    <a:pt x="65" y="2"/>
                  </a:cubicBezTo>
                  <a:cubicBezTo>
                    <a:pt x="65" y="3"/>
                    <a:pt x="65" y="4"/>
                    <a:pt x="6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5" y="12"/>
                    <a:pt x="65" y="13"/>
                    <a:pt x="65" y="14"/>
                  </a:cubicBezTo>
                  <a:cubicBezTo>
                    <a:pt x="65" y="15"/>
                    <a:pt x="65" y="16"/>
                    <a:pt x="64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4"/>
                    <a:pt x="17" y="25"/>
                    <a:pt x="18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6" y="25"/>
                    <a:pt x="66" y="26"/>
                    <a:pt x="66" y="27"/>
                  </a:cubicBezTo>
                  <a:cubicBezTo>
                    <a:pt x="66" y="29"/>
                    <a:pt x="66" y="29"/>
                    <a:pt x="65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7" y="29"/>
                    <a:pt x="5" y="27"/>
                    <a:pt x="5" y="2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52"/>
            <p:cNvSpPr>
              <a:spLocks noEditPoints="1"/>
            </p:cNvSpPr>
            <p:nvPr userDrawn="1"/>
          </p:nvSpPr>
          <p:spPr bwMode="auto">
            <a:xfrm>
              <a:off x="5084599" y="9357349"/>
              <a:ext cx="210224" cy="170581"/>
            </a:xfrm>
            <a:custGeom>
              <a:avLst/>
              <a:gdLst>
                <a:gd name="T0" fmla="*/ 45 w 74"/>
                <a:gd name="T1" fmla="*/ 55 h 60"/>
                <a:gd name="T2" fmla="*/ 24 w 74"/>
                <a:gd name="T3" fmla="*/ 38 h 60"/>
                <a:gd name="T4" fmla="*/ 3 w 74"/>
                <a:gd name="T5" fmla="*/ 55 h 60"/>
                <a:gd name="T6" fmla="*/ 0 w 74"/>
                <a:gd name="T7" fmla="*/ 52 h 60"/>
                <a:gd name="T8" fmla="*/ 19 w 74"/>
                <a:gd name="T9" fmla="*/ 23 h 60"/>
                <a:gd name="T10" fmla="*/ 19 w 74"/>
                <a:gd name="T11" fmla="*/ 7 h 60"/>
                <a:gd name="T12" fmla="*/ 4 w 74"/>
                <a:gd name="T13" fmla="*/ 7 h 60"/>
                <a:gd name="T14" fmla="*/ 1 w 74"/>
                <a:gd name="T15" fmla="*/ 2 h 60"/>
                <a:gd name="T16" fmla="*/ 45 w 74"/>
                <a:gd name="T17" fmla="*/ 2 h 60"/>
                <a:gd name="T18" fmla="*/ 46 w 74"/>
                <a:gd name="T19" fmla="*/ 4 h 60"/>
                <a:gd name="T20" fmla="*/ 45 w 74"/>
                <a:gd name="T21" fmla="*/ 7 h 60"/>
                <a:gd name="T22" fmla="*/ 29 w 74"/>
                <a:gd name="T23" fmla="*/ 7 h 60"/>
                <a:gd name="T24" fmla="*/ 29 w 74"/>
                <a:gd name="T25" fmla="*/ 23 h 60"/>
                <a:gd name="T26" fmla="*/ 48 w 74"/>
                <a:gd name="T27" fmla="*/ 52 h 60"/>
                <a:gd name="T28" fmla="*/ 45 w 74"/>
                <a:gd name="T29" fmla="*/ 55 h 60"/>
                <a:gd name="T30" fmla="*/ 55 w 74"/>
                <a:gd name="T31" fmla="*/ 60 h 60"/>
                <a:gd name="T32" fmla="*/ 55 w 74"/>
                <a:gd name="T33" fmla="*/ 0 h 60"/>
                <a:gd name="T34" fmla="*/ 63 w 74"/>
                <a:gd name="T35" fmla="*/ 0 h 60"/>
                <a:gd name="T36" fmla="*/ 65 w 74"/>
                <a:gd name="T37" fmla="*/ 2 h 60"/>
                <a:gd name="T38" fmla="*/ 65 w 74"/>
                <a:gd name="T39" fmla="*/ 18 h 60"/>
                <a:gd name="T40" fmla="*/ 73 w 74"/>
                <a:gd name="T41" fmla="*/ 18 h 60"/>
                <a:gd name="T42" fmla="*/ 74 w 74"/>
                <a:gd name="T43" fmla="*/ 20 h 60"/>
                <a:gd name="T44" fmla="*/ 73 w 74"/>
                <a:gd name="T45" fmla="*/ 22 h 60"/>
                <a:gd name="T46" fmla="*/ 65 w 74"/>
                <a:gd name="T47" fmla="*/ 22 h 60"/>
                <a:gd name="T48" fmla="*/ 65 w 74"/>
                <a:gd name="T49" fmla="*/ 60 h 60"/>
                <a:gd name="T50" fmla="*/ 55 w 74"/>
                <a:gd name="T5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4" h="60">
                  <a:moveTo>
                    <a:pt x="45" y="55"/>
                  </a:moveTo>
                  <a:cubicBezTo>
                    <a:pt x="37" y="52"/>
                    <a:pt x="27" y="46"/>
                    <a:pt x="24" y="38"/>
                  </a:cubicBezTo>
                  <a:cubicBezTo>
                    <a:pt x="21" y="46"/>
                    <a:pt x="11" y="52"/>
                    <a:pt x="3" y="55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0" y="48"/>
                    <a:pt x="19" y="38"/>
                    <a:pt x="19" y="23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6" y="2"/>
                    <a:pt x="46" y="3"/>
                    <a:pt x="46" y="4"/>
                  </a:cubicBezTo>
                  <a:cubicBezTo>
                    <a:pt x="46" y="6"/>
                    <a:pt x="46" y="7"/>
                    <a:pt x="45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38"/>
                    <a:pt x="38" y="48"/>
                    <a:pt x="48" y="52"/>
                  </a:cubicBezTo>
                  <a:lnTo>
                    <a:pt x="45" y="55"/>
                  </a:lnTo>
                  <a:close/>
                  <a:moveTo>
                    <a:pt x="55" y="6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4" y="0"/>
                    <a:pt x="65" y="1"/>
                    <a:pt x="65" y="2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3" y="18"/>
                    <a:pt x="74" y="19"/>
                    <a:pt x="74" y="20"/>
                  </a:cubicBezTo>
                  <a:cubicBezTo>
                    <a:pt x="74" y="21"/>
                    <a:pt x="73" y="22"/>
                    <a:pt x="73" y="22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65" y="60"/>
                    <a:pt x="65" y="60"/>
                    <a:pt x="65" y="60"/>
                  </a:cubicBezTo>
                  <a:lnTo>
                    <a:pt x="55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6" name="그룹 15"/>
          <p:cNvGrpSpPr/>
          <p:nvPr userDrawn="1"/>
        </p:nvGrpSpPr>
        <p:grpSpPr>
          <a:xfrm>
            <a:off x="0" y="2605452"/>
            <a:ext cx="9906000" cy="1912822"/>
            <a:chOff x="0" y="4659885"/>
            <a:chExt cx="9906000" cy="1912822"/>
          </a:xfrm>
        </p:grpSpPr>
        <p:sp>
          <p:nvSpPr>
            <p:cNvPr id="17" name="직사각형 16"/>
            <p:cNvSpPr/>
            <p:nvPr/>
          </p:nvSpPr>
          <p:spPr>
            <a:xfrm>
              <a:off x="0" y="5196024"/>
              <a:ext cx="2202702" cy="480876"/>
            </a:xfrm>
            <a:prstGeom prst="rect">
              <a:avLst/>
            </a:prstGeom>
            <a:solidFill>
              <a:srgbClr val="FBB8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527068" y="4659885"/>
              <a:ext cx="522525" cy="207293"/>
            </a:xfrm>
            <a:prstGeom prst="rect">
              <a:avLst/>
            </a:prstGeom>
            <a:solidFill>
              <a:srgbClr val="FBB8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9257476" y="5380174"/>
              <a:ext cx="648524" cy="2967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554946" y="6302968"/>
              <a:ext cx="1168815" cy="269739"/>
            </a:xfrm>
            <a:prstGeom prst="rect">
              <a:avLst/>
            </a:prstGeom>
            <a:solidFill>
              <a:srgbClr val="8EC9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132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106384"/>
            <a:ext cx="8915400" cy="514259"/>
          </a:xfrm>
        </p:spPr>
        <p:txBody>
          <a:bodyPr>
            <a:normAutofit/>
          </a:bodyPr>
          <a:lstStyle>
            <a:lvl1pPr algn="l">
              <a:defRPr sz="1814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836712"/>
            <a:ext cx="8915400" cy="5472608"/>
          </a:xfrm>
        </p:spPr>
        <p:txBody>
          <a:bodyPr/>
          <a:lstStyle>
            <a:lvl1pPr marL="202022" indent="-202022">
              <a:lnSpc>
                <a:spcPts val="1552"/>
              </a:lnSpc>
              <a:spcBef>
                <a:spcPts val="517"/>
              </a:spcBef>
              <a:buFont typeface="Wingdings" panose="05000000000000000000" pitchFamily="2" charset="2"/>
              <a:buChar char=""/>
              <a:defRPr sz="1270" b="1"/>
            </a:lvl1pPr>
            <a:lvl2pPr marL="292356" indent="-111687">
              <a:lnSpc>
                <a:spcPts val="1552"/>
              </a:lnSpc>
              <a:spcBef>
                <a:spcPts val="517"/>
              </a:spcBef>
              <a:buFont typeface="Wingdings" panose="05000000000000000000" pitchFamily="2" charset="2"/>
              <a:buChar char="§"/>
              <a:defRPr sz="1179"/>
            </a:lvl2pPr>
            <a:lvl3pPr marL="461530" indent="-180670">
              <a:lnSpc>
                <a:spcPts val="1552"/>
              </a:lnSpc>
              <a:spcBef>
                <a:spcPts val="517"/>
              </a:spcBef>
              <a:buFont typeface="맑은 고딕" panose="020B0503020000020004" pitchFamily="50" charset="-127"/>
              <a:buChar char="–"/>
              <a:defRPr sz="998"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563910"/>
            <a:ext cx="2311400" cy="365125"/>
          </a:xfrm>
        </p:spPr>
        <p:txBody>
          <a:bodyPr/>
          <a:lstStyle>
            <a:lvl1pPr>
              <a:defRPr sz="81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106592F-92F8-48B1-8C8C-078DDB3AD67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25" y="6640912"/>
            <a:ext cx="1108487" cy="160363"/>
          </a:xfrm>
          <a:prstGeom prst="rect">
            <a:avLst/>
          </a:prstGeom>
        </p:spPr>
      </p:pic>
      <p:sp>
        <p:nvSpPr>
          <p:cNvPr id="16" name="직사각형 15"/>
          <p:cNvSpPr/>
          <p:nvPr userDrawn="1"/>
        </p:nvSpPr>
        <p:spPr>
          <a:xfrm>
            <a:off x="495300" y="620642"/>
            <a:ext cx="8915400" cy="48978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605" tIns="47302" rIns="94605" bIns="47302" rtlCol="0" anchor="ctr"/>
          <a:lstStyle/>
          <a:p>
            <a:pPr algn="ctr"/>
            <a:endParaRPr lang="ko-KR" altLang="en-US" sz="1633"/>
          </a:p>
        </p:txBody>
      </p:sp>
      <p:sp>
        <p:nvSpPr>
          <p:cNvPr id="17" name="직사각형 16"/>
          <p:cNvSpPr/>
          <p:nvPr userDrawn="1"/>
        </p:nvSpPr>
        <p:spPr>
          <a:xfrm>
            <a:off x="495300" y="6553110"/>
            <a:ext cx="8915400" cy="10800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605" tIns="47302" rIns="94605" bIns="47302" rtlCol="0" anchor="ctr"/>
          <a:lstStyle/>
          <a:p>
            <a:pPr algn="ctr"/>
            <a:endParaRPr lang="ko-KR" altLang="en-US" sz="1633"/>
          </a:p>
        </p:txBody>
      </p:sp>
      <p:sp>
        <p:nvSpPr>
          <p:cNvPr id="9" name="직사각형 8"/>
          <p:cNvSpPr/>
          <p:nvPr userDrawn="1"/>
        </p:nvSpPr>
        <p:spPr>
          <a:xfrm>
            <a:off x="7743242" y="620642"/>
            <a:ext cx="1667458" cy="48978"/>
          </a:xfrm>
          <a:prstGeom prst="rect">
            <a:avLst/>
          </a:prstGeom>
          <a:solidFill>
            <a:srgbClr val="7AC0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605" tIns="47302" rIns="94605" bIns="47302" rtlCol="0" anchor="ctr"/>
          <a:lstStyle/>
          <a:p>
            <a:pPr algn="ctr"/>
            <a:endParaRPr lang="ko-KR" altLang="en-US" sz="1633"/>
          </a:p>
        </p:txBody>
      </p:sp>
    </p:spTree>
    <p:extLst>
      <p:ext uri="{BB962C8B-B14F-4D97-AF65-F5344CB8AC3E}">
        <p14:creationId xmlns:p14="http://schemas.microsoft.com/office/powerpoint/2010/main" val="398849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H투자증권_폴더커버1">
    <p:bg>
      <p:bgPr>
        <a:solidFill>
          <a:srgbClr val="0A4C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43"/>
          <p:cNvGrpSpPr>
            <a:grpSpLocks noChangeAspect="1"/>
          </p:cNvGrpSpPr>
          <p:nvPr userDrawn="1"/>
        </p:nvGrpSpPr>
        <p:grpSpPr bwMode="auto">
          <a:xfrm>
            <a:off x="1037615" y="1556792"/>
            <a:ext cx="1848643" cy="269407"/>
            <a:chOff x="-1652" y="2705"/>
            <a:chExt cx="1242" cy="181"/>
          </a:xfrm>
          <a:solidFill>
            <a:schemeClr val="bg1"/>
          </a:solidFill>
        </p:grpSpPr>
        <p:sp>
          <p:nvSpPr>
            <p:cNvPr id="15" name="Freeform 44"/>
            <p:cNvSpPr>
              <a:spLocks/>
            </p:cNvSpPr>
            <p:nvPr userDrawn="1"/>
          </p:nvSpPr>
          <p:spPr bwMode="auto">
            <a:xfrm>
              <a:off x="-1615" y="2705"/>
              <a:ext cx="71" cy="68"/>
            </a:xfrm>
            <a:custGeom>
              <a:avLst/>
              <a:gdLst>
                <a:gd name="T0" fmla="*/ 71 w 71"/>
                <a:gd name="T1" fmla="*/ 0 h 68"/>
                <a:gd name="T2" fmla="*/ 36 w 71"/>
                <a:gd name="T3" fmla="*/ 19 h 68"/>
                <a:gd name="T4" fmla="*/ 0 w 71"/>
                <a:gd name="T5" fmla="*/ 0 h 68"/>
                <a:gd name="T6" fmla="*/ 36 w 71"/>
                <a:gd name="T7" fmla="*/ 68 h 68"/>
                <a:gd name="T8" fmla="*/ 71 w 71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8">
                  <a:moveTo>
                    <a:pt x="71" y="0"/>
                  </a:moveTo>
                  <a:lnTo>
                    <a:pt x="36" y="19"/>
                  </a:lnTo>
                  <a:lnTo>
                    <a:pt x="0" y="0"/>
                  </a:lnTo>
                  <a:lnTo>
                    <a:pt x="36" y="68"/>
                  </a:lnTo>
                  <a:lnTo>
                    <a:pt x="7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Freeform 45"/>
            <p:cNvSpPr>
              <a:spLocks/>
            </p:cNvSpPr>
            <p:nvPr userDrawn="1"/>
          </p:nvSpPr>
          <p:spPr bwMode="auto">
            <a:xfrm>
              <a:off x="-1652" y="2709"/>
              <a:ext cx="146" cy="177"/>
            </a:xfrm>
            <a:custGeom>
              <a:avLst/>
              <a:gdLst>
                <a:gd name="T0" fmla="*/ 52 w 62"/>
                <a:gd name="T1" fmla="*/ 20 h 75"/>
                <a:gd name="T2" fmla="*/ 52 w 62"/>
                <a:gd name="T3" fmla="*/ 20 h 75"/>
                <a:gd name="T4" fmla="*/ 62 w 62"/>
                <a:gd name="T5" fmla="*/ 16 h 75"/>
                <a:gd name="T6" fmla="*/ 62 w 62"/>
                <a:gd name="T7" fmla="*/ 0 h 75"/>
                <a:gd name="T8" fmla="*/ 43 w 62"/>
                <a:gd name="T9" fmla="*/ 8 h 75"/>
                <a:gd name="T10" fmla="*/ 33 w 62"/>
                <a:gd name="T11" fmla="*/ 28 h 75"/>
                <a:gd name="T12" fmla="*/ 47 w 62"/>
                <a:gd name="T13" fmla="*/ 44 h 75"/>
                <a:gd name="T14" fmla="*/ 31 w 62"/>
                <a:gd name="T15" fmla="*/ 60 h 75"/>
                <a:gd name="T16" fmla="*/ 15 w 62"/>
                <a:gd name="T17" fmla="*/ 44 h 75"/>
                <a:gd name="T18" fmla="*/ 29 w 62"/>
                <a:gd name="T19" fmla="*/ 28 h 75"/>
                <a:gd name="T20" fmla="*/ 19 w 62"/>
                <a:gd name="T21" fmla="*/ 8 h 75"/>
                <a:gd name="T22" fmla="*/ 0 w 62"/>
                <a:gd name="T23" fmla="*/ 0 h 75"/>
                <a:gd name="T24" fmla="*/ 0 w 62"/>
                <a:gd name="T25" fmla="*/ 16 h 75"/>
                <a:gd name="T26" fmla="*/ 11 w 62"/>
                <a:gd name="T27" fmla="*/ 20 h 75"/>
                <a:gd name="T28" fmla="*/ 11 w 62"/>
                <a:gd name="T29" fmla="*/ 20 h 75"/>
                <a:gd name="T30" fmla="*/ 0 w 62"/>
                <a:gd name="T31" fmla="*/ 44 h 75"/>
                <a:gd name="T32" fmla="*/ 31 w 62"/>
                <a:gd name="T33" fmla="*/ 75 h 75"/>
                <a:gd name="T34" fmla="*/ 62 w 62"/>
                <a:gd name="T35" fmla="*/ 44 h 75"/>
                <a:gd name="T36" fmla="*/ 52 w 62"/>
                <a:gd name="T37" fmla="*/ 2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" h="75">
                  <a:moveTo>
                    <a:pt x="52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33" y="28"/>
                    <a:pt x="33" y="28"/>
                  </a:cubicBezTo>
                  <a:cubicBezTo>
                    <a:pt x="41" y="29"/>
                    <a:pt x="47" y="36"/>
                    <a:pt x="47" y="44"/>
                  </a:cubicBezTo>
                  <a:cubicBezTo>
                    <a:pt x="47" y="53"/>
                    <a:pt x="40" y="60"/>
                    <a:pt x="31" y="60"/>
                  </a:cubicBezTo>
                  <a:cubicBezTo>
                    <a:pt x="22" y="60"/>
                    <a:pt x="15" y="53"/>
                    <a:pt x="15" y="44"/>
                  </a:cubicBezTo>
                  <a:cubicBezTo>
                    <a:pt x="15" y="36"/>
                    <a:pt x="21" y="29"/>
                    <a:pt x="29" y="28"/>
                  </a:cubicBezTo>
                  <a:cubicBezTo>
                    <a:pt x="29" y="28"/>
                    <a:pt x="19" y="8"/>
                    <a:pt x="19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4" y="26"/>
                    <a:pt x="0" y="35"/>
                    <a:pt x="0" y="44"/>
                  </a:cubicBezTo>
                  <a:cubicBezTo>
                    <a:pt x="0" y="61"/>
                    <a:pt x="14" y="75"/>
                    <a:pt x="31" y="75"/>
                  </a:cubicBezTo>
                  <a:cubicBezTo>
                    <a:pt x="48" y="75"/>
                    <a:pt x="62" y="61"/>
                    <a:pt x="62" y="44"/>
                  </a:cubicBezTo>
                  <a:cubicBezTo>
                    <a:pt x="62" y="35"/>
                    <a:pt x="59" y="26"/>
                    <a:pt x="52" y="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46"/>
            <p:cNvSpPr>
              <a:spLocks/>
            </p:cNvSpPr>
            <p:nvPr userDrawn="1"/>
          </p:nvSpPr>
          <p:spPr bwMode="auto">
            <a:xfrm>
              <a:off x="-738" y="2799"/>
              <a:ext cx="160" cy="78"/>
            </a:xfrm>
            <a:custGeom>
              <a:avLst/>
              <a:gdLst>
                <a:gd name="T0" fmla="*/ 67 w 68"/>
                <a:gd name="T1" fmla="*/ 0 h 33"/>
                <a:gd name="T2" fmla="*/ 68 w 68"/>
                <a:gd name="T3" fmla="*/ 1 h 33"/>
                <a:gd name="T4" fmla="*/ 68 w 68"/>
                <a:gd name="T5" fmla="*/ 4 h 33"/>
                <a:gd name="T6" fmla="*/ 67 w 68"/>
                <a:gd name="T7" fmla="*/ 5 h 33"/>
                <a:gd name="T8" fmla="*/ 35 w 68"/>
                <a:gd name="T9" fmla="*/ 5 h 33"/>
                <a:gd name="T10" fmla="*/ 35 w 68"/>
                <a:gd name="T11" fmla="*/ 5 h 33"/>
                <a:gd name="T12" fmla="*/ 16 w 68"/>
                <a:gd name="T13" fmla="*/ 17 h 33"/>
                <a:gd name="T14" fmla="*/ 35 w 68"/>
                <a:gd name="T15" fmla="*/ 28 h 33"/>
                <a:gd name="T16" fmla="*/ 54 w 68"/>
                <a:gd name="T17" fmla="*/ 17 h 33"/>
                <a:gd name="T18" fmla="*/ 50 w 68"/>
                <a:gd name="T19" fmla="*/ 8 h 33"/>
                <a:gd name="T20" fmla="*/ 62 w 68"/>
                <a:gd name="T21" fmla="*/ 8 h 33"/>
                <a:gd name="T22" fmla="*/ 64 w 68"/>
                <a:gd name="T23" fmla="*/ 16 h 33"/>
                <a:gd name="T24" fmla="*/ 35 w 68"/>
                <a:gd name="T25" fmla="*/ 33 h 33"/>
                <a:gd name="T26" fmla="*/ 5 w 68"/>
                <a:gd name="T27" fmla="*/ 16 h 33"/>
                <a:gd name="T28" fmla="*/ 12 w 68"/>
                <a:gd name="T29" fmla="*/ 5 h 33"/>
                <a:gd name="T30" fmla="*/ 3 w 68"/>
                <a:gd name="T31" fmla="*/ 5 h 33"/>
                <a:gd name="T32" fmla="*/ 0 w 68"/>
                <a:gd name="T33" fmla="*/ 0 h 33"/>
                <a:gd name="T34" fmla="*/ 67 w 68"/>
                <a:gd name="T3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33">
                  <a:moveTo>
                    <a:pt x="67" y="0"/>
                  </a:moveTo>
                  <a:cubicBezTo>
                    <a:pt x="68" y="0"/>
                    <a:pt x="68" y="1"/>
                    <a:pt x="68" y="1"/>
                  </a:cubicBezTo>
                  <a:cubicBezTo>
                    <a:pt x="68" y="2"/>
                    <a:pt x="68" y="4"/>
                    <a:pt x="68" y="4"/>
                  </a:cubicBezTo>
                  <a:cubicBezTo>
                    <a:pt x="68" y="5"/>
                    <a:pt x="68" y="5"/>
                    <a:pt x="67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24" y="5"/>
                    <a:pt x="16" y="9"/>
                    <a:pt x="16" y="17"/>
                  </a:cubicBezTo>
                  <a:cubicBezTo>
                    <a:pt x="16" y="25"/>
                    <a:pt x="24" y="28"/>
                    <a:pt x="35" y="28"/>
                  </a:cubicBezTo>
                  <a:cubicBezTo>
                    <a:pt x="46" y="28"/>
                    <a:pt x="54" y="25"/>
                    <a:pt x="54" y="17"/>
                  </a:cubicBezTo>
                  <a:cubicBezTo>
                    <a:pt x="54" y="13"/>
                    <a:pt x="53" y="10"/>
                    <a:pt x="5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4" y="10"/>
                    <a:pt x="64" y="13"/>
                    <a:pt x="64" y="16"/>
                  </a:cubicBezTo>
                  <a:cubicBezTo>
                    <a:pt x="64" y="28"/>
                    <a:pt x="51" y="33"/>
                    <a:pt x="35" y="33"/>
                  </a:cubicBezTo>
                  <a:cubicBezTo>
                    <a:pt x="19" y="33"/>
                    <a:pt x="5" y="28"/>
                    <a:pt x="5" y="16"/>
                  </a:cubicBezTo>
                  <a:cubicBezTo>
                    <a:pt x="5" y="11"/>
                    <a:pt x="8" y="8"/>
                    <a:pt x="1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47"/>
            <p:cNvSpPr>
              <a:spLocks/>
            </p:cNvSpPr>
            <p:nvPr userDrawn="1"/>
          </p:nvSpPr>
          <p:spPr bwMode="auto">
            <a:xfrm>
              <a:off x="-738" y="2733"/>
              <a:ext cx="160" cy="57"/>
            </a:xfrm>
            <a:custGeom>
              <a:avLst/>
              <a:gdLst>
                <a:gd name="T0" fmla="*/ 68 w 68"/>
                <a:gd name="T1" fmla="*/ 20 h 24"/>
                <a:gd name="T2" fmla="*/ 65 w 68"/>
                <a:gd name="T3" fmla="*/ 24 h 24"/>
                <a:gd name="T4" fmla="*/ 34 w 68"/>
                <a:gd name="T5" fmla="*/ 13 h 24"/>
                <a:gd name="T6" fmla="*/ 3 w 68"/>
                <a:gd name="T7" fmla="*/ 24 h 24"/>
                <a:gd name="T8" fmla="*/ 0 w 68"/>
                <a:gd name="T9" fmla="*/ 20 h 24"/>
                <a:gd name="T10" fmla="*/ 28 w 68"/>
                <a:gd name="T11" fmla="*/ 5 h 24"/>
                <a:gd name="T12" fmla="*/ 5 w 68"/>
                <a:gd name="T13" fmla="*/ 5 h 24"/>
                <a:gd name="T14" fmla="*/ 2 w 68"/>
                <a:gd name="T15" fmla="*/ 0 h 24"/>
                <a:gd name="T16" fmla="*/ 64 w 68"/>
                <a:gd name="T17" fmla="*/ 0 h 24"/>
                <a:gd name="T18" fmla="*/ 65 w 68"/>
                <a:gd name="T19" fmla="*/ 2 h 24"/>
                <a:gd name="T20" fmla="*/ 64 w 68"/>
                <a:gd name="T21" fmla="*/ 5 h 24"/>
                <a:gd name="T22" fmla="*/ 40 w 68"/>
                <a:gd name="T23" fmla="*/ 5 h 24"/>
                <a:gd name="T24" fmla="*/ 68 w 68"/>
                <a:gd name="T25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24">
                  <a:moveTo>
                    <a:pt x="68" y="20"/>
                  </a:moveTo>
                  <a:cubicBezTo>
                    <a:pt x="65" y="24"/>
                    <a:pt x="65" y="24"/>
                    <a:pt x="65" y="24"/>
                  </a:cubicBezTo>
                  <a:cubicBezTo>
                    <a:pt x="49" y="24"/>
                    <a:pt x="38" y="19"/>
                    <a:pt x="34" y="13"/>
                  </a:cubicBezTo>
                  <a:cubicBezTo>
                    <a:pt x="30" y="19"/>
                    <a:pt x="19" y="24"/>
                    <a:pt x="3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4" y="20"/>
                    <a:pt x="28" y="13"/>
                    <a:pt x="28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1"/>
                    <a:pt x="65" y="2"/>
                  </a:cubicBezTo>
                  <a:cubicBezTo>
                    <a:pt x="65" y="4"/>
                    <a:pt x="65" y="5"/>
                    <a:pt x="64" y="5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0" y="13"/>
                    <a:pt x="54" y="20"/>
                    <a:pt x="68" y="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48"/>
            <p:cNvSpPr>
              <a:spLocks/>
            </p:cNvSpPr>
            <p:nvPr userDrawn="1"/>
          </p:nvSpPr>
          <p:spPr bwMode="auto">
            <a:xfrm>
              <a:off x="-561" y="2728"/>
              <a:ext cx="151" cy="142"/>
            </a:xfrm>
            <a:custGeom>
              <a:avLst/>
              <a:gdLst>
                <a:gd name="T0" fmla="*/ 31 w 64"/>
                <a:gd name="T1" fmla="*/ 7 h 60"/>
                <a:gd name="T2" fmla="*/ 5 w 64"/>
                <a:gd name="T3" fmla="*/ 7 h 60"/>
                <a:gd name="T4" fmla="*/ 2 w 64"/>
                <a:gd name="T5" fmla="*/ 2 h 60"/>
                <a:gd name="T6" fmla="*/ 41 w 64"/>
                <a:gd name="T7" fmla="*/ 2 h 60"/>
                <a:gd name="T8" fmla="*/ 43 w 64"/>
                <a:gd name="T9" fmla="*/ 5 h 60"/>
                <a:gd name="T10" fmla="*/ 43 w 64"/>
                <a:gd name="T11" fmla="*/ 25 h 60"/>
                <a:gd name="T12" fmla="*/ 54 w 64"/>
                <a:gd name="T13" fmla="*/ 25 h 60"/>
                <a:gd name="T14" fmla="*/ 54 w 64"/>
                <a:gd name="T15" fmla="*/ 0 h 60"/>
                <a:gd name="T16" fmla="*/ 62 w 64"/>
                <a:gd name="T17" fmla="*/ 0 h 60"/>
                <a:gd name="T18" fmla="*/ 64 w 64"/>
                <a:gd name="T19" fmla="*/ 2 h 60"/>
                <a:gd name="T20" fmla="*/ 64 w 64"/>
                <a:gd name="T21" fmla="*/ 55 h 60"/>
                <a:gd name="T22" fmla="*/ 64 w 64"/>
                <a:gd name="T23" fmla="*/ 57 h 60"/>
                <a:gd name="T24" fmla="*/ 64 w 64"/>
                <a:gd name="T25" fmla="*/ 60 h 60"/>
                <a:gd name="T26" fmla="*/ 11 w 64"/>
                <a:gd name="T27" fmla="*/ 60 h 60"/>
                <a:gd name="T28" fmla="*/ 6 w 64"/>
                <a:gd name="T29" fmla="*/ 55 h 60"/>
                <a:gd name="T30" fmla="*/ 6 w 64"/>
                <a:gd name="T31" fmla="*/ 42 h 60"/>
                <a:gd name="T32" fmla="*/ 14 w 64"/>
                <a:gd name="T33" fmla="*/ 42 h 60"/>
                <a:gd name="T34" fmla="*/ 16 w 64"/>
                <a:gd name="T35" fmla="*/ 44 h 60"/>
                <a:gd name="T36" fmla="*/ 16 w 64"/>
                <a:gd name="T37" fmla="*/ 53 h 60"/>
                <a:gd name="T38" fmla="*/ 19 w 64"/>
                <a:gd name="T39" fmla="*/ 55 h 60"/>
                <a:gd name="T40" fmla="*/ 54 w 64"/>
                <a:gd name="T41" fmla="*/ 55 h 60"/>
                <a:gd name="T42" fmla="*/ 54 w 64"/>
                <a:gd name="T43" fmla="*/ 41 h 60"/>
                <a:gd name="T44" fmla="*/ 38 w 64"/>
                <a:gd name="T45" fmla="*/ 41 h 60"/>
                <a:gd name="T46" fmla="*/ 35 w 64"/>
                <a:gd name="T47" fmla="*/ 37 h 60"/>
                <a:gd name="T48" fmla="*/ 54 w 64"/>
                <a:gd name="T49" fmla="*/ 37 h 60"/>
                <a:gd name="T50" fmla="*/ 54 w 64"/>
                <a:gd name="T51" fmla="*/ 29 h 60"/>
                <a:gd name="T52" fmla="*/ 26 w 64"/>
                <a:gd name="T53" fmla="*/ 29 h 60"/>
                <a:gd name="T54" fmla="*/ 26 w 64"/>
                <a:gd name="T55" fmla="*/ 40 h 60"/>
                <a:gd name="T56" fmla="*/ 16 w 64"/>
                <a:gd name="T57" fmla="*/ 40 h 60"/>
                <a:gd name="T58" fmla="*/ 16 w 64"/>
                <a:gd name="T59" fmla="*/ 29 h 60"/>
                <a:gd name="T60" fmla="*/ 3 w 64"/>
                <a:gd name="T61" fmla="*/ 29 h 60"/>
                <a:gd name="T62" fmla="*/ 0 w 64"/>
                <a:gd name="T63" fmla="*/ 25 h 60"/>
                <a:gd name="T64" fmla="*/ 33 w 64"/>
                <a:gd name="T65" fmla="*/ 25 h 60"/>
                <a:gd name="T66" fmla="*/ 33 w 64"/>
                <a:gd name="T67" fmla="*/ 8 h 60"/>
                <a:gd name="T68" fmla="*/ 31 w 64"/>
                <a:gd name="T6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" h="60">
                  <a:moveTo>
                    <a:pt x="31" y="7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2" y="2"/>
                    <a:pt x="43" y="3"/>
                    <a:pt x="43" y="5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3" y="0"/>
                    <a:pt x="64" y="1"/>
                    <a:pt x="64" y="2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7"/>
                    <a:pt x="64" y="57"/>
                    <a:pt x="64" y="5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8" y="60"/>
                    <a:pt x="6" y="58"/>
                    <a:pt x="6" y="55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2"/>
                    <a:pt x="16" y="43"/>
                    <a:pt x="16" y="44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54"/>
                    <a:pt x="18" y="55"/>
                    <a:pt x="19" y="55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7"/>
                    <a:pt x="31" y="7"/>
                    <a:pt x="31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49"/>
            <p:cNvSpPr>
              <a:spLocks/>
            </p:cNvSpPr>
            <p:nvPr userDrawn="1"/>
          </p:nvSpPr>
          <p:spPr bwMode="auto">
            <a:xfrm>
              <a:off x="-1267" y="2731"/>
              <a:ext cx="148" cy="139"/>
            </a:xfrm>
            <a:custGeom>
              <a:avLst/>
              <a:gdLst>
                <a:gd name="T0" fmla="*/ 59 w 63"/>
                <a:gd name="T1" fmla="*/ 0 h 59"/>
                <a:gd name="T2" fmla="*/ 50 w 63"/>
                <a:gd name="T3" fmla="*/ 0 h 59"/>
                <a:gd name="T4" fmla="*/ 50 w 63"/>
                <a:gd name="T5" fmla="*/ 23 h 59"/>
                <a:gd name="T6" fmla="*/ 13 w 63"/>
                <a:gd name="T7" fmla="*/ 23 h 59"/>
                <a:gd name="T8" fmla="*/ 13 w 63"/>
                <a:gd name="T9" fmla="*/ 0 h 59"/>
                <a:gd name="T10" fmla="*/ 4 w 63"/>
                <a:gd name="T11" fmla="*/ 0 h 59"/>
                <a:gd name="T12" fmla="*/ 0 w 63"/>
                <a:gd name="T13" fmla="*/ 4 h 59"/>
                <a:gd name="T14" fmla="*/ 0 w 63"/>
                <a:gd name="T15" fmla="*/ 54 h 59"/>
                <a:gd name="T16" fmla="*/ 4 w 63"/>
                <a:gd name="T17" fmla="*/ 59 h 59"/>
                <a:gd name="T18" fmla="*/ 13 w 63"/>
                <a:gd name="T19" fmla="*/ 59 h 59"/>
                <a:gd name="T20" fmla="*/ 13 w 63"/>
                <a:gd name="T21" fmla="*/ 33 h 59"/>
                <a:gd name="T22" fmla="*/ 50 w 63"/>
                <a:gd name="T23" fmla="*/ 33 h 59"/>
                <a:gd name="T24" fmla="*/ 50 w 63"/>
                <a:gd name="T25" fmla="*/ 59 h 59"/>
                <a:gd name="T26" fmla="*/ 59 w 63"/>
                <a:gd name="T27" fmla="*/ 59 h 59"/>
                <a:gd name="T28" fmla="*/ 63 w 63"/>
                <a:gd name="T29" fmla="*/ 54 h 59"/>
                <a:gd name="T30" fmla="*/ 63 w 63"/>
                <a:gd name="T31" fmla="*/ 4 h 59"/>
                <a:gd name="T32" fmla="*/ 59 w 63"/>
                <a:gd name="T33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59">
                  <a:moveTo>
                    <a:pt x="59" y="0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2" y="59"/>
                    <a:pt x="4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62" y="59"/>
                    <a:pt x="63" y="57"/>
                    <a:pt x="63" y="5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2"/>
                    <a:pt x="62" y="0"/>
                    <a:pt x="5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Freeform 50"/>
            <p:cNvSpPr>
              <a:spLocks/>
            </p:cNvSpPr>
            <p:nvPr userDrawn="1"/>
          </p:nvSpPr>
          <p:spPr bwMode="auto">
            <a:xfrm>
              <a:off x="-1447" y="2731"/>
              <a:ext cx="151" cy="139"/>
            </a:xfrm>
            <a:custGeom>
              <a:avLst/>
              <a:gdLst>
                <a:gd name="T0" fmla="*/ 61 w 64"/>
                <a:gd name="T1" fmla="*/ 0 h 59"/>
                <a:gd name="T2" fmla="*/ 51 w 64"/>
                <a:gd name="T3" fmla="*/ 0 h 59"/>
                <a:gd name="T4" fmla="*/ 51 w 64"/>
                <a:gd name="T5" fmla="*/ 45 h 59"/>
                <a:gd name="T6" fmla="*/ 24 w 64"/>
                <a:gd name="T7" fmla="*/ 9 h 59"/>
                <a:gd name="T8" fmla="*/ 9 w 64"/>
                <a:gd name="T9" fmla="*/ 0 h 59"/>
                <a:gd name="T10" fmla="*/ 0 w 64"/>
                <a:gd name="T11" fmla="*/ 0 h 59"/>
                <a:gd name="T12" fmla="*/ 0 w 64"/>
                <a:gd name="T13" fmla="*/ 54 h 59"/>
                <a:gd name="T14" fmla="*/ 4 w 64"/>
                <a:gd name="T15" fmla="*/ 59 h 59"/>
                <a:gd name="T16" fmla="*/ 13 w 64"/>
                <a:gd name="T17" fmla="*/ 59 h 59"/>
                <a:gd name="T18" fmla="*/ 13 w 64"/>
                <a:gd name="T19" fmla="*/ 13 h 59"/>
                <a:gd name="T20" fmla="*/ 40 w 64"/>
                <a:gd name="T21" fmla="*/ 49 h 59"/>
                <a:gd name="T22" fmla="*/ 56 w 64"/>
                <a:gd name="T23" fmla="*/ 59 h 59"/>
                <a:gd name="T24" fmla="*/ 64 w 64"/>
                <a:gd name="T25" fmla="*/ 59 h 59"/>
                <a:gd name="T26" fmla="*/ 64 w 64"/>
                <a:gd name="T27" fmla="*/ 4 h 59"/>
                <a:gd name="T28" fmla="*/ 61 w 64"/>
                <a:gd name="T2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59">
                  <a:moveTo>
                    <a:pt x="61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9" y="3"/>
                    <a:pt x="16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7"/>
                    <a:pt x="1" y="59"/>
                    <a:pt x="4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5" y="55"/>
                    <a:pt x="49" y="59"/>
                    <a:pt x="56" y="59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2"/>
                    <a:pt x="63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51"/>
            <p:cNvSpPr>
              <a:spLocks noEditPoints="1"/>
            </p:cNvSpPr>
            <p:nvPr userDrawn="1"/>
          </p:nvSpPr>
          <p:spPr bwMode="auto">
            <a:xfrm>
              <a:off x="-1097" y="2733"/>
              <a:ext cx="163" cy="137"/>
            </a:xfrm>
            <a:custGeom>
              <a:avLst/>
              <a:gdLst>
                <a:gd name="T0" fmla="*/ 68 w 69"/>
                <a:gd name="T1" fmla="*/ 40 h 58"/>
                <a:gd name="T2" fmla="*/ 40 w 69"/>
                <a:gd name="T3" fmla="*/ 40 h 58"/>
                <a:gd name="T4" fmla="*/ 40 w 69"/>
                <a:gd name="T5" fmla="*/ 58 h 58"/>
                <a:gd name="T6" fmla="*/ 30 w 69"/>
                <a:gd name="T7" fmla="*/ 58 h 58"/>
                <a:gd name="T8" fmla="*/ 30 w 69"/>
                <a:gd name="T9" fmla="*/ 40 h 58"/>
                <a:gd name="T10" fmla="*/ 2 w 69"/>
                <a:gd name="T11" fmla="*/ 40 h 58"/>
                <a:gd name="T12" fmla="*/ 0 w 69"/>
                <a:gd name="T13" fmla="*/ 36 h 58"/>
                <a:gd name="T14" fmla="*/ 68 w 69"/>
                <a:gd name="T15" fmla="*/ 36 h 58"/>
                <a:gd name="T16" fmla="*/ 69 w 69"/>
                <a:gd name="T17" fmla="*/ 38 h 58"/>
                <a:gd name="T18" fmla="*/ 68 w 69"/>
                <a:gd name="T19" fmla="*/ 40 h 58"/>
                <a:gd name="T20" fmla="*/ 5 w 69"/>
                <a:gd name="T21" fmla="*/ 25 h 58"/>
                <a:gd name="T22" fmla="*/ 5 w 69"/>
                <a:gd name="T23" fmla="*/ 0 h 58"/>
                <a:gd name="T24" fmla="*/ 64 w 69"/>
                <a:gd name="T25" fmla="*/ 0 h 58"/>
                <a:gd name="T26" fmla="*/ 65 w 69"/>
                <a:gd name="T27" fmla="*/ 2 h 58"/>
                <a:gd name="T28" fmla="*/ 64 w 69"/>
                <a:gd name="T29" fmla="*/ 4 h 58"/>
                <a:gd name="T30" fmla="*/ 15 w 69"/>
                <a:gd name="T31" fmla="*/ 4 h 58"/>
                <a:gd name="T32" fmla="*/ 15 w 69"/>
                <a:gd name="T33" fmla="*/ 12 h 58"/>
                <a:gd name="T34" fmla="*/ 64 w 69"/>
                <a:gd name="T35" fmla="*/ 12 h 58"/>
                <a:gd name="T36" fmla="*/ 65 w 69"/>
                <a:gd name="T37" fmla="*/ 14 h 58"/>
                <a:gd name="T38" fmla="*/ 64 w 69"/>
                <a:gd name="T39" fmla="*/ 16 h 58"/>
                <a:gd name="T40" fmla="*/ 15 w 69"/>
                <a:gd name="T41" fmla="*/ 16 h 58"/>
                <a:gd name="T42" fmla="*/ 15 w 69"/>
                <a:gd name="T43" fmla="*/ 23 h 58"/>
                <a:gd name="T44" fmla="*/ 18 w 69"/>
                <a:gd name="T45" fmla="*/ 25 h 58"/>
                <a:gd name="T46" fmla="*/ 65 w 69"/>
                <a:gd name="T47" fmla="*/ 25 h 58"/>
                <a:gd name="T48" fmla="*/ 66 w 69"/>
                <a:gd name="T49" fmla="*/ 27 h 58"/>
                <a:gd name="T50" fmla="*/ 65 w 69"/>
                <a:gd name="T51" fmla="*/ 29 h 58"/>
                <a:gd name="T52" fmla="*/ 10 w 69"/>
                <a:gd name="T53" fmla="*/ 29 h 58"/>
                <a:gd name="T54" fmla="*/ 5 w 69"/>
                <a:gd name="T55" fmla="*/ 2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9" h="58">
                  <a:moveTo>
                    <a:pt x="68" y="40"/>
                  </a:moveTo>
                  <a:cubicBezTo>
                    <a:pt x="40" y="40"/>
                    <a:pt x="40" y="40"/>
                    <a:pt x="40" y="40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9" y="36"/>
                    <a:pt x="69" y="37"/>
                    <a:pt x="69" y="38"/>
                  </a:cubicBezTo>
                  <a:cubicBezTo>
                    <a:pt x="69" y="40"/>
                    <a:pt x="69" y="40"/>
                    <a:pt x="68" y="40"/>
                  </a:cubicBezTo>
                  <a:moveTo>
                    <a:pt x="5" y="25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1"/>
                    <a:pt x="65" y="2"/>
                  </a:cubicBezTo>
                  <a:cubicBezTo>
                    <a:pt x="65" y="3"/>
                    <a:pt x="65" y="4"/>
                    <a:pt x="6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5" y="12"/>
                    <a:pt x="65" y="13"/>
                    <a:pt x="65" y="14"/>
                  </a:cubicBezTo>
                  <a:cubicBezTo>
                    <a:pt x="65" y="15"/>
                    <a:pt x="65" y="16"/>
                    <a:pt x="64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4"/>
                    <a:pt x="17" y="25"/>
                    <a:pt x="18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6" y="25"/>
                    <a:pt x="66" y="26"/>
                    <a:pt x="66" y="27"/>
                  </a:cubicBezTo>
                  <a:cubicBezTo>
                    <a:pt x="66" y="29"/>
                    <a:pt x="66" y="29"/>
                    <a:pt x="65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7" y="29"/>
                    <a:pt x="5" y="27"/>
                    <a:pt x="5" y="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52"/>
            <p:cNvSpPr>
              <a:spLocks noEditPoints="1"/>
            </p:cNvSpPr>
            <p:nvPr userDrawn="1"/>
          </p:nvSpPr>
          <p:spPr bwMode="auto">
            <a:xfrm>
              <a:off x="-920" y="2728"/>
              <a:ext cx="175" cy="142"/>
            </a:xfrm>
            <a:custGeom>
              <a:avLst/>
              <a:gdLst>
                <a:gd name="T0" fmla="*/ 45 w 74"/>
                <a:gd name="T1" fmla="*/ 55 h 60"/>
                <a:gd name="T2" fmla="*/ 24 w 74"/>
                <a:gd name="T3" fmla="*/ 38 h 60"/>
                <a:gd name="T4" fmla="*/ 3 w 74"/>
                <a:gd name="T5" fmla="*/ 55 h 60"/>
                <a:gd name="T6" fmla="*/ 0 w 74"/>
                <a:gd name="T7" fmla="*/ 52 h 60"/>
                <a:gd name="T8" fmla="*/ 19 w 74"/>
                <a:gd name="T9" fmla="*/ 23 h 60"/>
                <a:gd name="T10" fmla="*/ 19 w 74"/>
                <a:gd name="T11" fmla="*/ 7 h 60"/>
                <a:gd name="T12" fmla="*/ 4 w 74"/>
                <a:gd name="T13" fmla="*/ 7 h 60"/>
                <a:gd name="T14" fmla="*/ 1 w 74"/>
                <a:gd name="T15" fmla="*/ 2 h 60"/>
                <a:gd name="T16" fmla="*/ 45 w 74"/>
                <a:gd name="T17" fmla="*/ 2 h 60"/>
                <a:gd name="T18" fmla="*/ 46 w 74"/>
                <a:gd name="T19" fmla="*/ 4 h 60"/>
                <a:gd name="T20" fmla="*/ 45 w 74"/>
                <a:gd name="T21" fmla="*/ 7 h 60"/>
                <a:gd name="T22" fmla="*/ 29 w 74"/>
                <a:gd name="T23" fmla="*/ 7 h 60"/>
                <a:gd name="T24" fmla="*/ 29 w 74"/>
                <a:gd name="T25" fmla="*/ 23 h 60"/>
                <a:gd name="T26" fmla="*/ 48 w 74"/>
                <a:gd name="T27" fmla="*/ 52 h 60"/>
                <a:gd name="T28" fmla="*/ 45 w 74"/>
                <a:gd name="T29" fmla="*/ 55 h 60"/>
                <a:gd name="T30" fmla="*/ 55 w 74"/>
                <a:gd name="T31" fmla="*/ 60 h 60"/>
                <a:gd name="T32" fmla="*/ 55 w 74"/>
                <a:gd name="T33" fmla="*/ 0 h 60"/>
                <a:gd name="T34" fmla="*/ 63 w 74"/>
                <a:gd name="T35" fmla="*/ 0 h 60"/>
                <a:gd name="T36" fmla="*/ 65 w 74"/>
                <a:gd name="T37" fmla="*/ 2 h 60"/>
                <a:gd name="T38" fmla="*/ 65 w 74"/>
                <a:gd name="T39" fmla="*/ 18 h 60"/>
                <a:gd name="T40" fmla="*/ 73 w 74"/>
                <a:gd name="T41" fmla="*/ 18 h 60"/>
                <a:gd name="T42" fmla="*/ 74 w 74"/>
                <a:gd name="T43" fmla="*/ 20 h 60"/>
                <a:gd name="T44" fmla="*/ 73 w 74"/>
                <a:gd name="T45" fmla="*/ 22 h 60"/>
                <a:gd name="T46" fmla="*/ 65 w 74"/>
                <a:gd name="T47" fmla="*/ 22 h 60"/>
                <a:gd name="T48" fmla="*/ 65 w 74"/>
                <a:gd name="T49" fmla="*/ 60 h 60"/>
                <a:gd name="T50" fmla="*/ 55 w 74"/>
                <a:gd name="T5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4" h="60">
                  <a:moveTo>
                    <a:pt x="45" y="55"/>
                  </a:moveTo>
                  <a:cubicBezTo>
                    <a:pt x="37" y="52"/>
                    <a:pt x="27" y="46"/>
                    <a:pt x="24" y="38"/>
                  </a:cubicBezTo>
                  <a:cubicBezTo>
                    <a:pt x="21" y="46"/>
                    <a:pt x="11" y="52"/>
                    <a:pt x="3" y="55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0" y="48"/>
                    <a:pt x="19" y="38"/>
                    <a:pt x="19" y="23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6" y="2"/>
                    <a:pt x="46" y="3"/>
                    <a:pt x="46" y="4"/>
                  </a:cubicBezTo>
                  <a:cubicBezTo>
                    <a:pt x="46" y="6"/>
                    <a:pt x="46" y="7"/>
                    <a:pt x="45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38"/>
                    <a:pt x="38" y="48"/>
                    <a:pt x="48" y="52"/>
                  </a:cubicBezTo>
                  <a:lnTo>
                    <a:pt x="45" y="55"/>
                  </a:lnTo>
                  <a:close/>
                  <a:moveTo>
                    <a:pt x="55" y="6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4" y="0"/>
                    <a:pt x="65" y="1"/>
                    <a:pt x="65" y="2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3" y="18"/>
                    <a:pt x="74" y="19"/>
                    <a:pt x="74" y="20"/>
                  </a:cubicBezTo>
                  <a:cubicBezTo>
                    <a:pt x="74" y="21"/>
                    <a:pt x="73" y="22"/>
                    <a:pt x="73" y="22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65" y="60"/>
                    <a:pt x="65" y="60"/>
                    <a:pt x="65" y="60"/>
                  </a:cubicBezTo>
                  <a:lnTo>
                    <a:pt x="55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2" name="그룹 1"/>
          <p:cNvGrpSpPr/>
          <p:nvPr userDrawn="1"/>
        </p:nvGrpSpPr>
        <p:grpSpPr>
          <a:xfrm>
            <a:off x="0" y="1683309"/>
            <a:ext cx="9906000" cy="4668563"/>
            <a:chOff x="0" y="2189438"/>
            <a:chExt cx="6858000" cy="4668563"/>
          </a:xfrm>
        </p:grpSpPr>
        <p:sp>
          <p:nvSpPr>
            <p:cNvPr id="24" name="직사각형 23"/>
            <p:cNvSpPr/>
            <p:nvPr userDrawn="1"/>
          </p:nvSpPr>
          <p:spPr>
            <a:xfrm>
              <a:off x="0" y="3197550"/>
              <a:ext cx="2826090" cy="648072"/>
            </a:xfrm>
            <a:prstGeom prst="rect">
              <a:avLst/>
            </a:prstGeom>
            <a:solidFill>
              <a:srgbClr val="1461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 userDrawn="1"/>
          </p:nvSpPr>
          <p:spPr>
            <a:xfrm>
              <a:off x="711199" y="4257093"/>
              <a:ext cx="6139543" cy="2600908"/>
            </a:xfrm>
            <a:prstGeom prst="rect">
              <a:avLst/>
            </a:prstGeom>
            <a:solidFill>
              <a:srgbClr val="1E75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 userDrawn="1"/>
          </p:nvSpPr>
          <p:spPr>
            <a:xfrm>
              <a:off x="6197600" y="2189438"/>
              <a:ext cx="660400" cy="648072"/>
            </a:xfrm>
            <a:prstGeom prst="rect">
              <a:avLst/>
            </a:prstGeom>
            <a:solidFill>
              <a:srgbClr val="0531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452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목차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0" y="367426"/>
            <a:ext cx="8677275" cy="1345259"/>
            <a:chOff x="0" y="367426"/>
            <a:chExt cx="8677275" cy="1345259"/>
          </a:xfrm>
        </p:grpSpPr>
        <p:grpSp>
          <p:nvGrpSpPr>
            <p:cNvPr id="23" name="그룹 22"/>
            <p:cNvGrpSpPr/>
            <p:nvPr userDrawn="1"/>
          </p:nvGrpSpPr>
          <p:grpSpPr>
            <a:xfrm>
              <a:off x="0" y="367426"/>
              <a:ext cx="8677275" cy="1219258"/>
              <a:chOff x="0" y="8336632"/>
              <a:chExt cx="6000750" cy="921668"/>
            </a:xfrm>
          </p:grpSpPr>
          <p:sp>
            <p:nvSpPr>
              <p:cNvPr id="24" name="직사각형 23"/>
              <p:cNvSpPr/>
              <p:nvPr userDrawn="1"/>
            </p:nvSpPr>
            <p:spPr>
              <a:xfrm>
                <a:off x="0" y="8469982"/>
                <a:ext cx="1400175" cy="407318"/>
              </a:xfrm>
              <a:prstGeom prst="rect">
                <a:avLst/>
              </a:prstGeom>
              <a:solidFill>
                <a:srgbClr val="1E75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직사각형 24"/>
              <p:cNvSpPr/>
              <p:nvPr userDrawn="1"/>
            </p:nvSpPr>
            <p:spPr>
              <a:xfrm>
                <a:off x="5562600" y="9031957"/>
                <a:ext cx="438150" cy="226343"/>
              </a:xfrm>
              <a:prstGeom prst="rect">
                <a:avLst/>
              </a:prstGeom>
              <a:solidFill>
                <a:srgbClr val="1E75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직사각형 27"/>
              <p:cNvSpPr/>
              <p:nvPr userDrawn="1"/>
            </p:nvSpPr>
            <p:spPr>
              <a:xfrm>
                <a:off x="4791074" y="8336632"/>
                <a:ext cx="371475" cy="207293"/>
              </a:xfrm>
              <a:prstGeom prst="rect">
                <a:avLst/>
              </a:prstGeom>
              <a:solidFill>
                <a:srgbClr val="FBB81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직사각형 28"/>
              <p:cNvSpPr/>
              <p:nvPr userDrawn="1"/>
            </p:nvSpPr>
            <p:spPr>
              <a:xfrm>
                <a:off x="2419349" y="8670007"/>
                <a:ext cx="790576" cy="235868"/>
              </a:xfrm>
              <a:prstGeom prst="rect">
                <a:avLst/>
              </a:prstGeom>
              <a:solidFill>
                <a:srgbClr val="FCD2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2" name="직사각형 61"/>
            <p:cNvSpPr/>
            <p:nvPr userDrawn="1"/>
          </p:nvSpPr>
          <p:spPr>
            <a:xfrm>
              <a:off x="6388010" y="1388059"/>
              <a:ext cx="358110" cy="324626"/>
            </a:xfrm>
            <a:prstGeom prst="rect">
              <a:avLst/>
            </a:prstGeom>
            <a:solidFill>
              <a:srgbClr val="FBB8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83144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38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microsoft.com/office/2007/relationships/hdphoto" Target="../media/hdphoto1.wdp"/><Relationship Id="rId4" Type="http://schemas.openxmlformats.org/officeDocument/2006/relationships/image" Target="../media/image11.jpe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2914" y="71509"/>
            <a:ext cx="9699419" cy="6714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 dirty="0"/>
          </a:p>
        </p:txBody>
      </p:sp>
      <p:sp>
        <p:nvSpPr>
          <p:cNvPr id="21" name="TextBox 20"/>
          <p:cNvSpPr txBox="1"/>
          <p:nvPr/>
        </p:nvSpPr>
        <p:spPr>
          <a:xfrm>
            <a:off x="632520" y="467735"/>
            <a:ext cx="5358480" cy="452018"/>
          </a:xfrm>
          <a:prstGeom prst="rect">
            <a:avLst/>
          </a:prstGeom>
          <a:noFill/>
        </p:spPr>
        <p:txBody>
          <a:bodyPr wrap="square" lIns="89504" tIns="44753" rIns="89504" bIns="44753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350" b="1" kern="100" spc="-1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CEO MESSAGE</a:t>
            </a:r>
            <a:endParaRPr lang="ko-KR" altLang="en-US" sz="2350" b="1" kern="100" spc="-1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cxnSp>
        <p:nvCxnSpPr>
          <p:cNvPr id="22" name="직선 연결선 21"/>
          <p:cNvCxnSpPr/>
          <p:nvPr/>
        </p:nvCxnSpPr>
        <p:spPr bwMode="auto">
          <a:xfrm>
            <a:off x="640243" y="949907"/>
            <a:ext cx="8643039" cy="0"/>
          </a:xfrm>
          <a:prstGeom prst="line">
            <a:avLst/>
          </a:prstGeom>
          <a:solidFill>
            <a:srgbClr val="FFCC66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3" name="Picture 3" descr="D:\메신저 다운로드\NH투자증권_영문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991" y="622852"/>
            <a:ext cx="1431039" cy="24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직선 연결선 24"/>
          <p:cNvCxnSpPr/>
          <p:nvPr/>
        </p:nvCxnSpPr>
        <p:spPr bwMode="auto">
          <a:xfrm>
            <a:off x="632520" y="5481768"/>
            <a:ext cx="8643961" cy="0"/>
          </a:xfrm>
          <a:prstGeom prst="line">
            <a:avLst/>
          </a:prstGeom>
          <a:solidFill>
            <a:srgbClr val="FFCC66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5">
            <a:extLst>
              <a:ext uri="{FF2B5EF4-FFF2-40B4-BE49-F238E27FC236}">
                <a16:creationId xmlns:a16="http://schemas.microsoft.com/office/drawing/2014/main" id="{63AFF848-1D9E-40D0-AF0B-03A95C82B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85580">
            <a:off x="2178191" y="4492105"/>
            <a:ext cx="6572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AF9A172C-87E1-4D07-A49B-962E94D87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583" y="1517988"/>
            <a:ext cx="6872945" cy="3996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5653" rIns="359485" bIns="45653"/>
          <a:lstStyle/>
          <a:p>
            <a:pPr marL="164887" defTabSz="786077" latinLnBrk="0">
              <a:lnSpc>
                <a:spcPct val="130000"/>
              </a:lnSpc>
              <a:defRPr/>
            </a:pP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64887" defTabSz="786077" latinLnBrk="0">
              <a:lnSpc>
                <a:spcPct val="130000"/>
              </a:lnSpc>
              <a:defRPr/>
            </a:pP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안녕하십니까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?</a:t>
            </a:r>
          </a:p>
          <a:p>
            <a:pPr marL="164887" defTabSz="786077" latinLnBrk="0">
              <a:lnSpc>
                <a:spcPct val="130000"/>
              </a:lnSpc>
              <a:defRPr/>
            </a:pP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NH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투자증권 대표이사 사장 윤병운 입니다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.</a:t>
            </a:r>
          </a:p>
          <a:p>
            <a:pPr marL="164887" defTabSz="786077" latinLnBrk="0">
              <a:lnSpc>
                <a:spcPct val="130000"/>
              </a:lnSpc>
              <a:defRPr/>
            </a:pP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64887" defTabSz="786077" latinLnBrk="0">
              <a:lnSpc>
                <a:spcPct val="130000"/>
              </a:lnSpc>
              <a:defRPr/>
            </a:pP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먼저 저희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NH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투자증권이  {{발행사표기}}의 공모사채 발행을 위한 대표주관회사로 선정될 수 있는 기회를 제공해주신 것에 대하여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</a:t>
            </a:r>
          </a:p>
          <a:p>
            <a:pPr marL="164887" defTabSz="786077" latinLnBrk="0">
              <a:lnSpc>
                <a:spcPct val="130000"/>
              </a:lnSpc>
              <a:defRPr/>
            </a:pP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깊은 감사의 말씀을 드립니다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.</a:t>
            </a:r>
          </a:p>
          <a:p>
            <a:pPr marL="164887" defTabSz="786077" latinLnBrk="0">
              <a:lnSpc>
                <a:spcPct val="130000"/>
              </a:lnSpc>
              <a:defRPr/>
            </a:pP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64887" defTabSz="786077" latinLnBrk="0">
              <a:lnSpc>
                <a:spcPct val="130000"/>
              </a:lnSpc>
              <a:defRPr/>
            </a:pP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저희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NH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투자증권은 업계 최고 수준의 인력과 경험을 보유하고 있습니다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. </a:t>
            </a:r>
          </a:p>
          <a:p>
            <a:pPr marL="164887" defTabSz="786077" latinLnBrk="0">
              <a:lnSpc>
                <a:spcPct val="130000"/>
              </a:lnSpc>
              <a:defRPr/>
            </a:pP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당사는 전사적 역량을 동원하여 공모사채 발행을 성공적으로 완료할 계획이며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, </a:t>
            </a:r>
          </a:p>
          <a:p>
            <a:pPr marL="164887" defTabSz="786077" latinLnBrk="0">
              <a:lnSpc>
                <a:spcPct val="130000"/>
              </a:lnSpc>
              <a:defRPr/>
            </a:pP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공모사채 발행 이후에도 다양한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Financial Service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제공 등을 통하여 {{발행사표기}}과의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Partnership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을 유지할 것입니다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. </a:t>
            </a:r>
          </a:p>
          <a:p>
            <a:pPr marL="164887" defTabSz="786077" latinLnBrk="0">
              <a:lnSpc>
                <a:spcPct val="130000"/>
              </a:lnSpc>
              <a:defRPr/>
            </a:pP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64887" defTabSz="786077" latinLnBrk="0">
              <a:lnSpc>
                <a:spcPct val="130000"/>
              </a:lnSpc>
              <a:defRPr/>
            </a:pP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저희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NH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투자증권에 대표주관회사 역할을 수행할 수 있는 기회를 주신다면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,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{{발행사표기}}의 든든한 후원자가 되어 회사채 발행 이후 자본시장에서  활용 가능한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Total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재무 컨설팅 서비스를 제공하도록 혼신의 노력을 기울일 것을 약속 드립니다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.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감사합니다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.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AB8F0C8-A7DF-41D7-8761-FFB6F3465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992" y="4561313"/>
            <a:ext cx="2319208" cy="5376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5653" rIns="359485" bIns="45653"/>
          <a:lstStyle/>
          <a:p>
            <a:pPr marL="164887" defTabSz="786077" latinLnBrk="0">
              <a:defRPr/>
            </a:pPr>
            <a:r>
              <a:rPr lang="en-US" altLang="ko-KR" sz="9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NH</a:t>
            </a:r>
            <a:r>
              <a:rPr lang="ko-KR" altLang="en-US" sz="9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투자증권</a:t>
            </a:r>
            <a:endParaRPr lang="en-US" altLang="ko-KR" sz="900" b="1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64887" defTabSz="786077" latinLnBrk="0">
              <a:defRPr/>
            </a:pPr>
            <a:r>
              <a:rPr lang="ko-KR" altLang="en-US" sz="9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대표이사 사장    </a:t>
            </a:r>
            <a:r>
              <a:rPr lang="ko-KR" altLang="en-US" sz="14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윤 병 운</a:t>
            </a: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D1B3C54-87A9-4C4D-A476-5B01C91C4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13" y="1801291"/>
            <a:ext cx="2037242" cy="2557799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709FB8F-8F62-49A4-BEE4-8FFCAFC9DA3C}"/>
              </a:ext>
            </a:extLst>
          </p:cNvPr>
          <p:cNvCxnSpPr/>
          <p:nvPr/>
        </p:nvCxnSpPr>
        <p:spPr bwMode="auto">
          <a:xfrm>
            <a:off x="632520" y="1412776"/>
            <a:ext cx="8643961" cy="0"/>
          </a:xfrm>
          <a:prstGeom prst="line">
            <a:avLst/>
          </a:prstGeom>
          <a:solidFill>
            <a:srgbClr val="FFCC66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90673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1161959-849E-4089-98A8-277E4B833AA2}"/>
              </a:ext>
            </a:extLst>
          </p:cNvPr>
          <p:cNvSpPr txBox="1">
            <a:spLocks/>
          </p:cNvSpPr>
          <p:nvPr/>
        </p:nvSpPr>
        <p:spPr>
          <a:xfrm>
            <a:off x="741125" y="361127"/>
            <a:ext cx="6048079" cy="5040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300"/>
              </a:spcAft>
            </a:pP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 IR </a:t>
            </a:r>
            <a:r>
              <a:rPr lang="ko-KR" altLang="en-US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흥행 전망</a:t>
            </a: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_</a:t>
            </a:r>
            <a:r>
              <a:rPr lang="en-US" altLang="ko-KR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① IR </a:t>
            </a:r>
            <a:r>
              <a:rPr lang="ko-KR" altLang="en-US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수요예측</a:t>
            </a:r>
            <a:r>
              <a:rPr lang="en-US" altLang="ko-KR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전략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A4B41E1-6D2E-474E-B09A-80730F31250C}"/>
              </a:ext>
            </a:extLst>
          </p:cNvPr>
          <p:cNvGrpSpPr/>
          <p:nvPr/>
        </p:nvGrpSpPr>
        <p:grpSpPr>
          <a:xfrm>
            <a:off x="596515" y="988675"/>
            <a:ext cx="8749097" cy="468000"/>
            <a:chOff x="596515" y="988675"/>
            <a:chExt cx="8749097" cy="46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7C5EC01-A2C2-42AD-8D17-6A26B09BD090}"/>
                </a:ext>
              </a:extLst>
            </p:cNvPr>
            <p:cNvSpPr/>
            <p:nvPr/>
          </p:nvSpPr>
          <p:spPr>
            <a:xfrm>
              <a:off x="596515" y="988675"/>
              <a:ext cx="8749097" cy="46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4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3333"/>
                </a:solidFill>
                <a:latin typeface="나눔고딕" pitchFamily="50" charset="-127"/>
                <a:ea typeface="나눔고딕" pitchFamily="50" charset="-127"/>
                <a:cs typeface="+mj-cs"/>
              </a:endParaRPr>
            </a:p>
          </p:txBody>
        </p:sp>
        <p:sp>
          <p:nvSpPr>
            <p:cNvPr id="14" name="텍스트 개체 틀 8">
              <a:extLst>
                <a:ext uri="{FF2B5EF4-FFF2-40B4-BE49-F238E27FC236}">
                  <a16:creationId xmlns:a16="http://schemas.microsoft.com/office/drawing/2014/main" id="{82BA799C-969A-46E1-B017-996587F07B0F}"/>
                </a:ext>
              </a:extLst>
            </p:cNvPr>
            <p:cNvSpPr txBox="1">
              <a:spLocks/>
            </p:cNvSpPr>
            <p:nvPr/>
          </p:nvSpPr>
          <p:spPr>
            <a:xfrm>
              <a:off x="730022" y="1067697"/>
              <a:ext cx="8532948" cy="221599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2200" kern="1200" spc="-10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1pPr>
              <a:lvl2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2pPr>
              <a:lvl3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3pPr>
              <a:lvl4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4pPr>
              <a:lvl5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ts val="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altLang="ko-KR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&lt;Step 1. </a:t>
              </a:r>
              <a:r>
                <a:rPr lang="ko-KR" altLang="en-US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사전 준비 </a:t>
              </a:r>
              <a:r>
                <a:rPr lang="en-US" altLang="ko-KR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: IR </a:t>
              </a:r>
              <a:r>
                <a:rPr lang="ko-KR" altLang="en-US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자료 준비</a:t>
              </a:r>
              <a:r>
                <a:rPr lang="en-US" altLang="ko-KR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, IR </a:t>
              </a:r>
              <a:r>
                <a:rPr lang="ko-KR" altLang="en-US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전략 수립</a:t>
              </a:r>
              <a:r>
                <a:rPr lang="en-US" altLang="ko-KR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&gt;</a:t>
              </a:r>
            </a:p>
          </p:txBody>
        </p:sp>
      </p:grpSp>
      <p:sp>
        <p:nvSpPr>
          <p:cNvPr id="11" name="모서리가 둥근 직사각형 50">
            <a:extLst>
              <a:ext uri="{FF2B5EF4-FFF2-40B4-BE49-F238E27FC236}">
                <a16:creationId xmlns:a16="http://schemas.microsoft.com/office/drawing/2014/main" id="{DBE2FA15-A444-4165-BB2E-FFBF991ACDA1}"/>
              </a:ext>
            </a:extLst>
          </p:cNvPr>
          <p:cNvSpPr/>
          <p:nvPr/>
        </p:nvSpPr>
        <p:spPr>
          <a:xfrm>
            <a:off x="3327934" y="2166347"/>
            <a:ext cx="5290767" cy="187220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모서리가 둥근 직사각형 51">
            <a:extLst>
              <a:ext uri="{FF2B5EF4-FFF2-40B4-BE49-F238E27FC236}">
                <a16:creationId xmlns:a16="http://schemas.microsoft.com/office/drawing/2014/main" id="{98217B3A-FC4F-4692-8675-4AD70127C35A}"/>
              </a:ext>
            </a:extLst>
          </p:cNvPr>
          <p:cNvSpPr/>
          <p:nvPr/>
        </p:nvSpPr>
        <p:spPr>
          <a:xfrm>
            <a:off x="1018014" y="2893856"/>
            <a:ext cx="1502850" cy="504056"/>
          </a:xfrm>
          <a:prstGeom prst="roundRect">
            <a:avLst/>
          </a:prstGeom>
          <a:solidFill>
            <a:srgbClr val="FCD2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모서리가 둥근 직사각형 57">
            <a:extLst>
              <a:ext uri="{FF2B5EF4-FFF2-40B4-BE49-F238E27FC236}">
                <a16:creationId xmlns:a16="http://schemas.microsoft.com/office/drawing/2014/main" id="{3572E07D-CC50-448D-92D3-01680E16E3D4}"/>
              </a:ext>
            </a:extLst>
          </p:cNvPr>
          <p:cNvSpPr/>
          <p:nvPr/>
        </p:nvSpPr>
        <p:spPr>
          <a:xfrm>
            <a:off x="5890114" y="2343931"/>
            <a:ext cx="1541384" cy="504056"/>
          </a:xfrm>
          <a:prstGeom prst="roundRect">
            <a:avLst/>
          </a:prstGeom>
          <a:solidFill>
            <a:srgbClr val="C2E2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모서리가 둥근 직사각형 58">
            <a:extLst>
              <a:ext uri="{FF2B5EF4-FFF2-40B4-BE49-F238E27FC236}">
                <a16:creationId xmlns:a16="http://schemas.microsoft.com/office/drawing/2014/main" id="{83271C77-4F8F-4E35-8E09-D045B36DCD17}"/>
              </a:ext>
            </a:extLst>
          </p:cNvPr>
          <p:cNvSpPr/>
          <p:nvPr/>
        </p:nvSpPr>
        <p:spPr>
          <a:xfrm>
            <a:off x="5917945" y="3425758"/>
            <a:ext cx="1541384" cy="504056"/>
          </a:xfrm>
          <a:prstGeom prst="roundRect">
            <a:avLst/>
          </a:prstGeom>
          <a:solidFill>
            <a:srgbClr val="C2E2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모서리가 둥근 직사각형 59">
            <a:extLst>
              <a:ext uri="{FF2B5EF4-FFF2-40B4-BE49-F238E27FC236}">
                <a16:creationId xmlns:a16="http://schemas.microsoft.com/office/drawing/2014/main" id="{851127E5-07E9-4BE5-8D62-027F231D87A5}"/>
              </a:ext>
            </a:extLst>
          </p:cNvPr>
          <p:cNvSpPr/>
          <p:nvPr/>
        </p:nvSpPr>
        <p:spPr>
          <a:xfrm>
            <a:off x="3559837" y="2891543"/>
            <a:ext cx="1541384" cy="504056"/>
          </a:xfrm>
          <a:prstGeom prst="roundRect">
            <a:avLst/>
          </a:prstGeom>
          <a:solidFill>
            <a:srgbClr val="C2E2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159EB1-189C-4C68-B6A4-BE0DB13B2916}"/>
              </a:ext>
            </a:extLst>
          </p:cNvPr>
          <p:cNvSpPr txBox="1"/>
          <p:nvPr/>
        </p:nvSpPr>
        <p:spPr>
          <a:xfrm>
            <a:off x="1020271" y="2902649"/>
            <a:ext cx="1541384" cy="50316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latinLnBrk="0">
              <a:lnSpc>
                <a:spcPts val="1600"/>
              </a:lnSpc>
              <a:spcAft>
                <a:spcPts val="400"/>
              </a:spcAft>
            </a:pP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{{발행사}}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550507-075A-4061-B68C-C7A48EEE3086}"/>
              </a:ext>
            </a:extLst>
          </p:cNvPr>
          <p:cNvSpPr txBox="1"/>
          <p:nvPr/>
        </p:nvSpPr>
        <p:spPr>
          <a:xfrm>
            <a:off x="3559837" y="2902648"/>
            <a:ext cx="1541384" cy="50316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ko-KR"/>
            </a:defPPr>
            <a:lvl1pPr algn="ctr" latinLnBrk="0">
              <a:lnSpc>
                <a:spcPts val="1600"/>
              </a:lnSpc>
              <a:defRPr sz="1100" b="1" kern="100" spc="-10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defRPr>
            </a:lvl1pPr>
          </a:lstStyle>
          <a:p>
            <a:r>
              <a:rPr lang="en-US" altLang="ko-KR" dirty="0"/>
              <a:t>{{부서}}</a:t>
            </a:r>
            <a:r>
              <a:rPr lang="ko-KR" altLang="en-US" dirty="0"/>
              <a:t>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746093-7CF2-48BB-9FE7-234830A0F530}"/>
              </a:ext>
            </a:extLst>
          </p:cNvPr>
          <p:cNvSpPr txBox="1"/>
          <p:nvPr/>
        </p:nvSpPr>
        <p:spPr>
          <a:xfrm>
            <a:off x="5917945" y="3433459"/>
            <a:ext cx="1541384" cy="50316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latinLnBrk="0">
              <a:lnSpc>
                <a:spcPts val="1600"/>
              </a:lnSpc>
              <a:spcAft>
                <a:spcPts val="400"/>
              </a:spcAft>
            </a:pP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Syndication</a:t>
            </a: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95457E-79BF-4FAC-8BEE-E21005D61AB7}"/>
              </a:ext>
            </a:extLst>
          </p:cNvPr>
          <p:cNvSpPr txBox="1"/>
          <p:nvPr/>
        </p:nvSpPr>
        <p:spPr>
          <a:xfrm>
            <a:off x="5889133" y="2350281"/>
            <a:ext cx="1571177" cy="50316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latinLnBrk="0">
              <a:lnSpc>
                <a:spcPts val="1600"/>
              </a:lnSpc>
            </a:pP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IB Credit </a:t>
            </a: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지원부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5D30F4B-E08F-4FAA-9C50-68A7DDFDD533}"/>
              </a:ext>
            </a:extLst>
          </p:cNvPr>
          <p:cNvCxnSpPr>
            <a:stCxn id="17" idx="3"/>
            <a:endCxn id="20" idx="1"/>
          </p:cNvCxnSpPr>
          <p:nvPr/>
        </p:nvCxnSpPr>
        <p:spPr>
          <a:xfrm flipV="1">
            <a:off x="2520864" y="3143571"/>
            <a:ext cx="1038973" cy="2313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218E77E-53C1-4DD8-A3F5-9694FFF92EAB}"/>
              </a:ext>
            </a:extLst>
          </p:cNvPr>
          <p:cNvSpPr txBox="1"/>
          <p:nvPr/>
        </p:nvSpPr>
        <p:spPr>
          <a:xfrm>
            <a:off x="2379687" y="2638762"/>
            <a:ext cx="1154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i="1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3333"/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목표금리 설정</a:t>
            </a:r>
            <a:endParaRPr lang="en-US" altLang="ko-KR" sz="1000" i="1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3333"/>
              </a:solidFill>
              <a:latin typeface="나눔고딕" pitchFamily="50" charset="-127"/>
              <a:ea typeface="나눔고딕" pitchFamily="50" charset="-127"/>
              <a:cs typeface="+mj-cs"/>
            </a:endParaRPr>
          </a:p>
          <a:p>
            <a:pPr algn="ctr"/>
            <a:r>
              <a:rPr lang="en-US" altLang="ko-KR" sz="1000" i="1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3333"/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IR</a:t>
            </a:r>
            <a:r>
              <a:rPr lang="ko-KR" altLang="en-US" sz="1000" i="1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3333"/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 전략수립</a:t>
            </a:r>
            <a:endParaRPr lang="en-US" altLang="ko-KR" sz="1000" i="1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3333"/>
              </a:solidFill>
              <a:latin typeface="나눔고딕" pitchFamily="50" charset="-127"/>
              <a:ea typeface="나눔고딕" pitchFamily="50" charset="-127"/>
              <a:cs typeface="+mj-cs"/>
            </a:endParaRPr>
          </a:p>
        </p:txBody>
      </p:sp>
      <p:sp>
        <p:nvSpPr>
          <p:cNvPr id="29" name="모서리가 둥근 직사각형 67">
            <a:extLst>
              <a:ext uri="{FF2B5EF4-FFF2-40B4-BE49-F238E27FC236}">
                <a16:creationId xmlns:a16="http://schemas.microsoft.com/office/drawing/2014/main" id="{FC8955EE-CBA3-447E-BB15-EA2F5BACFBA7}"/>
              </a:ext>
            </a:extLst>
          </p:cNvPr>
          <p:cNvSpPr/>
          <p:nvPr/>
        </p:nvSpPr>
        <p:spPr>
          <a:xfrm>
            <a:off x="7516072" y="1943906"/>
            <a:ext cx="1541384" cy="504056"/>
          </a:xfrm>
          <a:prstGeom prst="roundRect">
            <a:avLst/>
          </a:prstGeom>
          <a:solidFill>
            <a:srgbClr val="1E75B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EE992-1132-477C-BE00-A245D9A58A55}"/>
              </a:ext>
            </a:extLst>
          </p:cNvPr>
          <p:cNvSpPr txBox="1"/>
          <p:nvPr/>
        </p:nvSpPr>
        <p:spPr>
          <a:xfrm>
            <a:off x="7521657" y="1937307"/>
            <a:ext cx="1535610" cy="50316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latinLnBrk="0">
              <a:lnSpc>
                <a:spcPts val="1600"/>
              </a:lnSpc>
            </a:pPr>
            <a:r>
              <a:rPr lang="en-US" altLang="ko-KR" sz="1100" b="1" kern="100" spc="-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NH</a:t>
            </a:r>
            <a:r>
              <a:rPr lang="ko-KR" altLang="en-US" sz="1100" b="1" kern="100" spc="-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투자증권</a:t>
            </a:r>
          </a:p>
        </p:txBody>
      </p:sp>
      <p:cxnSp>
        <p:nvCxnSpPr>
          <p:cNvPr id="31" name="꺾인 연결선 71">
            <a:extLst>
              <a:ext uri="{FF2B5EF4-FFF2-40B4-BE49-F238E27FC236}">
                <a16:creationId xmlns:a16="http://schemas.microsoft.com/office/drawing/2014/main" id="{9C6EEE20-6A8F-43C0-BAE8-AFBF6B65B9D0}"/>
              </a:ext>
            </a:extLst>
          </p:cNvPr>
          <p:cNvCxnSpPr>
            <a:stCxn id="23" idx="0"/>
            <a:endCxn id="25" idx="1"/>
          </p:cNvCxnSpPr>
          <p:nvPr/>
        </p:nvCxnSpPr>
        <p:spPr>
          <a:xfrm rot="5400000" flipH="1" flipV="1">
            <a:off x="4959438" y="1972953"/>
            <a:ext cx="300786" cy="1558604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72">
            <a:extLst>
              <a:ext uri="{FF2B5EF4-FFF2-40B4-BE49-F238E27FC236}">
                <a16:creationId xmlns:a16="http://schemas.microsoft.com/office/drawing/2014/main" id="{D3E1C568-00AE-47D5-A2FE-82BD2566FCFE}"/>
              </a:ext>
            </a:extLst>
          </p:cNvPr>
          <p:cNvCxnSpPr>
            <a:stCxn id="20" idx="2"/>
            <a:endCxn id="24" idx="1"/>
          </p:cNvCxnSpPr>
          <p:nvPr/>
        </p:nvCxnSpPr>
        <p:spPr>
          <a:xfrm rot="16200000" flipH="1">
            <a:off x="4979517" y="2746611"/>
            <a:ext cx="289441" cy="1587416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F7BF9F1-CDEC-4545-88E7-DFD1F4027BC5}"/>
              </a:ext>
            </a:extLst>
          </p:cNvPr>
          <p:cNvSpPr txBox="1"/>
          <p:nvPr/>
        </p:nvSpPr>
        <p:spPr>
          <a:xfrm>
            <a:off x="2375528" y="3242545"/>
            <a:ext cx="1068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i="1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3333"/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IR</a:t>
            </a:r>
          </a:p>
          <a:p>
            <a:pPr algn="ctr"/>
            <a:r>
              <a:rPr lang="ko-KR" altLang="en-US" sz="1000" i="1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3333"/>
                </a:solidFill>
                <a:latin typeface="나눔고딕" pitchFamily="50" charset="-127"/>
                <a:ea typeface="나눔고딕" pitchFamily="50" charset="-127"/>
                <a:cs typeface="+mj-cs"/>
              </a:rPr>
              <a:t>자료 준비</a:t>
            </a:r>
            <a:endParaRPr lang="en-US" altLang="ko-KR" sz="1000" i="1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3333"/>
              </a:solidFill>
              <a:latin typeface="나눔고딕" pitchFamily="50" charset="-127"/>
              <a:ea typeface="나눔고딕" pitchFamily="50" charset="-127"/>
              <a:cs typeface="+mj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602B7E3-62A3-44DE-8328-F507678BE617}"/>
              </a:ext>
            </a:extLst>
          </p:cNvPr>
          <p:cNvSpPr/>
          <p:nvPr/>
        </p:nvSpPr>
        <p:spPr>
          <a:xfrm>
            <a:off x="596515" y="1811743"/>
            <a:ext cx="8749098" cy="240942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0D6C03E-7F6D-45D4-ADD6-CB5D99651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738584"/>
              </p:ext>
            </p:extLst>
          </p:nvPr>
        </p:nvGraphicFramePr>
        <p:xfrm>
          <a:off x="596900" y="4279479"/>
          <a:ext cx="8748713" cy="2101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4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17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100" b="1" kern="1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100" b="1" kern="1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2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872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IR</a:t>
                      </a:r>
                      <a:r>
                        <a:rPr lang="ko-KR" altLang="en-US" sz="1100" b="1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자료 작성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IB Credit </a:t>
                      </a: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지원부와 </a:t>
                      </a:r>
                      <a: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{{부서}}</a:t>
                      </a: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부 </a:t>
                      </a:r>
                      <a: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Co-Work : </a:t>
                      </a: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{{발행사}}과 </a:t>
                      </a:r>
                      <a: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IR</a:t>
                      </a: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</a:t>
                      </a:r>
                      <a: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Point </a:t>
                      </a: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개발 및 </a:t>
                      </a:r>
                      <a: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IR</a:t>
                      </a: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</a:t>
                      </a:r>
                      <a: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Material </a:t>
                      </a: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작성 협업</a:t>
                      </a:r>
                      <a:b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</a:br>
                      <a:r>
                        <a:rPr lang="en-US" altLang="ko-KR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- </a:t>
                      </a:r>
                      <a:r>
                        <a:rPr lang="ko-KR" altLang="en-US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신용평가사 출신 전문인력의 지원으로 회사의 </a:t>
                      </a:r>
                      <a:r>
                        <a:rPr lang="en-US" altLang="ko-KR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Weak &amp; Strong Point </a:t>
                      </a:r>
                      <a:r>
                        <a:rPr lang="ko-KR" altLang="en-US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파악하여 양질의 </a:t>
                      </a:r>
                      <a:r>
                        <a:rPr lang="en-US" altLang="ko-KR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IR</a:t>
                      </a:r>
                      <a:r>
                        <a:rPr lang="ko-KR" altLang="en-US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자료 마련</a:t>
                      </a:r>
                      <a:endParaRPr lang="en-US" altLang="ko-KR" sz="1100" b="0" u="sng" kern="1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480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IR</a:t>
                      </a:r>
                      <a:r>
                        <a:rPr lang="ko-KR" altLang="en-US" sz="1100" b="1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 전략 수립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공모희망금리밴드 설정</a:t>
                      </a:r>
                      <a:b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</a:b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</a:t>
                      </a:r>
                      <a: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- Syndication</a:t>
                      </a: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부와 협업하여 금리밴드 산출 ⇒ {{발행사}} 밴드수준 협의⇒ </a:t>
                      </a:r>
                      <a: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IR</a:t>
                      </a: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시 제시할 밴드수준 설정</a:t>
                      </a:r>
                      <a:b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</a:b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</a:t>
                      </a:r>
                      <a:r>
                        <a:rPr lang="en-US" altLang="ko-KR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- </a:t>
                      </a:r>
                      <a:r>
                        <a:rPr lang="ko-KR" altLang="en-US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투자자 기대 이하 금리를 제시할 경우 초기 접근 실패로 흥행 가능성이 저하되므로 투자자 유인 가능한 수준 설정</a:t>
                      </a:r>
                    </a:p>
                    <a:p>
                      <a:pPr mar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IR</a:t>
                      </a: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세부 전략 수립</a:t>
                      </a:r>
                      <a:br>
                        <a:rPr lang="en-US" altLang="ko-KR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</a:br>
                      <a:r>
                        <a:rPr lang="ko-KR" altLang="en-US" sz="1100" b="0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</a:t>
                      </a:r>
                      <a:r>
                        <a:rPr lang="en-US" altLang="ko-KR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- </a:t>
                      </a:r>
                      <a:r>
                        <a:rPr lang="ko-KR" altLang="en-US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인수채권 </a:t>
                      </a:r>
                      <a:r>
                        <a:rPr lang="en-US" altLang="ko-KR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Sales</a:t>
                      </a:r>
                      <a:r>
                        <a:rPr lang="ko-KR" altLang="en-US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를 담당하는 </a:t>
                      </a:r>
                      <a:r>
                        <a:rPr lang="en-US" altLang="ko-KR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Syndication</a:t>
                      </a:r>
                      <a:r>
                        <a:rPr lang="ko-KR" altLang="en-US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부의 예상 투자자별 특성 파악을 바탕으로 투자자별 세부 </a:t>
                      </a:r>
                      <a:r>
                        <a:rPr lang="en-US" altLang="ko-KR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IR</a:t>
                      </a:r>
                      <a:r>
                        <a:rPr lang="ko-KR" altLang="en-US" sz="1100" b="0" u="sng" kern="1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/>
                        </a:rPr>
                        <a:t> 전략 수립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80822952-14B7-4094-8B65-F2A8FA2FC145}"/>
              </a:ext>
            </a:extLst>
          </p:cNvPr>
          <p:cNvGrpSpPr/>
          <p:nvPr/>
        </p:nvGrpSpPr>
        <p:grpSpPr>
          <a:xfrm>
            <a:off x="596899" y="1484868"/>
            <a:ext cx="8748713" cy="292370"/>
            <a:chOff x="498285" y="2989429"/>
            <a:chExt cx="8787014" cy="292370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DF728A4-38DC-471A-94C2-CE2ABF9A3E51}"/>
                </a:ext>
              </a:extLst>
            </p:cNvPr>
            <p:cNvSpPr/>
            <p:nvPr/>
          </p:nvSpPr>
          <p:spPr>
            <a:xfrm>
              <a:off x="498285" y="3117614"/>
              <a:ext cx="8787014" cy="3600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A2BF624-2251-4FAD-8436-5486B2947DBF}"/>
                </a:ext>
              </a:extLst>
            </p:cNvPr>
            <p:cNvSpPr/>
            <p:nvPr/>
          </p:nvSpPr>
          <p:spPr>
            <a:xfrm>
              <a:off x="4146548" y="2989429"/>
              <a:ext cx="1561486" cy="2923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45711" rIns="144000" bIns="45711" rtlCol="0" anchor="ctr">
              <a:spAutoFit/>
            </a:bodyPr>
            <a:lstStyle/>
            <a:p>
              <a:pPr algn="ctr"/>
              <a:r>
                <a:rPr kumimoji="1" lang="en-US" altLang="ko-KR" sz="1300" b="1" spc="-10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IR</a:t>
              </a:r>
              <a:r>
                <a:rPr kumimoji="1" lang="ko-KR" altLang="en-US" sz="1300" b="1" spc="-10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 전략 수립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1641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EA4B41E1-6D2E-474E-B09A-80730F31250C}"/>
              </a:ext>
            </a:extLst>
          </p:cNvPr>
          <p:cNvGrpSpPr/>
          <p:nvPr/>
        </p:nvGrpSpPr>
        <p:grpSpPr>
          <a:xfrm>
            <a:off x="596515" y="988675"/>
            <a:ext cx="8749097" cy="1332000"/>
            <a:chOff x="596515" y="988675"/>
            <a:chExt cx="8749097" cy="1332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7C5EC01-A2C2-42AD-8D17-6A26B09BD090}"/>
                </a:ext>
              </a:extLst>
            </p:cNvPr>
            <p:cNvSpPr/>
            <p:nvPr/>
          </p:nvSpPr>
          <p:spPr>
            <a:xfrm>
              <a:off x="596515" y="988675"/>
              <a:ext cx="8749097" cy="13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4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3333"/>
                </a:solidFill>
                <a:latin typeface="나눔고딕" pitchFamily="50" charset="-127"/>
                <a:ea typeface="나눔고딕" pitchFamily="50" charset="-127"/>
                <a:cs typeface="+mj-cs"/>
              </a:endParaRPr>
            </a:p>
          </p:txBody>
        </p:sp>
        <p:sp>
          <p:nvSpPr>
            <p:cNvPr id="14" name="텍스트 개체 틀 8">
              <a:extLst>
                <a:ext uri="{FF2B5EF4-FFF2-40B4-BE49-F238E27FC236}">
                  <a16:creationId xmlns:a16="http://schemas.microsoft.com/office/drawing/2014/main" id="{82BA799C-969A-46E1-B017-996587F07B0F}"/>
                </a:ext>
              </a:extLst>
            </p:cNvPr>
            <p:cNvSpPr txBox="1">
              <a:spLocks/>
            </p:cNvSpPr>
            <p:nvPr/>
          </p:nvSpPr>
          <p:spPr>
            <a:xfrm>
              <a:off x="730022" y="1067697"/>
              <a:ext cx="8532948" cy="109363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2200" kern="1200" spc="-10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1pPr>
              <a:lvl2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2pPr>
              <a:lvl3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3pPr>
              <a:lvl4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4pPr>
              <a:lvl5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ts val="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altLang="ko-KR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&lt;Step 2. IR </a:t>
              </a:r>
              <a:r>
                <a:rPr lang="ko-KR" altLang="en-US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실시 </a:t>
              </a:r>
              <a:r>
                <a:rPr lang="en-US" altLang="ko-KR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: </a:t>
              </a:r>
              <a:r>
                <a:rPr lang="ko-KR" altLang="en-US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투자의향이 있는 기관투자자 대상 </a:t>
              </a:r>
              <a:r>
                <a:rPr lang="en-US" altLang="ko-KR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IR </a:t>
              </a:r>
              <a:r>
                <a:rPr lang="ko-KR" altLang="en-US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실시</a:t>
              </a:r>
              <a:r>
                <a:rPr lang="en-US" altLang="ko-KR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&gt;</a:t>
              </a:r>
            </a:p>
            <a:p>
              <a:pPr marL="180000" indent="-180000" latinLnBrk="0">
                <a:lnSpc>
                  <a:spcPts val="2000"/>
                </a:lnSpc>
                <a:spcBef>
                  <a:spcPts val="0"/>
                </a:spcBef>
                <a:spcAft>
                  <a:spcPts val="400"/>
                </a:spcAft>
                <a:buFont typeface="Wingdings" panose="05000000000000000000" pitchFamily="2" charset="2"/>
                <a:buChar char="§"/>
              </a:pP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NH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투자증권이 대표주관회사로 선정될 경우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One on One Meeting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중심의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Credit IR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실시로 투자자 특성에 적합한 단계별 접근을 통해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Sales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효과 극대화</a:t>
              </a:r>
              <a:b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</a:b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-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투자자가 제기하는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Issue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에 대해 적극적으로 대응함으로써 투자자의 수요예측 참여 유도</a:t>
              </a:r>
            </a:p>
            <a:p>
              <a:pPr marL="180000" indent="-180000" latinLnBrk="0">
                <a:lnSpc>
                  <a:spcPts val="2000"/>
                </a:lnSpc>
                <a:spcBef>
                  <a:spcPts val="0"/>
                </a:spcBef>
                <a:spcAft>
                  <a:spcPts val="400"/>
                </a:spcAft>
                <a:buFont typeface="Wingdings" panose="05000000000000000000" pitchFamily="2" charset="2"/>
                <a:buChar char="§"/>
              </a:pP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최근 발행사례 분석 및 수급동향분석을 통해 확보된 투자자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Needs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를 종합 및 </a:t>
              </a:r>
              <a:r>
                <a:rPr lang="ko-KR" altLang="en-US" sz="950" kern="1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재분류하여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 핵심 투자자군을 선별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,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투자자 유형별 선호도에 맞추어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IR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에 임할 계획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14410CC-452D-4273-8138-BA2A4D365185}"/>
              </a:ext>
            </a:extLst>
          </p:cNvPr>
          <p:cNvGrpSpPr/>
          <p:nvPr/>
        </p:nvGrpSpPr>
        <p:grpSpPr>
          <a:xfrm>
            <a:off x="591808" y="2348880"/>
            <a:ext cx="8749097" cy="292370"/>
            <a:chOff x="533784" y="2989429"/>
            <a:chExt cx="8787014" cy="29237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ED15E68-0D72-45BF-924A-925742233C9F}"/>
                </a:ext>
              </a:extLst>
            </p:cNvPr>
            <p:cNvSpPr/>
            <p:nvPr/>
          </p:nvSpPr>
          <p:spPr>
            <a:xfrm>
              <a:off x="533784" y="3117614"/>
              <a:ext cx="8787014" cy="3600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696CEE6-A9F1-42C4-A80F-5713458ED3F8}"/>
                </a:ext>
              </a:extLst>
            </p:cNvPr>
            <p:cNvSpPr/>
            <p:nvPr/>
          </p:nvSpPr>
          <p:spPr>
            <a:xfrm>
              <a:off x="4146548" y="2989429"/>
              <a:ext cx="1561486" cy="2923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45711" rIns="144000" bIns="45711" rtlCol="0" anchor="ctr">
              <a:spAutoFit/>
            </a:bodyPr>
            <a:lstStyle/>
            <a:p>
              <a:pPr algn="ctr"/>
              <a:r>
                <a:rPr kumimoji="1" lang="en-US" altLang="ko-KR" sz="1300" b="1" spc="-10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IR</a:t>
              </a:r>
              <a:r>
                <a:rPr kumimoji="1" lang="ko-KR" altLang="en-US" sz="1300" b="1" spc="-10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 전략 수립</a:t>
              </a:r>
            </a:p>
          </p:txBody>
        </p:sp>
      </p:grpSp>
      <p:sp>
        <p:nvSpPr>
          <p:cNvPr id="42" name="오각형 26">
            <a:extLst>
              <a:ext uri="{FF2B5EF4-FFF2-40B4-BE49-F238E27FC236}">
                <a16:creationId xmlns:a16="http://schemas.microsoft.com/office/drawing/2014/main" id="{5779F2B0-4587-4D8A-8E4A-895795501C67}"/>
              </a:ext>
            </a:extLst>
          </p:cNvPr>
          <p:cNvSpPr/>
          <p:nvPr/>
        </p:nvSpPr>
        <p:spPr>
          <a:xfrm>
            <a:off x="914125" y="2880561"/>
            <a:ext cx="1953159" cy="533378"/>
          </a:xfrm>
          <a:prstGeom prst="homePlate">
            <a:avLst/>
          </a:prstGeom>
          <a:solidFill>
            <a:srgbClr val="C2E2F3"/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ctr"/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Sales Memo </a:t>
            </a: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작성 </a:t>
            </a: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&amp; </a:t>
            </a: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배포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A5A290-1EFE-4D6D-8DC6-652854133845}"/>
              </a:ext>
            </a:extLst>
          </p:cNvPr>
          <p:cNvSpPr/>
          <p:nvPr/>
        </p:nvSpPr>
        <p:spPr>
          <a:xfrm>
            <a:off x="922254" y="3680627"/>
            <a:ext cx="1808481" cy="2659895"/>
          </a:xfrm>
          <a:prstGeom prst="rect">
            <a:avLst/>
          </a:prstGeom>
          <a:solidFill>
            <a:srgbClr val="C2E2F3"/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t"/>
          <a:lstStyle/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ko-KR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Sales </a:t>
            </a:r>
            <a:r>
              <a:rPr lang="ko-KR" altLang="en-US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대상 선정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최근 수요예측참여 내역 및 유동성 현황 등을 고려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, Target Investor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선정</a:t>
            </a: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ko-KR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Sales Memo </a:t>
            </a:r>
            <a:r>
              <a:rPr lang="ko-KR" altLang="en-US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작성 </a:t>
            </a:r>
            <a:r>
              <a:rPr lang="en-US" altLang="ko-KR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&amp; </a:t>
            </a:r>
            <a:r>
              <a:rPr lang="ko-KR" altLang="en-US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배포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Credit Analyst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의 분석에 기반한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Sales Memo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작성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동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Sales Memo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배포</a:t>
            </a:r>
          </a:p>
        </p:txBody>
      </p:sp>
      <p:sp>
        <p:nvSpPr>
          <p:cNvPr id="44" name="갈매기형 수장 28">
            <a:extLst>
              <a:ext uri="{FF2B5EF4-FFF2-40B4-BE49-F238E27FC236}">
                <a16:creationId xmlns:a16="http://schemas.microsoft.com/office/drawing/2014/main" id="{27A7D198-03A1-423C-AD5A-25E574B30CD2}"/>
              </a:ext>
            </a:extLst>
          </p:cNvPr>
          <p:cNvSpPr/>
          <p:nvPr/>
        </p:nvSpPr>
        <p:spPr>
          <a:xfrm>
            <a:off x="2974439" y="2880561"/>
            <a:ext cx="1953159" cy="533378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ctr"/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Market </a:t>
            </a: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분위기 파악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8D405B1-5E17-4393-8AB9-433EE601E201}"/>
              </a:ext>
            </a:extLst>
          </p:cNvPr>
          <p:cNvSpPr/>
          <p:nvPr/>
        </p:nvSpPr>
        <p:spPr>
          <a:xfrm>
            <a:off x="3006525" y="3680627"/>
            <a:ext cx="1808482" cy="26598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t"/>
          <a:lstStyle/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ko-KR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Tapping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Target Investor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등에 대한 투자 가능 여부 및 요구 금리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Tapping</a:t>
            </a:r>
          </a:p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ko-KR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Investor</a:t>
            </a:r>
            <a:r>
              <a:rPr lang="ko-KR" altLang="en-US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반응 </a:t>
            </a:r>
            <a:r>
              <a:rPr lang="en-US" altLang="ko-KR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Feed-back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Investor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측 투자불가 사유 및 요구 금리에 대한 근거 등 파악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주요 문의사항 등 취합</a:t>
            </a: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sp>
        <p:nvSpPr>
          <p:cNvPr id="46" name="갈매기형 수장 30">
            <a:extLst>
              <a:ext uri="{FF2B5EF4-FFF2-40B4-BE49-F238E27FC236}">
                <a16:creationId xmlns:a16="http://schemas.microsoft.com/office/drawing/2014/main" id="{00965094-B308-466F-AF60-F402AE75382F}"/>
              </a:ext>
            </a:extLst>
          </p:cNvPr>
          <p:cNvSpPr/>
          <p:nvPr/>
        </p:nvSpPr>
        <p:spPr>
          <a:xfrm>
            <a:off x="5034752" y="2880561"/>
            <a:ext cx="1953159" cy="533378"/>
          </a:xfrm>
          <a:prstGeom prst="chevron">
            <a:avLst/>
          </a:prstGeom>
          <a:solidFill>
            <a:srgbClr val="C2E2F3"/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ctr"/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IR</a:t>
            </a: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전략 수립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C3001BF-8614-46C6-BF67-CDB767D7799B}"/>
              </a:ext>
            </a:extLst>
          </p:cNvPr>
          <p:cNvSpPr/>
          <p:nvPr/>
        </p:nvSpPr>
        <p:spPr>
          <a:xfrm>
            <a:off x="5090798" y="3680627"/>
            <a:ext cx="1808481" cy="2659895"/>
          </a:xfrm>
          <a:prstGeom prst="rect">
            <a:avLst/>
          </a:prstGeom>
          <a:solidFill>
            <a:srgbClr val="C2E2F3"/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t"/>
          <a:lstStyle/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ko-KR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IR</a:t>
            </a:r>
            <a:r>
              <a:rPr lang="ko-KR" altLang="en-US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방법 결정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Market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분위기 등을 근거로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IR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방법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결정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ko-KR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IR</a:t>
            </a:r>
            <a:r>
              <a:rPr lang="ko-KR" altLang="en-US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자료 완성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Investor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측의 반응 등에 기반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,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발행사의 단점에 대한 보완책 및 주요 문의사항 등에 대한 답변 중심의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IR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자료 작성</a:t>
            </a: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08000" lvl="1" indent="-108000">
              <a:buFont typeface="Wingdings" panose="05000000000000000000" pitchFamily="2" charset="2"/>
              <a:buChar char="§"/>
            </a:pP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sp>
        <p:nvSpPr>
          <p:cNvPr id="48" name="갈매기형 수장 32">
            <a:extLst>
              <a:ext uri="{FF2B5EF4-FFF2-40B4-BE49-F238E27FC236}">
                <a16:creationId xmlns:a16="http://schemas.microsoft.com/office/drawing/2014/main" id="{383B6283-340E-4B71-941C-1E2889DBBBC3}"/>
              </a:ext>
            </a:extLst>
          </p:cNvPr>
          <p:cNvSpPr/>
          <p:nvPr/>
        </p:nvSpPr>
        <p:spPr>
          <a:xfrm>
            <a:off x="7095066" y="2880561"/>
            <a:ext cx="1953159" cy="533378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ctr"/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Credit IR(</a:t>
            </a: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필요 시</a:t>
            </a: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)</a:t>
            </a:r>
            <a:endParaRPr lang="ko-KR" altLang="en-US" sz="1100" b="1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352BD0A-E654-4299-8A57-6E9D50EE6662}"/>
              </a:ext>
            </a:extLst>
          </p:cNvPr>
          <p:cNvSpPr/>
          <p:nvPr/>
        </p:nvSpPr>
        <p:spPr>
          <a:xfrm>
            <a:off x="7175069" y="3680627"/>
            <a:ext cx="1808481" cy="26598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t"/>
          <a:lstStyle/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ko-KR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One on One Meeting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최근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A-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등급 수요예측에 참여한 기관투자자 대상으로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회사채에 관심 있는 투자자 방문</a:t>
            </a: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08000" indent="-108000" defTabSz="875299" fontAlgn="base" latinLnBrk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ko-KR" sz="105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Group Meeting</a:t>
            </a:r>
            <a:b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상기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Investor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외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Investor </a:t>
            </a:r>
            <a:r>
              <a:rPr lang="ko-KR" altLang="en-US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대상 </a:t>
            </a:r>
            <a:r>
              <a:rPr lang="en-US" altLang="ko-KR" sz="105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Group Meeting</a:t>
            </a:r>
          </a:p>
          <a:p>
            <a:pPr marL="108000" lvl="1" indent="-108000">
              <a:buFont typeface="Wingdings" panose="05000000000000000000" pitchFamily="2" charset="2"/>
              <a:buChar char="§"/>
            </a:pPr>
            <a:endParaRPr lang="en-US" altLang="ko-KR" sz="105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A79F0A2-A084-4140-B363-6B370FE767F9}"/>
              </a:ext>
            </a:extLst>
          </p:cNvPr>
          <p:cNvSpPr/>
          <p:nvPr/>
        </p:nvSpPr>
        <p:spPr>
          <a:xfrm>
            <a:off x="596900" y="2677341"/>
            <a:ext cx="8748713" cy="370398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텍스트 개체 틀 8">
            <a:extLst>
              <a:ext uri="{FF2B5EF4-FFF2-40B4-BE49-F238E27FC236}">
                <a16:creationId xmlns:a16="http://schemas.microsoft.com/office/drawing/2014/main" id="{51A98257-A8EB-4C05-889C-55F3C76F0017}"/>
              </a:ext>
            </a:extLst>
          </p:cNvPr>
          <p:cNvSpPr txBox="1">
            <a:spLocks/>
          </p:cNvSpPr>
          <p:nvPr/>
        </p:nvSpPr>
        <p:spPr>
          <a:xfrm>
            <a:off x="741125" y="361127"/>
            <a:ext cx="6048079" cy="5040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300"/>
              </a:spcAft>
            </a:pP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 IR </a:t>
            </a:r>
            <a:r>
              <a:rPr lang="ko-KR" altLang="en-US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흥행 전망</a:t>
            </a: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_</a:t>
            </a:r>
            <a:r>
              <a:rPr lang="en-US" altLang="ko-KR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① IR </a:t>
            </a:r>
            <a:r>
              <a:rPr lang="ko-KR" altLang="en-US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수요예측</a:t>
            </a:r>
            <a:r>
              <a:rPr lang="en-US" altLang="ko-KR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전략</a:t>
            </a:r>
            <a:r>
              <a:rPr lang="en-US" altLang="ko-KR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계속</a:t>
            </a:r>
            <a:r>
              <a:rPr lang="en-US" altLang="ko-KR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6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7275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EA4B41E1-6D2E-474E-B09A-80730F31250C}"/>
              </a:ext>
            </a:extLst>
          </p:cNvPr>
          <p:cNvGrpSpPr/>
          <p:nvPr/>
        </p:nvGrpSpPr>
        <p:grpSpPr>
          <a:xfrm>
            <a:off x="596515" y="988675"/>
            <a:ext cx="8749097" cy="792000"/>
            <a:chOff x="596515" y="988675"/>
            <a:chExt cx="8749097" cy="792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7C5EC01-A2C2-42AD-8D17-6A26B09BD090}"/>
                </a:ext>
              </a:extLst>
            </p:cNvPr>
            <p:cNvSpPr/>
            <p:nvPr/>
          </p:nvSpPr>
          <p:spPr>
            <a:xfrm>
              <a:off x="596515" y="988675"/>
              <a:ext cx="8749097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4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3333"/>
                </a:solidFill>
                <a:latin typeface="나눔고딕" pitchFamily="50" charset="-127"/>
                <a:ea typeface="나눔고딕" pitchFamily="50" charset="-127"/>
                <a:cs typeface="+mj-cs"/>
              </a:endParaRPr>
            </a:p>
          </p:txBody>
        </p:sp>
        <p:sp>
          <p:nvSpPr>
            <p:cNvPr id="14" name="텍스트 개체 틀 8">
              <a:extLst>
                <a:ext uri="{FF2B5EF4-FFF2-40B4-BE49-F238E27FC236}">
                  <a16:creationId xmlns:a16="http://schemas.microsoft.com/office/drawing/2014/main" id="{82BA799C-969A-46E1-B017-996587F07B0F}"/>
                </a:ext>
              </a:extLst>
            </p:cNvPr>
            <p:cNvSpPr txBox="1">
              <a:spLocks/>
            </p:cNvSpPr>
            <p:nvPr/>
          </p:nvSpPr>
          <p:spPr>
            <a:xfrm>
              <a:off x="730022" y="1067697"/>
              <a:ext cx="8532948" cy="529376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2200" kern="1200" spc="-10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1pPr>
              <a:lvl2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2pPr>
              <a:lvl3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3pPr>
              <a:lvl4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4pPr>
              <a:lvl5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ts val="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altLang="ko-KR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&lt;Step 3. </a:t>
              </a:r>
              <a:r>
                <a:rPr lang="ko-KR" altLang="en-US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수요예측 실시</a:t>
              </a:r>
              <a:r>
                <a:rPr lang="en-US" altLang="ko-KR" sz="950" b="1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&gt;</a:t>
              </a:r>
            </a:p>
            <a:p>
              <a:pPr marL="180000" indent="-180000" latinLnBrk="0">
                <a:lnSpc>
                  <a:spcPts val="2000"/>
                </a:lnSpc>
                <a:spcBef>
                  <a:spcPts val="0"/>
                </a:spcBef>
                <a:spcAft>
                  <a:spcPts val="400"/>
                </a:spcAft>
                <a:buFont typeface="Wingdings" panose="05000000000000000000" pitchFamily="2" charset="2"/>
                <a:buChar char="§"/>
              </a:pP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Anchor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투자자 유도 및 주요 투자자의 적극적인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IR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을 통해  발행금리 하락 유도</a:t>
              </a:r>
            </a:p>
          </p:txBody>
        </p: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2B59FCB-2445-4452-ADBC-91567276A1A1}"/>
              </a:ext>
            </a:extLst>
          </p:cNvPr>
          <p:cNvCxnSpPr/>
          <p:nvPr/>
        </p:nvCxnSpPr>
        <p:spPr>
          <a:xfrm>
            <a:off x="1634525" y="5068397"/>
            <a:ext cx="7422163" cy="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D8E207-82A4-4ECA-8106-D6959E96AB35}"/>
              </a:ext>
            </a:extLst>
          </p:cNvPr>
          <p:cNvSpPr/>
          <p:nvPr/>
        </p:nvSpPr>
        <p:spPr>
          <a:xfrm>
            <a:off x="596515" y="2132856"/>
            <a:ext cx="8749098" cy="421238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E2FD34A-5FC1-4637-9DBE-B640767E345E}"/>
              </a:ext>
            </a:extLst>
          </p:cNvPr>
          <p:cNvSpPr/>
          <p:nvPr/>
        </p:nvSpPr>
        <p:spPr>
          <a:xfrm>
            <a:off x="1136350" y="2344542"/>
            <a:ext cx="1924493" cy="287079"/>
          </a:xfrm>
          <a:prstGeom prst="rect">
            <a:avLst/>
          </a:prstGeom>
          <a:solidFill>
            <a:srgbClr val="C2E2F3"/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ctr"/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Anchor </a:t>
            </a: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투자자 확보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F7325C-6B85-4D22-916A-B9A89A2C0A1D}"/>
              </a:ext>
            </a:extLst>
          </p:cNvPr>
          <p:cNvSpPr/>
          <p:nvPr/>
        </p:nvSpPr>
        <p:spPr>
          <a:xfrm>
            <a:off x="3911020" y="2344542"/>
            <a:ext cx="1924493" cy="2870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ctr"/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Target </a:t>
            </a: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투자자 </a:t>
            </a: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IR </a:t>
            </a: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실시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FF30FE-8A64-4478-9382-BB992AB949BF}"/>
              </a:ext>
            </a:extLst>
          </p:cNvPr>
          <p:cNvSpPr/>
          <p:nvPr/>
        </p:nvSpPr>
        <p:spPr>
          <a:xfrm>
            <a:off x="6810717" y="2344542"/>
            <a:ext cx="1924493" cy="287079"/>
          </a:xfrm>
          <a:prstGeom prst="rect">
            <a:avLst/>
          </a:prstGeom>
          <a:solidFill>
            <a:srgbClr val="C2E2F3"/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ctr"/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수요예측 참여 극대화</a:t>
            </a: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611F35A5-BA9E-4EC4-AD8F-EC528881DA64}"/>
              </a:ext>
            </a:extLst>
          </p:cNvPr>
          <p:cNvSpPr/>
          <p:nvPr/>
        </p:nvSpPr>
        <p:spPr>
          <a:xfrm rot="5400000">
            <a:off x="3121616" y="3312246"/>
            <a:ext cx="717700" cy="223284"/>
          </a:xfrm>
          <a:prstGeom prst="triangle">
            <a:avLst>
              <a:gd name="adj" fmla="val 4925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E815D22B-4F98-426B-8203-38B63745CFF8}"/>
              </a:ext>
            </a:extLst>
          </p:cNvPr>
          <p:cNvSpPr/>
          <p:nvPr/>
        </p:nvSpPr>
        <p:spPr>
          <a:xfrm rot="5400000">
            <a:off x="6003043" y="3312246"/>
            <a:ext cx="717699" cy="223284"/>
          </a:xfrm>
          <a:prstGeom prst="triangle">
            <a:avLst>
              <a:gd name="adj" fmla="val 4925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7E19C1B-6C39-4AB2-BC7B-F9603AE3E977}"/>
              </a:ext>
            </a:extLst>
          </p:cNvPr>
          <p:cNvSpPr/>
          <p:nvPr/>
        </p:nvSpPr>
        <p:spPr>
          <a:xfrm>
            <a:off x="1634525" y="5529090"/>
            <a:ext cx="1420770" cy="386209"/>
          </a:xfrm>
          <a:prstGeom prst="rect">
            <a:avLst/>
          </a:prstGeom>
          <a:solidFill>
            <a:srgbClr val="C2E2F3"/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ctr"/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Anchor Investor</a:t>
            </a:r>
            <a:endParaRPr lang="ko-KR" altLang="en-US" sz="1100" b="1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EA6257-42D8-49F6-ADF0-A495A8271811}"/>
              </a:ext>
            </a:extLst>
          </p:cNvPr>
          <p:cNvSpPr/>
          <p:nvPr/>
        </p:nvSpPr>
        <p:spPr>
          <a:xfrm>
            <a:off x="4515951" y="4524218"/>
            <a:ext cx="1420770" cy="995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ctr"/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IR</a:t>
            </a:r>
            <a:endParaRPr lang="ko-KR" altLang="en-US" sz="1100" b="1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65B99D-BB4A-4036-877D-04F12966A92E}"/>
              </a:ext>
            </a:extLst>
          </p:cNvPr>
          <p:cNvSpPr txBox="1"/>
          <p:nvPr/>
        </p:nvSpPr>
        <p:spPr>
          <a:xfrm>
            <a:off x="2191369" y="5271336"/>
            <a:ext cx="1338918" cy="248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i="1" u="sng" kern="100" spc="-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발행금리 하락 유도 </a:t>
            </a:r>
            <a:endParaRPr lang="en-US" altLang="ko-KR" sz="1000" b="1" i="1" u="sng" kern="100" spc="-1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F570EE1-4F2D-4177-BA3C-56B82779CFEF}"/>
              </a:ext>
            </a:extLst>
          </p:cNvPr>
          <p:cNvCxnSpPr/>
          <p:nvPr/>
        </p:nvCxnSpPr>
        <p:spPr>
          <a:xfrm>
            <a:off x="1639485" y="4531619"/>
            <a:ext cx="312377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AE3BA1B-9E17-4F86-8916-FB14DE9EACB3}"/>
              </a:ext>
            </a:extLst>
          </p:cNvPr>
          <p:cNvCxnSpPr/>
          <p:nvPr/>
        </p:nvCxnSpPr>
        <p:spPr>
          <a:xfrm>
            <a:off x="4313763" y="4524219"/>
            <a:ext cx="3123513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5982994-B329-4899-AA95-81B27C963E1F}"/>
              </a:ext>
            </a:extLst>
          </p:cNvPr>
          <p:cNvSpPr txBox="1"/>
          <p:nvPr/>
        </p:nvSpPr>
        <p:spPr>
          <a:xfrm>
            <a:off x="803593" y="4379984"/>
            <a:ext cx="835892" cy="2731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ko-KR" altLang="en-US" sz="1000" b="1" kern="1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Times New Roman"/>
              </a:rPr>
              <a:t>금리밴드  상단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0FC5E1-C8F3-4C64-91C0-839B2574EDAF}"/>
              </a:ext>
            </a:extLst>
          </p:cNvPr>
          <p:cNvSpPr/>
          <p:nvPr/>
        </p:nvSpPr>
        <p:spPr>
          <a:xfrm>
            <a:off x="7386740" y="4524218"/>
            <a:ext cx="1420770" cy="1391081"/>
          </a:xfrm>
          <a:prstGeom prst="rect">
            <a:avLst/>
          </a:prstGeom>
          <a:solidFill>
            <a:srgbClr val="C2E2F3"/>
          </a:solidFill>
          <a:ln w="285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4429" tIns="49078" rIns="94429" bIns="49078" anchor="ctr"/>
          <a:lstStyle/>
          <a:p>
            <a:pPr algn="ctr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ko-KR" altLang="en-US" sz="11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수요예측 참여</a:t>
            </a:r>
            <a:endParaRPr lang="en-US" altLang="ko-KR" sz="1100" b="1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17E9A53-B169-4F62-AE8E-17E92DB66408}"/>
              </a:ext>
            </a:extLst>
          </p:cNvPr>
          <p:cNvCxnSpPr/>
          <p:nvPr/>
        </p:nvCxnSpPr>
        <p:spPr>
          <a:xfrm>
            <a:off x="7248645" y="4524219"/>
            <a:ext cx="1808043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CBF61A7-C342-4C1B-A8CF-ECAFB4C2D08B}"/>
              </a:ext>
            </a:extLst>
          </p:cNvPr>
          <p:cNvCxnSpPr/>
          <p:nvPr/>
        </p:nvCxnSpPr>
        <p:spPr>
          <a:xfrm>
            <a:off x="1634525" y="5519772"/>
            <a:ext cx="7422163" cy="0"/>
          </a:xfrm>
          <a:prstGeom prst="line">
            <a:avLst/>
          </a:prstGeom>
          <a:ln w="1587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9B7449F-B866-4C4D-9556-D761CCB8FFAF}"/>
              </a:ext>
            </a:extLst>
          </p:cNvPr>
          <p:cNvSpPr txBox="1"/>
          <p:nvPr/>
        </p:nvSpPr>
        <p:spPr>
          <a:xfrm>
            <a:off x="1025646" y="2701701"/>
            <a:ext cx="2237961" cy="134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2800" indent="-171450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ko-KR" sz="10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Anchor </a:t>
            </a:r>
            <a:r>
              <a:rPr lang="ko-KR" altLang="en-US" sz="10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투자자 선정</a:t>
            </a:r>
            <a:endParaRPr lang="en-US" altLang="ko-KR" sz="1000" b="1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{{등급}}</a:t>
            </a:r>
            <a:r>
              <a:rPr lang="ko-KR" altLang="en-US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등급 회사채 투자에 적극적으로  참여 가능한 </a:t>
            </a:r>
            <a:r>
              <a:rPr lang="en-US" altLang="ko-KR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Anchor</a:t>
            </a:r>
            <a:r>
              <a:rPr lang="ko-KR" altLang="en-US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투자자 확보</a:t>
            </a:r>
            <a:r>
              <a:rPr lang="en-US" altLang="ko-KR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</a:t>
            </a:r>
            <a:r>
              <a:rPr lang="ko-KR" altLang="en-US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노력 및 수요예측을 통해</a:t>
            </a:r>
            <a:r>
              <a:rPr lang="en-US" altLang="ko-KR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</a:t>
            </a:r>
            <a:r>
              <a:rPr lang="ko-KR" altLang="en-US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금리밴드 내 낮은 금리로 낙찰 유도</a:t>
            </a:r>
            <a:endParaRPr lang="en-US" altLang="ko-KR" sz="100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defTabSz="875299" fontAlgn="base" latinLnBrk="0">
              <a:lnSpc>
                <a:spcPct val="130000"/>
              </a:lnSpc>
              <a:spcAft>
                <a:spcPct val="0"/>
              </a:spcAft>
              <a:buClr>
                <a:srgbClr val="002060"/>
              </a:buClr>
            </a:pPr>
            <a:r>
              <a:rPr lang="en-US" altLang="ko-KR" sz="1000" b="1" kern="100" spc="-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57828D-B682-4AE2-8EDB-4B51CAAE28DD}"/>
              </a:ext>
            </a:extLst>
          </p:cNvPr>
          <p:cNvSpPr txBox="1"/>
          <p:nvPr/>
        </p:nvSpPr>
        <p:spPr>
          <a:xfrm>
            <a:off x="3728864" y="2687148"/>
            <a:ext cx="2383233" cy="1544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2800" indent="-171450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ko-KR" altLang="en-US" sz="10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수요예측 참여 빈도가 높은 투자자 </a:t>
            </a:r>
            <a:r>
              <a:rPr lang="en-US" altLang="ko-KR" sz="10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Targeting(Anchor </a:t>
            </a:r>
            <a:r>
              <a:rPr lang="ko-KR" altLang="en-US" sz="10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외</a:t>
            </a:r>
            <a:r>
              <a:rPr lang="en-US" altLang="ko-KR" sz="10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)</a:t>
            </a:r>
          </a:p>
          <a:p>
            <a:pPr latinLnBrk="0">
              <a:lnSpc>
                <a:spcPct val="130000"/>
              </a:lnSpc>
            </a:pPr>
            <a:endParaRPr lang="en-US" altLang="ko-KR" sz="1000" b="1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C00000"/>
              </a:solidFill>
              <a:latin typeface="맑은 고딕"/>
              <a:ea typeface="맑은 고딕"/>
              <a:cs typeface="+mj-cs"/>
            </a:endParaRPr>
          </a:p>
          <a:p>
            <a:pPr latinLnBrk="0">
              <a:lnSpc>
                <a:spcPct val="130000"/>
              </a:lnSpc>
            </a:pPr>
            <a:endParaRPr lang="en-US" altLang="ko-KR" sz="1000" b="1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C00000"/>
              </a:solidFill>
              <a:latin typeface="맑은 고딕"/>
              <a:ea typeface="맑은 고딕"/>
              <a:cs typeface="+mj-cs"/>
            </a:endParaRPr>
          </a:p>
          <a:p>
            <a:pPr latinLnBrk="0">
              <a:lnSpc>
                <a:spcPct val="130000"/>
              </a:lnSpc>
            </a:pPr>
            <a:endParaRPr lang="en-US" altLang="ko-KR" sz="1000" b="1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C00000"/>
              </a:solidFill>
              <a:latin typeface="맑은 고딕"/>
              <a:ea typeface="맑은 고딕"/>
              <a:cs typeface="+mj-cs"/>
            </a:endParaRPr>
          </a:p>
          <a:p>
            <a:pPr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ko-KR" altLang="en-US" sz="1000" b="1" kern="100" spc="-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  → 수요예측 참여 빈도가 높은 주요 투자자의 적극적인 참여 유도</a:t>
            </a:r>
            <a:endParaRPr lang="en-US" altLang="ko-KR" sz="1000" b="1" kern="100" spc="-1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74D08D-F798-4ABD-8CEB-626FAE73C33F}"/>
              </a:ext>
            </a:extLst>
          </p:cNvPr>
          <p:cNvSpPr txBox="1"/>
          <p:nvPr/>
        </p:nvSpPr>
        <p:spPr>
          <a:xfrm>
            <a:off x="6681066" y="2687148"/>
            <a:ext cx="23403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71450"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ko-KR" altLang="en-US" sz="1000" b="1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물량확보 경쟁조성</a:t>
            </a:r>
            <a:endParaRPr lang="en-US" altLang="ko-KR" sz="1000" b="1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Anchor</a:t>
            </a:r>
            <a:r>
              <a:rPr lang="ko-KR" altLang="en-US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투자자의 경우 희망 물량을 배정 </a:t>
            </a:r>
            <a:br>
              <a:rPr lang="en-US" altLang="ko-KR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</a:br>
            <a:r>
              <a:rPr lang="en-US" altLang="ko-KR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 </a:t>
            </a:r>
            <a:r>
              <a:rPr lang="ko-KR" altLang="en-US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받을 수 있도록 협의 지속  </a:t>
            </a:r>
            <a:endParaRPr lang="en-US" altLang="ko-KR" sz="100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- </a:t>
            </a:r>
            <a:r>
              <a:rPr lang="ko-KR" altLang="en-US" sz="1000" kern="100" spc="-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우호적 투자자의 선제적 수요 예측 참여로 기관별 요구 물량확보를 위한 경쟁분위기 조성</a:t>
            </a:r>
            <a:endParaRPr lang="en-US" altLang="ko-KR" sz="1000" kern="100" spc="-1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en-US" altLang="ko-KR" sz="1000" b="1" kern="100" spc="-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  </a:t>
            </a:r>
            <a:r>
              <a:rPr lang="ko-KR" altLang="en-US" sz="1000" b="1" kern="100" spc="-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→ 밴드 내 낮은 금리로 입찰</a:t>
            </a:r>
            <a:r>
              <a:rPr lang="en-US" altLang="ko-KR" sz="1000" b="1" kern="100" spc="-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 </a:t>
            </a:r>
            <a:r>
              <a:rPr lang="ko-KR" altLang="en-US" sz="1000" b="1" kern="100" spc="-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rPr>
              <a:t>유도 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B260D67-B0B3-4088-AE14-5A2443291BC8}"/>
              </a:ext>
            </a:extLst>
          </p:cNvPr>
          <p:cNvCxnSpPr>
            <a:stCxn id="54" idx="3"/>
          </p:cNvCxnSpPr>
          <p:nvPr/>
        </p:nvCxnSpPr>
        <p:spPr>
          <a:xfrm>
            <a:off x="1685205" y="5915299"/>
            <a:ext cx="3015383" cy="1632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429AC19-7101-4E2A-BAE7-1A47243972D5}"/>
              </a:ext>
            </a:extLst>
          </p:cNvPr>
          <p:cNvCxnSpPr/>
          <p:nvPr/>
        </p:nvCxnSpPr>
        <p:spPr>
          <a:xfrm>
            <a:off x="4313763" y="5931628"/>
            <a:ext cx="3015501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3EDC4376-39DB-45CA-ABA3-AEC406EBA7BF}"/>
              </a:ext>
            </a:extLst>
          </p:cNvPr>
          <p:cNvCxnSpPr/>
          <p:nvPr/>
        </p:nvCxnSpPr>
        <p:spPr>
          <a:xfrm flipV="1">
            <a:off x="7248645" y="5923463"/>
            <a:ext cx="1808043" cy="816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아래쪽 화살표 49">
            <a:extLst>
              <a:ext uri="{FF2B5EF4-FFF2-40B4-BE49-F238E27FC236}">
                <a16:creationId xmlns:a16="http://schemas.microsoft.com/office/drawing/2014/main" id="{B72A2D14-3F8E-4C0B-AD24-FBBD617776CD}"/>
              </a:ext>
            </a:extLst>
          </p:cNvPr>
          <p:cNvSpPr/>
          <p:nvPr/>
        </p:nvSpPr>
        <p:spPr>
          <a:xfrm>
            <a:off x="3477470" y="5130779"/>
            <a:ext cx="138957" cy="336702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아래쪽 화살표 50">
            <a:extLst>
              <a:ext uri="{FF2B5EF4-FFF2-40B4-BE49-F238E27FC236}">
                <a16:creationId xmlns:a16="http://schemas.microsoft.com/office/drawing/2014/main" id="{9AE99534-B38F-430F-B6A1-4C63D20C104C}"/>
              </a:ext>
            </a:extLst>
          </p:cNvPr>
          <p:cNvSpPr/>
          <p:nvPr/>
        </p:nvSpPr>
        <p:spPr>
          <a:xfrm>
            <a:off x="6533765" y="5130779"/>
            <a:ext cx="138957" cy="336702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4D2C31-2D18-4D86-B810-8D3B59F4EBA4}"/>
              </a:ext>
            </a:extLst>
          </p:cNvPr>
          <p:cNvSpPr txBox="1"/>
          <p:nvPr/>
        </p:nvSpPr>
        <p:spPr>
          <a:xfrm>
            <a:off x="740532" y="5792188"/>
            <a:ext cx="944673" cy="2731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ko-KR"/>
            </a:defPPr>
            <a:lvl1pPr algn="ctr">
              <a:defRPr sz="1000" b="1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3333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</a:lstStyle>
          <a:p>
            <a:pPr defTabSz="875299" fontAlgn="base" latinLnBrk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rgbClr val="002060"/>
              </a:buClr>
            </a:pPr>
            <a:r>
              <a:rPr lang="ko-KR" altLang="en-US" kern="100" dirty="0">
                <a:solidFill>
                  <a:schemeClr val="tx1"/>
                </a:solidFill>
                <a:cs typeface="Times New Roman"/>
              </a:rPr>
              <a:t>금리밴드  하단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AEF2AFF-F653-4EEC-B32A-E57D8B864EAD}"/>
              </a:ext>
            </a:extLst>
          </p:cNvPr>
          <p:cNvGrpSpPr/>
          <p:nvPr/>
        </p:nvGrpSpPr>
        <p:grpSpPr>
          <a:xfrm>
            <a:off x="596899" y="1808820"/>
            <a:ext cx="8748713" cy="292370"/>
            <a:chOff x="533784" y="2989429"/>
            <a:chExt cx="8787014" cy="292370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241AE0A5-B237-4097-AC46-8C35EF6228F0}"/>
                </a:ext>
              </a:extLst>
            </p:cNvPr>
            <p:cNvSpPr/>
            <p:nvPr/>
          </p:nvSpPr>
          <p:spPr>
            <a:xfrm>
              <a:off x="533784" y="3117614"/>
              <a:ext cx="8787014" cy="3600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9BD421F-0881-421A-91CD-B70C36ADBA53}"/>
                </a:ext>
              </a:extLst>
            </p:cNvPr>
            <p:cNvSpPr/>
            <p:nvPr/>
          </p:nvSpPr>
          <p:spPr>
            <a:xfrm>
              <a:off x="4146548" y="2989429"/>
              <a:ext cx="1561486" cy="2923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45711" rIns="144000" bIns="45711" rtlCol="0" anchor="ctr">
              <a:spAutoFit/>
            </a:bodyPr>
            <a:lstStyle/>
            <a:p>
              <a:pPr algn="ctr"/>
              <a:r>
                <a:rPr kumimoji="1" lang="ko-KR" altLang="en-US" sz="1300" b="1" spc="-10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수요예측 전략</a:t>
              </a:r>
            </a:p>
          </p:txBody>
        </p:sp>
      </p:grpSp>
      <p:sp>
        <p:nvSpPr>
          <p:cNvPr id="40" name="텍스트 개체 틀 8">
            <a:extLst>
              <a:ext uri="{FF2B5EF4-FFF2-40B4-BE49-F238E27FC236}">
                <a16:creationId xmlns:a16="http://schemas.microsoft.com/office/drawing/2014/main" id="{C408BF28-AB06-4C3B-81D1-0F5C902F0AC1}"/>
              </a:ext>
            </a:extLst>
          </p:cNvPr>
          <p:cNvSpPr txBox="1">
            <a:spLocks/>
          </p:cNvSpPr>
          <p:nvPr/>
        </p:nvSpPr>
        <p:spPr>
          <a:xfrm>
            <a:off x="741125" y="361127"/>
            <a:ext cx="6048079" cy="5040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300"/>
              </a:spcAft>
            </a:pP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 IR </a:t>
            </a:r>
            <a:r>
              <a:rPr lang="ko-KR" altLang="en-US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흥행 전망</a:t>
            </a: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_</a:t>
            </a:r>
            <a:r>
              <a:rPr lang="en-US" altLang="ko-KR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① IR </a:t>
            </a:r>
            <a:r>
              <a:rPr lang="ko-KR" altLang="en-US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수요예측</a:t>
            </a:r>
            <a:r>
              <a:rPr lang="en-US" altLang="ko-KR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전략</a:t>
            </a:r>
            <a:r>
              <a:rPr lang="en-US" altLang="ko-KR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계속</a:t>
            </a:r>
            <a:r>
              <a:rPr lang="en-US" altLang="ko-KR" sz="16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6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4504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A79908D0-2280-4A81-A08E-9FE694860F17}"/>
              </a:ext>
            </a:extLst>
          </p:cNvPr>
          <p:cNvGrpSpPr/>
          <p:nvPr/>
        </p:nvGrpSpPr>
        <p:grpSpPr>
          <a:xfrm>
            <a:off x="600075" y="1502083"/>
            <a:ext cx="4173538" cy="295915"/>
            <a:chOff x="557214" y="1872134"/>
            <a:chExt cx="9648824" cy="313009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6486B34-7720-4F2A-A766-180D94FDD922}"/>
                </a:ext>
              </a:extLst>
            </p:cNvPr>
            <p:cNvSpPr/>
            <p:nvPr/>
          </p:nvSpPr>
          <p:spPr>
            <a:xfrm>
              <a:off x="557214" y="2009598"/>
              <a:ext cx="9648824" cy="3808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3445"/>
              <a:endParaRPr lang="ko-KR" altLang="en-US" sz="1986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31564A3-ABA4-4D88-BF84-AF114C9EFC03}"/>
                </a:ext>
              </a:extLst>
            </p:cNvPr>
            <p:cNvSpPr txBox="1"/>
            <p:nvPr/>
          </p:nvSpPr>
          <p:spPr>
            <a:xfrm>
              <a:off x="3503615" y="1872134"/>
              <a:ext cx="3756023" cy="3130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70170" rIns="170170" rtlCol="0">
              <a:spAutoFit/>
            </a:bodyPr>
            <a:lstStyle/>
            <a:p>
              <a:pPr algn="ctr" defTabSz="993445"/>
              <a:r>
                <a:rPr kumimoji="1" lang="en-US" altLang="ko-KR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NH</a:t>
              </a:r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투자증권 현황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77FB121-9F1C-4B13-B5D4-C5AE8E0CA0FA}"/>
              </a:ext>
            </a:extLst>
          </p:cNvPr>
          <p:cNvGrpSpPr/>
          <p:nvPr/>
        </p:nvGrpSpPr>
        <p:grpSpPr>
          <a:xfrm>
            <a:off x="5168901" y="1502083"/>
            <a:ext cx="4173538" cy="295915"/>
            <a:chOff x="557214" y="1872134"/>
            <a:chExt cx="9648824" cy="31300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DB390C0-0BFC-4196-AFD5-9C7F97B4617A}"/>
                </a:ext>
              </a:extLst>
            </p:cNvPr>
            <p:cNvSpPr/>
            <p:nvPr/>
          </p:nvSpPr>
          <p:spPr>
            <a:xfrm>
              <a:off x="557214" y="2009598"/>
              <a:ext cx="9648824" cy="3808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3445"/>
              <a:endParaRPr lang="ko-KR" altLang="en-US" sz="1986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195A08A-F81D-4F54-86B3-7C7C0219DDED}"/>
                </a:ext>
              </a:extLst>
            </p:cNvPr>
            <p:cNvSpPr txBox="1"/>
            <p:nvPr/>
          </p:nvSpPr>
          <p:spPr>
            <a:xfrm>
              <a:off x="4050887" y="1872134"/>
              <a:ext cx="2661479" cy="3130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70170" rIns="170170" rtlCol="0">
              <a:spAutoFit/>
            </a:bodyPr>
            <a:lstStyle/>
            <a:p>
              <a:pPr algn="ctr" defTabSz="993445"/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조직 구성</a:t>
              </a:r>
            </a:p>
          </p:txBody>
        </p:sp>
      </p:grpSp>
      <p:graphicFrame>
        <p:nvGraphicFramePr>
          <p:cNvPr id="43" name="Group 112">
            <a:extLst>
              <a:ext uri="{FF2B5EF4-FFF2-40B4-BE49-F238E27FC236}">
                <a16:creationId xmlns:a16="http://schemas.microsoft.com/office/drawing/2014/main" id="{401DF668-3D4D-47F5-9D4B-CB1C4B495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073271"/>
              </p:ext>
            </p:extLst>
          </p:nvPr>
        </p:nvGraphicFramePr>
        <p:xfrm>
          <a:off x="600076" y="1844824"/>
          <a:ext cx="4173538" cy="1912407"/>
        </p:xfrm>
        <a:graphic>
          <a:graphicData uri="http://schemas.openxmlformats.org/drawingml/2006/table">
            <a:tbl>
              <a:tblPr/>
              <a:tblGrid>
                <a:gridCol w="84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설립일</a:t>
                      </a:r>
                    </a:p>
                  </a:txBody>
                  <a:tcPr marL="100322" marR="100322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1969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년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월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일</a:t>
                      </a:r>
                    </a:p>
                  </a:txBody>
                  <a:tcPr marL="181195" marR="100322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소재지</a:t>
                      </a:r>
                    </a:p>
                  </a:txBody>
                  <a:tcPr marL="100322" marR="100322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서울시 영등포구 여의대로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108 </a:t>
                      </a:r>
                      <a:r>
                        <a:rPr kumimoji="1" lang="ko-KR" altLang="en-US" sz="1000" b="0" kern="1200" spc="-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파크원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NH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금융타워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타워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2)</a:t>
                      </a:r>
                    </a:p>
                  </a:txBody>
                  <a:tcPr marL="181195" marR="100322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대표이사</a:t>
                      </a:r>
                    </a:p>
                  </a:txBody>
                  <a:tcPr marL="100322" marR="100322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윤 병 운</a:t>
                      </a:r>
                    </a:p>
                  </a:txBody>
                  <a:tcPr marL="181195" marR="100322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2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직원현황</a:t>
                      </a:r>
                    </a:p>
                  </a:txBody>
                  <a:tcPr marL="100322" marR="100322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3,080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명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81195" marR="100322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2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주요주주</a:t>
                      </a:r>
                    </a:p>
                  </a:txBody>
                  <a:tcPr marL="100322" marR="100322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농협금융지주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57.55%,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국민연금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8.35%</a:t>
                      </a:r>
                    </a:p>
                  </a:txBody>
                  <a:tcPr marL="181195" marR="100322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2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점포망</a:t>
                      </a:r>
                    </a:p>
                  </a:txBody>
                  <a:tcPr marL="100322" marR="100322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국내지점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65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개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영업소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개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해외현지법인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개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해외사무소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개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81195" marR="100322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2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신용등급</a:t>
                      </a:r>
                    </a:p>
                  </a:txBody>
                  <a:tcPr marL="100322" marR="100322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기업신용등급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AA+ (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회사채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) -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한기평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한신평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NICE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 기준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81195" marR="100322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4" name="그룹 43">
            <a:extLst>
              <a:ext uri="{FF2B5EF4-FFF2-40B4-BE49-F238E27FC236}">
                <a16:creationId xmlns:a16="http://schemas.microsoft.com/office/drawing/2014/main" id="{D80676EA-514B-4C0E-8333-37782AD47595}"/>
              </a:ext>
            </a:extLst>
          </p:cNvPr>
          <p:cNvGrpSpPr/>
          <p:nvPr/>
        </p:nvGrpSpPr>
        <p:grpSpPr>
          <a:xfrm>
            <a:off x="5169024" y="1844824"/>
            <a:ext cx="4173538" cy="1912407"/>
            <a:chOff x="5663847" y="4326484"/>
            <a:chExt cx="4577040" cy="2658219"/>
          </a:xfrm>
        </p:grpSpPr>
        <p:sp>
          <p:nvSpPr>
            <p:cNvPr id="45" name="모서리가 둥근 직사각형 85">
              <a:extLst>
                <a:ext uri="{FF2B5EF4-FFF2-40B4-BE49-F238E27FC236}">
                  <a16:creationId xmlns:a16="http://schemas.microsoft.com/office/drawing/2014/main" id="{B46A0392-3AAB-4E41-B764-7A08E1953FB8}"/>
                </a:ext>
              </a:extLst>
            </p:cNvPr>
            <p:cNvSpPr/>
            <p:nvPr/>
          </p:nvSpPr>
          <p:spPr>
            <a:xfrm>
              <a:off x="5663847" y="4326484"/>
              <a:ext cx="4577040" cy="2658219"/>
            </a:xfrm>
            <a:prstGeom prst="roundRect">
              <a:avLst>
                <a:gd name="adj" fmla="val 301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0" tIns="45716" rIns="91430" bIns="45716" rtlCol="0" anchor="ctr"/>
            <a:lstStyle/>
            <a:p>
              <a:pPr algn="ctr"/>
              <a:endParaRPr lang="ko-KR" altLang="en-US" sz="20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570E6F9-11D7-4C6E-91D3-5B4E9CE50E30}"/>
                </a:ext>
              </a:extLst>
            </p:cNvPr>
            <p:cNvSpPr/>
            <p:nvPr/>
          </p:nvSpPr>
          <p:spPr>
            <a:xfrm>
              <a:off x="5817132" y="4440079"/>
              <a:ext cx="1279473" cy="288000"/>
            </a:xfrm>
            <a:prstGeom prst="rect">
              <a:avLst/>
            </a:prstGeom>
            <a:solidFill>
              <a:srgbClr val="074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55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I B 1 </a:t>
              </a:r>
              <a:r>
                <a:rPr kumimoji="1" lang="ko-KR" altLang="en-US" sz="1000" b="1" spc="-155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사 업 부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098EA8F-6242-46EE-BFED-89958FD389D7}"/>
                </a:ext>
              </a:extLst>
            </p:cNvPr>
            <p:cNvSpPr/>
            <p:nvPr/>
          </p:nvSpPr>
          <p:spPr>
            <a:xfrm>
              <a:off x="7324260" y="4440079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en-US" altLang="ko-KR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IB 2</a:t>
              </a: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사업부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F22AE94D-7EC5-43CC-AA11-6E5B131C2B74}"/>
                </a:ext>
              </a:extLst>
            </p:cNvPr>
            <p:cNvSpPr/>
            <p:nvPr/>
          </p:nvSpPr>
          <p:spPr>
            <a:xfrm>
              <a:off x="8831388" y="4440079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리서치본부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049EE010-0F05-4369-99E4-1063BE71594F}"/>
                </a:ext>
              </a:extLst>
            </p:cNvPr>
            <p:cNvSpPr/>
            <p:nvPr/>
          </p:nvSpPr>
          <p:spPr>
            <a:xfrm>
              <a:off x="7324260" y="4862625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en-US" altLang="ko-KR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PE</a:t>
              </a: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본부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3162AB0-3782-48B6-873A-E0759B0AE63F}"/>
                </a:ext>
              </a:extLst>
            </p:cNvPr>
            <p:cNvSpPr/>
            <p:nvPr/>
          </p:nvSpPr>
          <p:spPr>
            <a:xfrm>
              <a:off x="8831388" y="4862625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en-US" altLang="ko-KR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Wholesale</a:t>
              </a: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사업부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8AEDBD65-F090-4744-8C37-3AACB78D08F3}"/>
                </a:ext>
              </a:extLst>
            </p:cNvPr>
            <p:cNvSpPr/>
            <p:nvPr/>
          </p:nvSpPr>
          <p:spPr>
            <a:xfrm>
              <a:off x="7324260" y="5310571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4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en-US" altLang="ko-KR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O&amp;T</a:t>
              </a: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부문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FFAB001A-3F2A-410A-AC78-FF25E731CC34}"/>
                </a:ext>
              </a:extLst>
            </p:cNvPr>
            <p:cNvSpPr/>
            <p:nvPr/>
          </p:nvSpPr>
          <p:spPr>
            <a:xfrm>
              <a:off x="8831388" y="5310571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en-US" altLang="ko-KR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Global</a:t>
              </a: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사업본부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DE75A56-6AEB-45AF-8FDD-188698A1A9C0}"/>
                </a:ext>
              </a:extLst>
            </p:cNvPr>
            <p:cNvSpPr/>
            <p:nvPr/>
          </p:nvSpPr>
          <p:spPr>
            <a:xfrm>
              <a:off x="5817131" y="4862625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en-US" altLang="ko-KR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Retail</a:t>
              </a: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사업총괄부문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008AA552-2483-4C7B-A8C4-5826CA56BCA8}"/>
                </a:ext>
              </a:extLst>
            </p:cNvPr>
            <p:cNvSpPr/>
            <p:nvPr/>
          </p:nvSpPr>
          <p:spPr>
            <a:xfrm>
              <a:off x="5817131" y="5310571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en-US" altLang="ko-KR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OCIO</a:t>
              </a: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사업부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47232892-DD90-4E9F-A8D9-398838667410}"/>
                </a:ext>
              </a:extLst>
            </p:cNvPr>
            <p:cNvSpPr/>
            <p:nvPr/>
          </p:nvSpPr>
          <p:spPr>
            <a:xfrm>
              <a:off x="7324260" y="5745817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경영전략본부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98A35D8-2E9A-45EF-988C-47D559D093A2}"/>
                </a:ext>
              </a:extLst>
            </p:cNvPr>
            <p:cNvSpPr/>
            <p:nvPr/>
          </p:nvSpPr>
          <p:spPr>
            <a:xfrm>
              <a:off x="8831388" y="5745817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ko-KR" altLang="en-US" sz="1000" spc="-73" dirty="0" err="1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리스크관리본부</a:t>
              </a:r>
              <a:endParaRPr kumimoji="1" lang="ko-KR" altLang="en-US" sz="1000" spc="-73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itchFamily="18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5AF667E0-91BE-40AE-A250-8E87E963EBA6}"/>
                </a:ext>
              </a:extLst>
            </p:cNvPr>
            <p:cNvSpPr/>
            <p:nvPr/>
          </p:nvSpPr>
          <p:spPr>
            <a:xfrm>
              <a:off x="7309004" y="6155663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준법지원본부</a:t>
              </a: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C51A4439-0A87-44CC-B67B-D0BA06098B14}"/>
                </a:ext>
              </a:extLst>
            </p:cNvPr>
            <p:cNvSpPr/>
            <p:nvPr/>
          </p:nvSpPr>
          <p:spPr>
            <a:xfrm>
              <a:off x="8816133" y="6130014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ko-KR" altLang="en-US" sz="9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금융소비자보호본부</a:t>
              </a: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B51C346A-FBD1-4191-B01A-E028B088DF4E}"/>
                </a:ext>
              </a:extLst>
            </p:cNvPr>
            <p:cNvSpPr/>
            <p:nvPr/>
          </p:nvSpPr>
          <p:spPr>
            <a:xfrm>
              <a:off x="5817131" y="5745817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운용사업부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42C3784F-3FAC-489F-A0CD-134A4629EDDE}"/>
                </a:ext>
              </a:extLst>
            </p:cNvPr>
            <p:cNvSpPr/>
            <p:nvPr/>
          </p:nvSpPr>
          <p:spPr>
            <a:xfrm>
              <a:off x="5817131" y="6155663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정보보호본부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7B11E64F-3BDC-494C-9752-8EC7545345BC}"/>
                </a:ext>
              </a:extLst>
            </p:cNvPr>
            <p:cNvSpPr/>
            <p:nvPr/>
          </p:nvSpPr>
          <p:spPr>
            <a:xfrm>
              <a:off x="5817131" y="6587463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경영지원부문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2F8A0031-FBF1-45CD-A74D-02F1D0E941D7}"/>
                </a:ext>
              </a:extLst>
            </p:cNvPr>
            <p:cNvSpPr/>
            <p:nvPr/>
          </p:nvSpPr>
          <p:spPr>
            <a:xfrm>
              <a:off x="7315730" y="6587463"/>
              <a:ext cx="1279473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48316" eaLnBrk="0" fontAlgn="base" latinLnBrk="0" hangingPunct="0">
                <a:lnSpc>
                  <a:spcPts val="1154"/>
                </a:lnSpc>
                <a:spcBef>
                  <a:spcPts val="311"/>
                </a:spcBef>
                <a:spcAft>
                  <a:spcPct val="0"/>
                </a:spcAft>
              </a:pPr>
              <a:r>
                <a:rPr kumimoji="1" lang="ko-KR" altLang="en-US" sz="1000" spc="-73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사회공헌단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7F104E5-343D-40DD-89E3-8D96334A529C}"/>
              </a:ext>
            </a:extLst>
          </p:cNvPr>
          <p:cNvGrpSpPr/>
          <p:nvPr/>
        </p:nvGrpSpPr>
        <p:grpSpPr>
          <a:xfrm>
            <a:off x="600075" y="3825044"/>
            <a:ext cx="4173538" cy="295915"/>
            <a:chOff x="557214" y="1872134"/>
            <a:chExt cx="9648824" cy="313009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1FD4E84-513B-4EAD-B5B3-DE5405501E0B}"/>
                </a:ext>
              </a:extLst>
            </p:cNvPr>
            <p:cNvSpPr/>
            <p:nvPr/>
          </p:nvSpPr>
          <p:spPr>
            <a:xfrm>
              <a:off x="557214" y="2009598"/>
              <a:ext cx="9648824" cy="3808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3445"/>
              <a:endParaRPr lang="ko-KR" altLang="en-US" sz="1986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D440496-2AE4-4A95-9E43-B033C3BA805A}"/>
                </a:ext>
              </a:extLst>
            </p:cNvPr>
            <p:cNvSpPr txBox="1"/>
            <p:nvPr/>
          </p:nvSpPr>
          <p:spPr>
            <a:xfrm>
              <a:off x="3503615" y="1872134"/>
              <a:ext cx="3756023" cy="3130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70170" rIns="170170" rtlCol="0">
              <a:spAutoFit/>
            </a:bodyPr>
            <a:lstStyle/>
            <a:p>
              <a:pPr algn="ctr" defTabSz="993445"/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주요 연혁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86CE02D5-AF62-42CB-8BD6-0E9876873D29}"/>
              </a:ext>
            </a:extLst>
          </p:cNvPr>
          <p:cNvGrpSpPr/>
          <p:nvPr/>
        </p:nvGrpSpPr>
        <p:grpSpPr>
          <a:xfrm>
            <a:off x="5168900" y="3825044"/>
            <a:ext cx="4173539" cy="295915"/>
            <a:chOff x="557214" y="1872134"/>
            <a:chExt cx="9648824" cy="313009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D2B13BE2-7375-4270-A7AC-105417334B7D}"/>
                </a:ext>
              </a:extLst>
            </p:cNvPr>
            <p:cNvSpPr/>
            <p:nvPr/>
          </p:nvSpPr>
          <p:spPr>
            <a:xfrm>
              <a:off x="557214" y="2009598"/>
              <a:ext cx="9648824" cy="3808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3445"/>
              <a:endParaRPr lang="ko-KR" altLang="en-US" sz="1986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1B491AD-59F5-46F9-BEBD-DA22081E2DB3}"/>
                </a:ext>
              </a:extLst>
            </p:cNvPr>
            <p:cNvSpPr txBox="1"/>
            <p:nvPr/>
          </p:nvSpPr>
          <p:spPr>
            <a:xfrm>
              <a:off x="4050887" y="1872134"/>
              <a:ext cx="2661479" cy="3130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70170" rIns="170170" rtlCol="0">
              <a:spAutoFit/>
            </a:bodyPr>
            <a:lstStyle/>
            <a:p>
              <a:pPr algn="ctr" defTabSz="993445"/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재무 현황</a:t>
              </a:r>
            </a:p>
          </p:txBody>
        </p:sp>
      </p:grpSp>
      <p:graphicFrame>
        <p:nvGraphicFramePr>
          <p:cNvPr id="69" name="Group 113">
            <a:extLst>
              <a:ext uri="{FF2B5EF4-FFF2-40B4-BE49-F238E27FC236}">
                <a16:creationId xmlns:a16="http://schemas.microsoft.com/office/drawing/2014/main" id="{68FE8A11-9086-48A1-989D-95578CE49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961574"/>
              </p:ext>
            </p:extLst>
          </p:nvPr>
        </p:nvGraphicFramePr>
        <p:xfrm>
          <a:off x="596900" y="4184144"/>
          <a:ext cx="4173538" cy="2332601"/>
        </p:xfrm>
        <a:graphic>
          <a:graphicData uri="http://schemas.openxmlformats.org/drawingml/2006/table">
            <a:tbl>
              <a:tblPr/>
              <a:tblGrid>
                <a:gridCol w="467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연 도</a:t>
                      </a:r>
                      <a:endParaRPr kumimoji="1" lang="en-US" altLang="ko-KR" sz="1000" b="1" kern="1200" spc="-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내 용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742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NH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헤지자산운용 출범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64349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해외신용등급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( S&amp;P)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A-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취득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단기금융업인가 취득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036140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초대형 투자은행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(IB)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선정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88371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2016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증권사 최초 </a:t>
                      </a:r>
                      <a:r>
                        <a:rPr kumimoji="1" lang="ko-KR" altLang="en-US" sz="1000" b="0" kern="1200" spc="-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헤지펀드운용업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 진출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387009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2014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NH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투자증권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우리투자증권 합병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/ NH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농협금융지주 자회사 편입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529634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2009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베트남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CBV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증권사 인수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2008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싱가포르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IB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센터 개소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2007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베트남 사무소 개소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2005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우리증권 합병 후 우리투자증권으로 </a:t>
                      </a:r>
                      <a:r>
                        <a:rPr kumimoji="1" lang="ko-KR" altLang="en-US" sz="1000" b="0" kern="1200" spc="-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상호변경</a:t>
                      </a:r>
                      <a:endParaRPr kumimoji="1" lang="ko-KR" altLang="en-US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1990s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뉴욕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런던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홍콩 현지법인 진출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/ LG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종금과 합병 후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LG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투자증권으로 상호변경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1980s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대보증권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1" lang="ko-KR" altLang="en-US" sz="1000" b="0" kern="1200" spc="-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럭키증권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 합병 후 럭키증권으로 상호변경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1970s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대보증권으로 상호 변경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8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1960s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한보증권주식회사 설립</a:t>
                      </a:r>
                    </a:p>
                  </a:txBody>
                  <a:tcPr marL="35989" marR="35989" marT="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0569298-40BA-436D-8812-584C0054C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899872"/>
              </p:ext>
            </p:extLst>
          </p:nvPr>
        </p:nvGraphicFramePr>
        <p:xfrm>
          <a:off x="5168901" y="4178612"/>
          <a:ext cx="4185506" cy="2338134"/>
        </p:xfrm>
        <a:graphic>
          <a:graphicData uri="http://schemas.openxmlformats.org/drawingml/2006/table">
            <a:tbl>
              <a:tblPr/>
              <a:tblGrid>
                <a:gridCol w="927289">
                  <a:extLst>
                    <a:ext uri="{9D8B030D-6E8A-4147-A177-3AD203B41FA5}">
                      <a16:colId xmlns:a16="http://schemas.microsoft.com/office/drawing/2014/main" val="1987915282"/>
                    </a:ext>
                  </a:extLst>
                </a:gridCol>
                <a:gridCol w="843076">
                  <a:extLst>
                    <a:ext uri="{9D8B030D-6E8A-4147-A177-3AD203B41FA5}">
                      <a16:colId xmlns:a16="http://schemas.microsoft.com/office/drawing/2014/main" val="2865260677"/>
                    </a:ext>
                  </a:extLst>
                </a:gridCol>
                <a:gridCol w="805047">
                  <a:extLst>
                    <a:ext uri="{9D8B030D-6E8A-4147-A177-3AD203B41FA5}">
                      <a16:colId xmlns:a16="http://schemas.microsoft.com/office/drawing/2014/main" val="3412798497"/>
                    </a:ext>
                  </a:extLst>
                </a:gridCol>
                <a:gridCol w="805047">
                  <a:extLst>
                    <a:ext uri="{9D8B030D-6E8A-4147-A177-3AD203B41FA5}">
                      <a16:colId xmlns:a16="http://schemas.microsoft.com/office/drawing/2014/main" val="1415045770"/>
                    </a:ext>
                  </a:extLst>
                </a:gridCol>
                <a:gridCol w="805047">
                  <a:extLst>
                    <a:ext uri="{9D8B030D-6E8A-4147-A177-3AD203B41FA5}">
                      <a16:colId xmlns:a16="http://schemas.microsoft.com/office/drawing/2014/main" val="591016841"/>
                    </a:ext>
                  </a:extLst>
                </a:gridCol>
              </a:tblGrid>
              <a:tr h="38968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재무수치 및 수익성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26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19318959"/>
                  </a:ext>
                </a:extLst>
              </a:tr>
              <a:tr h="3896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구  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FY2021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FY2022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FY202</a:t>
                      </a:r>
                      <a:r>
                        <a:rPr kumimoji="1" lang="en-US" altLang="ko-KR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sz="1000" b="1" kern="1200" spc="-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FY2024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2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400770"/>
                  </a:ext>
                </a:extLst>
              </a:tr>
              <a:tr h="3896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자산 총계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585,420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534,283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566,979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624,271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574612"/>
                  </a:ext>
                </a:extLst>
              </a:tr>
              <a:tr h="3896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부채 총계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517,187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462,002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490,845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543,077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709882"/>
                  </a:ext>
                </a:extLst>
              </a:tr>
              <a:tr h="3896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자본 총계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68,233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72,281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76,134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81,194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900187"/>
                  </a:ext>
                </a:extLst>
              </a:tr>
              <a:tr h="3896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영업이익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12,939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5,214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7,258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9,011</a:t>
                      </a:r>
                    </a:p>
                  </a:txBody>
                  <a:tcPr marR="4762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176149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D64F44AC-153C-4E4C-8C23-A772F9B9EB70}"/>
              </a:ext>
            </a:extLst>
          </p:cNvPr>
          <p:cNvSpPr txBox="1"/>
          <p:nvPr/>
        </p:nvSpPr>
        <p:spPr>
          <a:xfrm>
            <a:off x="4808984" y="4041068"/>
            <a:ext cx="4539493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>
              <a:buClr>
                <a:srgbClr val="336699"/>
              </a:buClr>
              <a:tabLst>
                <a:tab pos="133350" algn="l"/>
                <a:tab pos="268288" algn="l"/>
              </a:tabLst>
              <a:defRPr sz="800" kern="100" spc="-100">
                <a:latin typeface="나눔고딕" panose="020D0604000000000000" pitchFamily="50" charset="-127"/>
                <a:ea typeface="나눔고딕" panose="020D0604000000000000" pitchFamily="50" charset="-127"/>
                <a:cs typeface="Times New Roman"/>
              </a:defRPr>
            </a:lvl1pPr>
          </a:lstStyle>
          <a:p>
            <a:pPr algn="r"/>
            <a:r>
              <a:rPr lang="en-US" altLang="ko-KR" dirty="0"/>
              <a:t>(</a:t>
            </a:r>
            <a:r>
              <a:rPr lang="ko-KR" altLang="en-US" dirty="0"/>
              <a:t>단위 </a:t>
            </a:r>
            <a:r>
              <a:rPr lang="en-US" altLang="ko-KR" dirty="0"/>
              <a:t>: </a:t>
            </a:r>
            <a:r>
              <a:rPr lang="ko-KR" altLang="en-US" dirty="0"/>
              <a:t>억원</a:t>
            </a:r>
            <a:r>
              <a:rPr lang="en-US" altLang="ko-KR" dirty="0"/>
              <a:t>)</a:t>
            </a:r>
          </a:p>
        </p:txBody>
      </p:sp>
      <p:sp>
        <p:nvSpPr>
          <p:cNvPr id="73" name="TextBox 7">
            <a:extLst>
              <a:ext uri="{FF2B5EF4-FFF2-40B4-BE49-F238E27FC236}">
                <a16:creationId xmlns:a16="http://schemas.microsoft.com/office/drawing/2014/main" id="{61AB4C85-E1B7-4F99-8497-4579889B1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40" y="1032911"/>
            <a:ext cx="8646103" cy="45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8234" tIns="39143" rIns="78234" bIns="39143" anchor="ctr" anchorCtr="0">
            <a:noAutofit/>
          </a:bodyPr>
          <a:lstStyle/>
          <a:p>
            <a:pPr algn="ctr" defTabSz="783344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NH</a:t>
            </a:r>
            <a:r>
              <a:rPr kumimoji="1" lang="ko-KR" altLang="en-US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투자증권은 국내 최대 규모와 역사를 갖춘 </a:t>
            </a:r>
            <a:r>
              <a:rPr kumimoji="1" lang="en-US" altLang="ko-KR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Top-Tier </a:t>
            </a:r>
            <a:r>
              <a:rPr kumimoji="1" lang="ko-KR" altLang="en-US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금융투자회사</a:t>
            </a:r>
          </a:p>
        </p:txBody>
      </p:sp>
      <p:sp>
        <p:nvSpPr>
          <p:cNvPr id="74" name="텍스트 개체 틀 8">
            <a:extLst>
              <a:ext uri="{FF2B5EF4-FFF2-40B4-BE49-F238E27FC236}">
                <a16:creationId xmlns:a16="http://schemas.microsoft.com/office/drawing/2014/main" id="{38500B51-834A-45EC-91BD-1B9E03569AA6}"/>
              </a:ext>
            </a:extLst>
          </p:cNvPr>
          <p:cNvSpPr txBox="1">
            <a:spLocks/>
          </p:cNvSpPr>
          <p:nvPr/>
        </p:nvSpPr>
        <p:spPr>
          <a:xfrm>
            <a:off x="741125" y="361127"/>
            <a:ext cx="6048079" cy="5040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300"/>
              </a:spcAft>
            </a:pP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회사 현황</a:t>
            </a:r>
            <a:endParaRPr lang="en-US" altLang="ko-KR" sz="20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8167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B26F4EEC-295E-45B3-9C06-BB6EDF2BF02B}"/>
              </a:ext>
            </a:extLst>
          </p:cNvPr>
          <p:cNvGrpSpPr/>
          <p:nvPr/>
        </p:nvGrpSpPr>
        <p:grpSpPr>
          <a:xfrm>
            <a:off x="600075" y="1484784"/>
            <a:ext cx="4173538" cy="295915"/>
            <a:chOff x="557214" y="1872134"/>
            <a:chExt cx="9648824" cy="313009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6FFE4E1F-FBBF-4719-BF1E-30E6177901CB}"/>
                </a:ext>
              </a:extLst>
            </p:cNvPr>
            <p:cNvSpPr/>
            <p:nvPr/>
          </p:nvSpPr>
          <p:spPr>
            <a:xfrm>
              <a:off x="557214" y="2009598"/>
              <a:ext cx="9648824" cy="3808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3445"/>
              <a:endParaRPr lang="ko-KR" altLang="en-US" sz="1986" b="1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53DA5BE-F00C-405D-9D63-958062E479A2}"/>
                </a:ext>
              </a:extLst>
            </p:cNvPr>
            <p:cNvSpPr txBox="1"/>
            <p:nvPr/>
          </p:nvSpPr>
          <p:spPr>
            <a:xfrm>
              <a:off x="2118582" y="1872134"/>
              <a:ext cx="6526087" cy="3130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70170" rIns="170170" rtlCol="0">
              <a:spAutoFit/>
            </a:bodyPr>
            <a:lstStyle/>
            <a:p>
              <a:pPr algn="ctr" defTabSz="993445"/>
              <a:r>
                <a:rPr kumimoji="1" lang="en-US" altLang="ko-KR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NH</a:t>
              </a:r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투자증권 </a:t>
              </a:r>
              <a:r>
                <a:rPr kumimoji="1" lang="en-US" altLang="ko-KR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Retail </a:t>
              </a:r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영업 조직 현황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56F25A6-7924-4136-ACF5-CE05BB496FFE}"/>
              </a:ext>
            </a:extLst>
          </p:cNvPr>
          <p:cNvGrpSpPr/>
          <p:nvPr/>
        </p:nvGrpSpPr>
        <p:grpSpPr>
          <a:xfrm>
            <a:off x="5169024" y="1484784"/>
            <a:ext cx="4173538" cy="295915"/>
            <a:chOff x="557214" y="1872134"/>
            <a:chExt cx="9648824" cy="313009"/>
          </a:xfrm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0408446E-5853-4D38-92C0-703B7782162C}"/>
                </a:ext>
              </a:extLst>
            </p:cNvPr>
            <p:cNvSpPr/>
            <p:nvPr/>
          </p:nvSpPr>
          <p:spPr>
            <a:xfrm>
              <a:off x="557214" y="2009598"/>
              <a:ext cx="9648824" cy="3808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3445"/>
              <a:endParaRPr lang="ko-KR" altLang="en-US" sz="1986" b="1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F0D6B97-70AC-4395-8B20-A21C3B3B78EE}"/>
                </a:ext>
              </a:extLst>
            </p:cNvPr>
            <p:cNvSpPr txBox="1"/>
            <p:nvPr/>
          </p:nvSpPr>
          <p:spPr>
            <a:xfrm>
              <a:off x="2627939" y="1872134"/>
              <a:ext cx="5507374" cy="3130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70170" rIns="170170" rtlCol="0">
              <a:spAutoFit/>
            </a:bodyPr>
            <a:lstStyle/>
            <a:p>
              <a:pPr algn="ctr" defTabSz="993445"/>
              <a:r>
                <a:rPr kumimoji="1" lang="en-US" altLang="ko-KR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NH</a:t>
              </a:r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투자증권 </a:t>
              </a:r>
              <a:r>
                <a:rPr kumimoji="1" lang="en-US" altLang="ko-KR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PB</a:t>
              </a:r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센터 현황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511705BE-B630-4DE3-BCC7-3D6B2387E2EE}"/>
              </a:ext>
            </a:extLst>
          </p:cNvPr>
          <p:cNvSpPr txBox="1"/>
          <p:nvPr/>
        </p:nvSpPr>
        <p:spPr>
          <a:xfrm>
            <a:off x="380492" y="6035789"/>
            <a:ext cx="4608512" cy="30953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ko-KR"/>
            </a:defPPr>
            <a:lvl1pPr algn="ctr">
              <a:lnSpc>
                <a:spcPct val="130000"/>
              </a:lnSpc>
              <a:spcAft>
                <a:spcPts val="600"/>
              </a:spcAft>
              <a:buClr>
                <a:schemeClr val="tx2"/>
              </a:buClr>
              <a:defRPr sz="1400" b="1" i="0" u="sng">
                <a:solidFill>
                  <a:srgbClr val="0000FF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solidFill>
                  <a:srgbClr val="074269"/>
                </a:solidFill>
              </a:rPr>
              <a:t>전국 총 </a:t>
            </a:r>
            <a:r>
              <a:rPr lang="en-US" altLang="ko-KR" dirty="0">
                <a:solidFill>
                  <a:srgbClr val="074269"/>
                </a:solidFill>
              </a:rPr>
              <a:t>65</a:t>
            </a:r>
            <a:r>
              <a:rPr lang="ko-KR" altLang="en-US" dirty="0">
                <a:solidFill>
                  <a:srgbClr val="074269"/>
                </a:solidFill>
              </a:rPr>
              <a:t>개 지점</a:t>
            </a:r>
            <a:r>
              <a:rPr lang="en-US" altLang="ko-KR" dirty="0">
                <a:solidFill>
                  <a:srgbClr val="074269"/>
                </a:solidFill>
              </a:rPr>
              <a:t>, 3</a:t>
            </a:r>
            <a:r>
              <a:rPr lang="ko-KR" altLang="en-US" dirty="0">
                <a:solidFill>
                  <a:srgbClr val="074269"/>
                </a:solidFill>
              </a:rPr>
              <a:t>개 영업소</a:t>
            </a:r>
            <a:r>
              <a:rPr lang="en-US" altLang="ko-KR" dirty="0">
                <a:solidFill>
                  <a:srgbClr val="074269"/>
                </a:solidFill>
              </a:rPr>
              <a:t>, </a:t>
            </a:r>
            <a:r>
              <a:rPr lang="ko-KR" altLang="en-US" dirty="0">
                <a:solidFill>
                  <a:srgbClr val="074269"/>
                </a:solidFill>
              </a:rPr>
              <a:t>영업사원 </a:t>
            </a:r>
            <a:r>
              <a:rPr lang="en-US" altLang="ko-KR" dirty="0">
                <a:solidFill>
                  <a:srgbClr val="074269"/>
                </a:solidFill>
              </a:rPr>
              <a:t>510</a:t>
            </a:r>
            <a:r>
              <a:rPr lang="ko-KR" altLang="en-US" dirty="0">
                <a:solidFill>
                  <a:srgbClr val="074269"/>
                </a:solidFill>
              </a:rPr>
              <a:t>명 보유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8DB281E5-C510-46B6-AA26-4924C3002AA9}"/>
              </a:ext>
            </a:extLst>
          </p:cNvPr>
          <p:cNvGrpSpPr/>
          <p:nvPr/>
        </p:nvGrpSpPr>
        <p:grpSpPr>
          <a:xfrm>
            <a:off x="600075" y="1808820"/>
            <a:ext cx="4173538" cy="4149151"/>
            <a:chOff x="593438" y="2803382"/>
            <a:chExt cx="4415757" cy="4149151"/>
          </a:xfrm>
        </p:grpSpPr>
        <p:cxnSp>
          <p:nvCxnSpPr>
            <p:cNvPr id="81" name="연결선: 꺾임 80">
              <a:extLst>
                <a:ext uri="{FF2B5EF4-FFF2-40B4-BE49-F238E27FC236}">
                  <a16:creationId xmlns:a16="http://schemas.microsoft.com/office/drawing/2014/main" id="{1DB4196B-A232-4EC9-A8CE-DA19FF0B9EE0}"/>
                </a:ext>
              </a:extLst>
            </p:cNvPr>
            <p:cNvCxnSpPr>
              <a:stCxn id="107" idx="0"/>
              <a:endCxn id="128" idx="3"/>
            </p:cNvCxnSpPr>
            <p:nvPr/>
          </p:nvCxnSpPr>
          <p:spPr>
            <a:xfrm rot="16200000" flipV="1">
              <a:off x="2018153" y="6388276"/>
              <a:ext cx="274201" cy="294793"/>
            </a:xfrm>
            <a:prstGeom prst="bentConnector2">
              <a:avLst/>
            </a:prstGeom>
            <a:ln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2" name="Picture 2" descr="http://upload.wikimedia.org/wikipedia/commons/e/ee/1956_South_Korean_election_result_map.png">
              <a:extLst>
                <a:ext uri="{FF2B5EF4-FFF2-40B4-BE49-F238E27FC236}">
                  <a16:creationId xmlns:a16="http://schemas.microsoft.com/office/drawing/2014/main" id="{1553475D-1DD2-478D-9905-961E3042D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3852" y="3148179"/>
              <a:ext cx="2551357" cy="3764515"/>
            </a:xfrm>
            <a:prstGeom prst="rect">
              <a:avLst/>
            </a:prstGeom>
            <a:noFill/>
          </p:spPr>
        </p:pic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DAC0DB42-ED9B-46C8-94E9-EFC6755F92EE}"/>
                </a:ext>
              </a:extLst>
            </p:cNvPr>
            <p:cNvSpPr/>
            <p:nvPr/>
          </p:nvSpPr>
          <p:spPr>
            <a:xfrm>
              <a:off x="3045743" y="3598326"/>
              <a:ext cx="97991" cy="9995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96BDE5B-C74C-4CEB-8E82-7CCF1CDD203B}"/>
                </a:ext>
              </a:extLst>
            </p:cNvPr>
            <p:cNvSpPr/>
            <p:nvPr/>
          </p:nvSpPr>
          <p:spPr>
            <a:xfrm>
              <a:off x="3215536" y="4819452"/>
              <a:ext cx="97991" cy="9995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266DF553-2916-4B4D-8661-5F0D1798477E}"/>
                </a:ext>
              </a:extLst>
            </p:cNvPr>
            <p:cNvSpPr/>
            <p:nvPr/>
          </p:nvSpPr>
          <p:spPr>
            <a:xfrm>
              <a:off x="3160608" y="5564366"/>
              <a:ext cx="97991" cy="9995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86" name="연결선: 꺾임 245">
              <a:extLst>
                <a:ext uri="{FF2B5EF4-FFF2-40B4-BE49-F238E27FC236}">
                  <a16:creationId xmlns:a16="http://schemas.microsoft.com/office/drawing/2014/main" id="{175830F1-CD66-4423-B47A-3E31B9D95A44}"/>
                </a:ext>
              </a:extLst>
            </p:cNvPr>
            <p:cNvCxnSpPr>
              <a:cxnSpLocks/>
              <a:stCxn id="92" idx="1"/>
              <a:endCxn id="83" idx="0"/>
            </p:cNvCxnSpPr>
            <p:nvPr/>
          </p:nvCxnSpPr>
          <p:spPr>
            <a:xfrm rot="10800000" flipV="1">
              <a:off x="3094739" y="3034650"/>
              <a:ext cx="522512" cy="563675"/>
            </a:xfrm>
            <a:prstGeom prst="bentConnector2">
              <a:avLst/>
            </a:prstGeom>
            <a:ln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연결선: 꺾임 246">
              <a:extLst>
                <a:ext uri="{FF2B5EF4-FFF2-40B4-BE49-F238E27FC236}">
                  <a16:creationId xmlns:a16="http://schemas.microsoft.com/office/drawing/2014/main" id="{4CCBB1C8-A9B1-4133-865C-B83311527473}"/>
                </a:ext>
              </a:extLst>
            </p:cNvPr>
            <p:cNvCxnSpPr>
              <a:cxnSpLocks/>
              <a:stCxn id="96" idx="1"/>
              <a:endCxn id="84" idx="0"/>
            </p:cNvCxnSpPr>
            <p:nvPr/>
          </p:nvCxnSpPr>
          <p:spPr>
            <a:xfrm rot="10800000" flipV="1">
              <a:off x="3264533" y="3995728"/>
              <a:ext cx="352719" cy="823723"/>
            </a:xfrm>
            <a:prstGeom prst="bentConnector2">
              <a:avLst/>
            </a:prstGeom>
            <a:ln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28390EA5-E7A7-4FC7-B752-5A3B35388BBC}"/>
                </a:ext>
              </a:extLst>
            </p:cNvPr>
            <p:cNvSpPr/>
            <p:nvPr/>
          </p:nvSpPr>
          <p:spPr>
            <a:xfrm>
              <a:off x="2371311" y="5732205"/>
              <a:ext cx="97991" cy="9995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89" name="연결선: 꺾임 248">
              <a:extLst>
                <a:ext uri="{FF2B5EF4-FFF2-40B4-BE49-F238E27FC236}">
                  <a16:creationId xmlns:a16="http://schemas.microsoft.com/office/drawing/2014/main" id="{B249AD9E-B5B3-4A51-A691-8010FE3EEC15}"/>
                </a:ext>
              </a:extLst>
            </p:cNvPr>
            <p:cNvCxnSpPr>
              <a:cxnSpLocks/>
              <a:stCxn id="100" idx="1"/>
              <a:endCxn id="85" idx="0"/>
            </p:cNvCxnSpPr>
            <p:nvPr/>
          </p:nvCxnSpPr>
          <p:spPr>
            <a:xfrm rot="10800000" flipV="1">
              <a:off x="3209605" y="5041078"/>
              <a:ext cx="407647" cy="523287"/>
            </a:xfrm>
            <a:prstGeom prst="bentConnector2">
              <a:avLst/>
            </a:prstGeom>
            <a:ln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연결선: 꺾임 249">
              <a:extLst>
                <a:ext uri="{FF2B5EF4-FFF2-40B4-BE49-F238E27FC236}">
                  <a16:creationId xmlns:a16="http://schemas.microsoft.com/office/drawing/2014/main" id="{6C2237DC-8BBF-4468-98D1-5611FB49A7F7}"/>
                </a:ext>
              </a:extLst>
            </p:cNvPr>
            <p:cNvCxnSpPr>
              <a:cxnSpLocks/>
              <a:stCxn id="88" idx="4"/>
              <a:endCxn id="104" idx="1"/>
            </p:cNvCxnSpPr>
            <p:nvPr/>
          </p:nvCxnSpPr>
          <p:spPr>
            <a:xfrm rot="16200000" flipH="1">
              <a:off x="2750866" y="5501604"/>
              <a:ext cx="343765" cy="1004882"/>
            </a:xfrm>
            <a:prstGeom prst="bentConnector2">
              <a:avLst/>
            </a:prstGeom>
            <a:ln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사각형: 둥근 모서리 251">
              <a:extLst>
                <a:ext uri="{FF2B5EF4-FFF2-40B4-BE49-F238E27FC236}">
                  <a16:creationId xmlns:a16="http://schemas.microsoft.com/office/drawing/2014/main" id="{CE1F2868-4183-44C7-BA54-C399F82D6C1C}"/>
                </a:ext>
              </a:extLst>
            </p:cNvPr>
            <p:cNvSpPr/>
            <p:nvPr/>
          </p:nvSpPr>
          <p:spPr>
            <a:xfrm>
              <a:off x="3533195" y="2828694"/>
              <a:ext cx="1476000" cy="720000"/>
            </a:xfrm>
            <a:prstGeom prst="roundRect">
              <a:avLst>
                <a:gd name="adj" fmla="val 8905"/>
              </a:avLst>
            </a:prstGeom>
            <a:solidFill>
              <a:srgbClr val="F5F6F8"/>
            </a:solidFill>
            <a:ln w="3175">
              <a:solidFill>
                <a:srgbClr val="9C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92" name="사각형: 둥근 모서리 252">
              <a:extLst>
                <a:ext uri="{FF2B5EF4-FFF2-40B4-BE49-F238E27FC236}">
                  <a16:creationId xmlns:a16="http://schemas.microsoft.com/office/drawing/2014/main" id="{009ACE3C-B382-4DF0-A449-4A16029F6185}"/>
                </a:ext>
              </a:extLst>
            </p:cNvPr>
            <p:cNvSpPr/>
            <p:nvPr/>
          </p:nvSpPr>
          <p:spPr>
            <a:xfrm>
              <a:off x="3617251" y="2903872"/>
              <a:ext cx="1332000" cy="261558"/>
            </a:xfrm>
            <a:prstGeom prst="roundRect">
              <a:avLst>
                <a:gd name="adj" fmla="val 20760"/>
              </a:avLst>
            </a:prstGeom>
            <a:solidFill>
              <a:schemeClr val="bg1">
                <a:lumMod val="5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E12E3C4-309E-49B5-B1F2-0C5796415028}"/>
                </a:ext>
              </a:extLst>
            </p:cNvPr>
            <p:cNvSpPr txBox="1"/>
            <p:nvPr/>
          </p:nvSpPr>
          <p:spPr>
            <a:xfrm>
              <a:off x="4026606" y="2920443"/>
              <a:ext cx="503701" cy="244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강원도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29324EC-BC78-4EF8-BBF1-11AAB33489E1}"/>
                </a:ext>
              </a:extLst>
            </p:cNvPr>
            <p:cNvSpPr txBox="1"/>
            <p:nvPr/>
          </p:nvSpPr>
          <p:spPr>
            <a:xfrm>
              <a:off x="3996165" y="3173611"/>
              <a:ext cx="564577" cy="374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3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지점</a:t>
              </a:r>
            </a:p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15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명</a:t>
              </a:r>
            </a:p>
          </p:txBody>
        </p:sp>
        <p:sp>
          <p:nvSpPr>
            <p:cNvPr id="95" name="사각형: 둥근 모서리 256">
              <a:extLst>
                <a:ext uri="{FF2B5EF4-FFF2-40B4-BE49-F238E27FC236}">
                  <a16:creationId xmlns:a16="http://schemas.microsoft.com/office/drawing/2014/main" id="{98A39AA6-2C60-4395-9A77-EF3D13305847}"/>
                </a:ext>
              </a:extLst>
            </p:cNvPr>
            <p:cNvSpPr/>
            <p:nvPr/>
          </p:nvSpPr>
          <p:spPr>
            <a:xfrm>
              <a:off x="3533195" y="3789772"/>
              <a:ext cx="1476000" cy="720000"/>
            </a:xfrm>
            <a:prstGeom prst="roundRect">
              <a:avLst>
                <a:gd name="adj" fmla="val 8905"/>
              </a:avLst>
            </a:prstGeom>
            <a:solidFill>
              <a:srgbClr val="F5F6F8"/>
            </a:solidFill>
            <a:ln w="3175">
              <a:solidFill>
                <a:srgbClr val="9C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96" name="사각형: 둥근 모서리 257">
              <a:extLst>
                <a:ext uri="{FF2B5EF4-FFF2-40B4-BE49-F238E27FC236}">
                  <a16:creationId xmlns:a16="http://schemas.microsoft.com/office/drawing/2014/main" id="{5D7436A1-39A1-455F-829D-EF59310AEC98}"/>
                </a:ext>
              </a:extLst>
            </p:cNvPr>
            <p:cNvSpPr/>
            <p:nvPr/>
          </p:nvSpPr>
          <p:spPr>
            <a:xfrm>
              <a:off x="3617251" y="3864950"/>
              <a:ext cx="1332000" cy="261558"/>
            </a:xfrm>
            <a:prstGeom prst="roundRect">
              <a:avLst>
                <a:gd name="adj" fmla="val 20760"/>
              </a:avLst>
            </a:prstGeom>
            <a:solidFill>
              <a:schemeClr val="bg1">
                <a:lumMod val="5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41EA78E-B29F-4748-A06A-731338D74D7B}"/>
                </a:ext>
              </a:extLst>
            </p:cNvPr>
            <p:cNvSpPr txBox="1"/>
            <p:nvPr/>
          </p:nvSpPr>
          <p:spPr>
            <a:xfrm>
              <a:off x="3827090" y="3890104"/>
              <a:ext cx="902731" cy="244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경상북도 </a:t>
              </a:r>
              <a:r>
                <a:rPr kumimoji="1" lang="en-US" altLang="ko-KR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/ </a:t>
              </a: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대구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2701265-75C3-4991-8D31-CA26852611A9}"/>
                </a:ext>
              </a:extLst>
            </p:cNvPr>
            <p:cNvSpPr txBox="1"/>
            <p:nvPr/>
          </p:nvSpPr>
          <p:spPr>
            <a:xfrm>
              <a:off x="3995363" y="4134689"/>
              <a:ext cx="566181" cy="374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4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지점</a:t>
              </a:r>
            </a:p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34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명</a:t>
              </a:r>
            </a:p>
          </p:txBody>
        </p:sp>
        <p:sp>
          <p:nvSpPr>
            <p:cNvPr id="99" name="사각형: 둥근 모서리 261">
              <a:extLst>
                <a:ext uri="{FF2B5EF4-FFF2-40B4-BE49-F238E27FC236}">
                  <a16:creationId xmlns:a16="http://schemas.microsoft.com/office/drawing/2014/main" id="{6AD4F983-B225-44E3-81D2-EF6816E5894D}"/>
                </a:ext>
              </a:extLst>
            </p:cNvPr>
            <p:cNvSpPr/>
            <p:nvPr/>
          </p:nvSpPr>
          <p:spPr>
            <a:xfrm>
              <a:off x="3533195" y="4835122"/>
              <a:ext cx="1476000" cy="720000"/>
            </a:xfrm>
            <a:prstGeom prst="roundRect">
              <a:avLst>
                <a:gd name="adj" fmla="val 8905"/>
              </a:avLst>
            </a:prstGeom>
            <a:solidFill>
              <a:srgbClr val="F5F6F8"/>
            </a:solidFill>
            <a:ln w="3175">
              <a:solidFill>
                <a:srgbClr val="9C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00" name="사각형: 둥근 모서리 262">
              <a:extLst>
                <a:ext uri="{FF2B5EF4-FFF2-40B4-BE49-F238E27FC236}">
                  <a16:creationId xmlns:a16="http://schemas.microsoft.com/office/drawing/2014/main" id="{8C25C347-CBAD-44B1-B7FA-A0CF19A7320E}"/>
                </a:ext>
              </a:extLst>
            </p:cNvPr>
            <p:cNvSpPr/>
            <p:nvPr/>
          </p:nvSpPr>
          <p:spPr>
            <a:xfrm>
              <a:off x="3617251" y="4910300"/>
              <a:ext cx="1332000" cy="261558"/>
            </a:xfrm>
            <a:prstGeom prst="roundRect">
              <a:avLst>
                <a:gd name="adj" fmla="val 20760"/>
              </a:avLst>
            </a:prstGeom>
            <a:solidFill>
              <a:schemeClr val="bg1">
                <a:lumMod val="5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617CDDA3-7AE1-4E24-923C-D378AE50F007}"/>
                </a:ext>
              </a:extLst>
            </p:cNvPr>
            <p:cNvSpPr txBox="1"/>
            <p:nvPr/>
          </p:nvSpPr>
          <p:spPr>
            <a:xfrm>
              <a:off x="3682059" y="4935454"/>
              <a:ext cx="1192797" cy="244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경상남도 </a:t>
              </a:r>
              <a:r>
                <a:rPr kumimoji="1" lang="en-US" altLang="ko-KR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/ </a:t>
              </a: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부산 </a:t>
              </a:r>
              <a:r>
                <a:rPr kumimoji="1" lang="en-US" altLang="ko-KR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/ </a:t>
              </a: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울산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271E57C-C1D0-48E8-8826-21F52727B2B1}"/>
                </a:ext>
              </a:extLst>
            </p:cNvPr>
            <p:cNvSpPr txBox="1"/>
            <p:nvPr/>
          </p:nvSpPr>
          <p:spPr>
            <a:xfrm>
              <a:off x="3996165" y="5180039"/>
              <a:ext cx="564578" cy="374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6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지점</a:t>
              </a:r>
            </a:p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62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명</a:t>
              </a:r>
            </a:p>
          </p:txBody>
        </p:sp>
        <p:sp>
          <p:nvSpPr>
            <p:cNvPr id="103" name="사각형: 둥근 모서리 266">
              <a:extLst>
                <a:ext uri="{FF2B5EF4-FFF2-40B4-BE49-F238E27FC236}">
                  <a16:creationId xmlns:a16="http://schemas.microsoft.com/office/drawing/2014/main" id="{BA5F71C3-25B2-4222-AB7A-142D23A99D48}"/>
                </a:ext>
              </a:extLst>
            </p:cNvPr>
            <p:cNvSpPr/>
            <p:nvPr/>
          </p:nvSpPr>
          <p:spPr>
            <a:xfrm>
              <a:off x="3341133" y="5969970"/>
              <a:ext cx="1476000" cy="720000"/>
            </a:xfrm>
            <a:prstGeom prst="roundRect">
              <a:avLst>
                <a:gd name="adj" fmla="val 8905"/>
              </a:avLst>
            </a:prstGeom>
            <a:solidFill>
              <a:srgbClr val="F5F6F8"/>
            </a:solidFill>
            <a:ln w="3175">
              <a:solidFill>
                <a:srgbClr val="9C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04" name="사각형: 둥근 모서리 267">
              <a:extLst>
                <a:ext uri="{FF2B5EF4-FFF2-40B4-BE49-F238E27FC236}">
                  <a16:creationId xmlns:a16="http://schemas.microsoft.com/office/drawing/2014/main" id="{45210C39-6D4F-4D5C-9A0F-13E3B3CE819C}"/>
                </a:ext>
              </a:extLst>
            </p:cNvPr>
            <p:cNvSpPr/>
            <p:nvPr/>
          </p:nvSpPr>
          <p:spPr>
            <a:xfrm>
              <a:off x="3425189" y="6045149"/>
              <a:ext cx="1332000" cy="261558"/>
            </a:xfrm>
            <a:prstGeom prst="roundRect">
              <a:avLst>
                <a:gd name="adj" fmla="val 20760"/>
              </a:avLst>
            </a:prstGeom>
            <a:solidFill>
              <a:schemeClr val="bg1">
                <a:lumMod val="5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C829E5D-1871-457F-B528-CA6B84A6D342}"/>
                </a:ext>
              </a:extLst>
            </p:cNvPr>
            <p:cNvSpPr txBox="1"/>
            <p:nvPr/>
          </p:nvSpPr>
          <p:spPr>
            <a:xfrm>
              <a:off x="3635029" y="6060820"/>
              <a:ext cx="902731" cy="244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전라남도 </a:t>
              </a:r>
              <a:r>
                <a:rPr kumimoji="1" lang="en-US" altLang="ko-KR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/ </a:t>
              </a: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광주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80FF318-7E87-499E-83DE-EA7A184DE597}"/>
                </a:ext>
              </a:extLst>
            </p:cNvPr>
            <p:cNvSpPr txBox="1"/>
            <p:nvPr/>
          </p:nvSpPr>
          <p:spPr>
            <a:xfrm>
              <a:off x="3532997" y="6314888"/>
              <a:ext cx="1106791" cy="374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5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지점</a:t>
              </a: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, 1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영업소</a:t>
              </a:r>
            </a:p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33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명</a:t>
              </a:r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BC7731C7-463C-47E2-82D5-30CFF4780DB7}"/>
                </a:ext>
              </a:extLst>
            </p:cNvPr>
            <p:cNvSpPr/>
            <p:nvPr/>
          </p:nvSpPr>
          <p:spPr>
            <a:xfrm>
              <a:off x="2253653" y="6672773"/>
              <a:ext cx="97991" cy="9995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DA916FBB-E18F-4381-88FB-DD01AE6C45AB}"/>
                </a:ext>
              </a:extLst>
            </p:cNvPr>
            <p:cNvSpPr/>
            <p:nvPr/>
          </p:nvSpPr>
          <p:spPr>
            <a:xfrm>
              <a:off x="2427839" y="5136621"/>
              <a:ext cx="97991" cy="9995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3388A157-8E52-4656-9033-87AA36F4B5AC}"/>
                </a:ext>
              </a:extLst>
            </p:cNvPr>
            <p:cNvSpPr/>
            <p:nvPr/>
          </p:nvSpPr>
          <p:spPr>
            <a:xfrm>
              <a:off x="2489557" y="4706753"/>
              <a:ext cx="97991" cy="9995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D62C6C83-A57A-4B01-819A-5FE01D58E383}"/>
                </a:ext>
              </a:extLst>
            </p:cNvPr>
            <p:cNvSpPr/>
            <p:nvPr/>
          </p:nvSpPr>
          <p:spPr>
            <a:xfrm>
              <a:off x="2796841" y="4290456"/>
              <a:ext cx="97991" cy="9995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111" name="연결선: 꺾임 275">
              <a:extLst>
                <a:ext uri="{FF2B5EF4-FFF2-40B4-BE49-F238E27FC236}">
                  <a16:creationId xmlns:a16="http://schemas.microsoft.com/office/drawing/2014/main" id="{3895EAE5-02F9-4E9E-A116-50953EE41372}"/>
                </a:ext>
              </a:extLst>
            </p:cNvPr>
            <p:cNvCxnSpPr>
              <a:cxnSpLocks/>
              <a:stCxn id="108" idx="2"/>
              <a:endCxn id="124" idx="3"/>
            </p:cNvCxnSpPr>
            <p:nvPr/>
          </p:nvCxnSpPr>
          <p:spPr>
            <a:xfrm rot="10800000" flipV="1">
              <a:off x="2007855" y="5186600"/>
              <a:ext cx="419984" cy="409064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연결선: 꺾임 277">
              <a:extLst>
                <a:ext uri="{FF2B5EF4-FFF2-40B4-BE49-F238E27FC236}">
                  <a16:creationId xmlns:a16="http://schemas.microsoft.com/office/drawing/2014/main" id="{8BE2FB5C-7FBF-476C-A108-11B52B130166}"/>
                </a:ext>
              </a:extLst>
            </p:cNvPr>
            <p:cNvCxnSpPr>
              <a:cxnSpLocks/>
              <a:stCxn id="110" idx="2"/>
              <a:endCxn id="120" idx="3"/>
            </p:cNvCxnSpPr>
            <p:nvPr/>
          </p:nvCxnSpPr>
          <p:spPr>
            <a:xfrm rot="10800000">
              <a:off x="2007857" y="3942353"/>
              <a:ext cx="788985" cy="398082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연결선: 꺾임 240">
              <a:extLst>
                <a:ext uri="{FF2B5EF4-FFF2-40B4-BE49-F238E27FC236}">
                  <a16:creationId xmlns:a16="http://schemas.microsoft.com/office/drawing/2014/main" id="{862CCC32-E02D-478B-B750-F9C0CDC97297}"/>
                </a:ext>
              </a:extLst>
            </p:cNvPr>
            <p:cNvCxnSpPr>
              <a:cxnSpLocks/>
              <a:stCxn id="116" idx="3"/>
              <a:endCxn id="114" idx="0"/>
            </p:cNvCxnSpPr>
            <p:nvPr/>
          </p:nvCxnSpPr>
          <p:spPr>
            <a:xfrm>
              <a:off x="2009494" y="3009341"/>
              <a:ext cx="405398" cy="772549"/>
            </a:xfrm>
            <a:prstGeom prst="bentConnector2">
              <a:avLst/>
            </a:prstGeom>
            <a:ln>
              <a:solidFill>
                <a:srgbClr val="2023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A3089A94-16AC-4A97-B87F-85870C5FA65F}"/>
                </a:ext>
              </a:extLst>
            </p:cNvPr>
            <p:cNvSpPr/>
            <p:nvPr/>
          </p:nvSpPr>
          <p:spPr>
            <a:xfrm>
              <a:off x="2365896" y="3781890"/>
              <a:ext cx="97991" cy="9995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2023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ysClr val="windowText" lastClr="000000"/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15" name="사각형: 둥근 모서리 284">
              <a:extLst>
                <a:ext uri="{FF2B5EF4-FFF2-40B4-BE49-F238E27FC236}">
                  <a16:creationId xmlns:a16="http://schemas.microsoft.com/office/drawing/2014/main" id="{11CD3C56-2B89-4F78-9FE9-0D7F23C701B2}"/>
                </a:ext>
              </a:extLst>
            </p:cNvPr>
            <p:cNvSpPr/>
            <p:nvPr/>
          </p:nvSpPr>
          <p:spPr>
            <a:xfrm>
              <a:off x="593438" y="2803382"/>
              <a:ext cx="1476000" cy="720000"/>
            </a:xfrm>
            <a:prstGeom prst="roundRect">
              <a:avLst>
                <a:gd name="adj" fmla="val 8905"/>
              </a:avLst>
            </a:prstGeom>
            <a:solidFill>
              <a:srgbClr val="F5F6F8"/>
            </a:solidFill>
            <a:ln w="3175">
              <a:solidFill>
                <a:srgbClr val="9C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16" name="사각형: 둥근 모서리 285">
              <a:extLst>
                <a:ext uri="{FF2B5EF4-FFF2-40B4-BE49-F238E27FC236}">
                  <a16:creationId xmlns:a16="http://schemas.microsoft.com/office/drawing/2014/main" id="{D4501467-839E-4BCE-A27E-1532144509B5}"/>
                </a:ext>
              </a:extLst>
            </p:cNvPr>
            <p:cNvSpPr/>
            <p:nvPr/>
          </p:nvSpPr>
          <p:spPr>
            <a:xfrm>
              <a:off x="677494" y="2878561"/>
              <a:ext cx="1332000" cy="261559"/>
            </a:xfrm>
            <a:prstGeom prst="roundRect">
              <a:avLst>
                <a:gd name="adj" fmla="val 20760"/>
              </a:avLst>
            </a:prstGeom>
            <a:solidFill>
              <a:srgbClr val="202350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AFF57C4-24AD-4DC7-A595-D240CC62D49D}"/>
                </a:ext>
              </a:extLst>
            </p:cNvPr>
            <p:cNvSpPr txBox="1"/>
            <p:nvPr/>
          </p:nvSpPr>
          <p:spPr>
            <a:xfrm>
              <a:off x="967905" y="2903824"/>
              <a:ext cx="741584" cy="244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수도권 지역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277524C-A75B-45E5-AE65-52E7F6351B97}"/>
                </a:ext>
              </a:extLst>
            </p:cNvPr>
            <p:cNvSpPr txBox="1"/>
            <p:nvPr/>
          </p:nvSpPr>
          <p:spPr>
            <a:xfrm>
              <a:off x="688074" y="3148302"/>
              <a:ext cx="1301251" cy="378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41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지점</a:t>
              </a: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, 1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영업소</a:t>
              </a:r>
            </a:p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314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명</a:t>
              </a:r>
            </a:p>
          </p:txBody>
        </p:sp>
        <p:sp>
          <p:nvSpPr>
            <p:cNvPr id="119" name="사각형: 둥근 모서리 289">
              <a:extLst>
                <a:ext uri="{FF2B5EF4-FFF2-40B4-BE49-F238E27FC236}">
                  <a16:creationId xmlns:a16="http://schemas.microsoft.com/office/drawing/2014/main" id="{21A35922-A996-4C55-8ED2-2BFD7BA4D602}"/>
                </a:ext>
              </a:extLst>
            </p:cNvPr>
            <p:cNvSpPr/>
            <p:nvPr/>
          </p:nvSpPr>
          <p:spPr>
            <a:xfrm>
              <a:off x="593438" y="3747215"/>
              <a:ext cx="1476000" cy="720000"/>
            </a:xfrm>
            <a:prstGeom prst="roundRect">
              <a:avLst>
                <a:gd name="adj" fmla="val 8905"/>
              </a:avLst>
            </a:prstGeom>
            <a:solidFill>
              <a:srgbClr val="F5F6F8"/>
            </a:solidFill>
            <a:ln w="3175">
              <a:solidFill>
                <a:srgbClr val="9C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0" name="사각형: 둥근 모서리 290">
              <a:extLst>
                <a:ext uri="{FF2B5EF4-FFF2-40B4-BE49-F238E27FC236}">
                  <a16:creationId xmlns:a16="http://schemas.microsoft.com/office/drawing/2014/main" id="{2B739AEE-FB82-40EA-97BC-151DB0870D49}"/>
                </a:ext>
              </a:extLst>
            </p:cNvPr>
            <p:cNvSpPr/>
            <p:nvPr/>
          </p:nvSpPr>
          <p:spPr>
            <a:xfrm>
              <a:off x="675856" y="3818444"/>
              <a:ext cx="1332000" cy="247818"/>
            </a:xfrm>
            <a:prstGeom prst="roundRect">
              <a:avLst>
                <a:gd name="adj" fmla="val 20760"/>
              </a:avLst>
            </a:prstGeom>
            <a:solidFill>
              <a:schemeClr val="bg1">
                <a:lumMod val="5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66C0A15-7653-4AF7-8567-61158DD5AB73}"/>
                </a:ext>
              </a:extLst>
            </p:cNvPr>
            <p:cNvSpPr txBox="1"/>
            <p:nvPr/>
          </p:nvSpPr>
          <p:spPr>
            <a:xfrm>
              <a:off x="991195" y="3842277"/>
              <a:ext cx="612667" cy="244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충청북도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6B41D30-EB63-4239-8567-23877A517C1E}"/>
                </a:ext>
              </a:extLst>
            </p:cNvPr>
            <p:cNvSpPr txBox="1"/>
            <p:nvPr/>
          </p:nvSpPr>
          <p:spPr>
            <a:xfrm>
              <a:off x="1047664" y="4074013"/>
              <a:ext cx="567546" cy="37446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1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지점</a:t>
              </a:r>
              <a:endParaRPr kumimoji="1" lang="en-US" altLang="ko-KR" sz="1000" b="1" spc="-10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6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명</a:t>
              </a:r>
            </a:p>
          </p:txBody>
        </p:sp>
        <p:sp>
          <p:nvSpPr>
            <p:cNvPr id="123" name="사각형: 둥근 모서리 299">
              <a:extLst>
                <a:ext uri="{FF2B5EF4-FFF2-40B4-BE49-F238E27FC236}">
                  <a16:creationId xmlns:a16="http://schemas.microsoft.com/office/drawing/2014/main" id="{3C6D110E-D894-4CC1-A351-05E090CD1C2D}"/>
                </a:ext>
              </a:extLst>
            </p:cNvPr>
            <p:cNvSpPr/>
            <p:nvPr/>
          </p:nvSpPr>
          <p:spPr>
            <a:xfrm>
              <a:off x="593438" y="5400526"/>
              <a:ext cx="1476000" cy="720000"/>
            </a:xfrm>
            <a:prstGeom prst="roundRect">
              <a:avLst>
                <a:gd name="adj" fmla="val 8905"/>
              </a:avLst>
            </a:prstGeom>
            <a:solidFill>
              <a:srgbClr val="F5F6F8"/>
            </a:solidFill>
            <a:ln w="3175">
              <a:solidFill>
                <a:srgbClr val="9C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4" name="사각형: 둥근 모서리 300">
              <a:extLst>
                <a:ext uri="{FF2B5EF4-FFF2-40B4-BE49-F238E27FC236}">
                  <a16:creationId xmlns:a16="http://schemas.microsoft.com/office/drawing/2014/main" id="{8191FFE9-35FC-4CA9-8AA5-07373A1D50A5}"/>
                </a:ext>
              </a:extLst>
            </p:cNvPr>
            <p:cNvSpPr/>
            <p:nvPr/>
          </p:nvSpPr>
          <p:spPr>
            <a:xfrm>
              <a:off x="675855" y="5471755"/>
              <a:ext cx="1332000" cy="247818"/>
            </a:xfrm>
            <a:prstGeom prst="roundRect">
              <a:avLst>
                <a:gd name="adj" fmla="val 20760"/>
              </a:avLst>
            </a:prstGeom>
            <a:solidFill>
              <a:schemeClr val="bg1">
                <a:lumMod val="5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321F1F3-3CDE-4EAA-8DD6-A540A57CC7DD}"/>
                </a:ext>
              </a:extLst>
            </p:cNvPr>
            <p:cNvSpPr txBox="1"/>
            <p:nvPr/>
          </p:nvSpPr>
          <p:spPr>
            <a:xfrm>
              <a:off x="991194" y="5486602"/>
              <a:ext cx="612667" cy="244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전라북도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E02938C-DB22-47DE-894C-8A2218B8A9B6}"/>
                </a:ext>
              </a:extLst>
            </p:cNvPr>
            <p:cNvSpPr txBox="1"/>
            <p:nvPr/>
          </p:nvSpPr>
          <p:spPr>
            <a:xfrm>
              <a:off x="1047665" y="5727324"/>
              <a:ext cx="567546" cy="374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1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지점</a:t>
              </a:r>
            </a:p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6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명</a:t>
              </a:r>
            </a:p>
          </p:txBody>
        </p:sp>
        <p:sp>
          <p:nvSpPr>
            <p:cNvPr id="127" name="사각형: 둥근 모서리 266">
              <a:extLst>
                <a:ext uri="{FF2B5EF4-FFF2-40B4-BE49-F238E27FC236}">
                  <a16:creationId xmlns:a16="http://schemas.microsoft.com/office/drawing/2014/main" id="{1EFFECD7-0DD0-47FE-9754-6EE994AEF23D}"/>
                </a:ext>
              </a:extLst>
            </p:cNvPr>
            <p:cNvSpPr/>
            <p:nvPr/>
          </p:nvSpPr>
          <p:spPr>
            <a:xfrm>
              <a:off x="593439" y="6192614"/>
              <a:ext cx="1476000" cy="759919"/>
            </a:xfrm>
            <a:prstGeom prst="roundRect">
              <a:avLst>
                <a:gd name="adj" fmla="val 8905"/>
              </a:avLst>
            </a:prstGeom>
            <a:solidFill>
              <a:srgbClr val="F5F6F8"/>
            </a:solidFill>
            <a:ln w="3175">
              <a:solidFill>
                <a:srgbClr val="9C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8" name="사각형: 둥근 모서리 267">
              <a:extLst>
                <a:ext uri="{FF2B5EF4-FFF2-40B4-BE49-F238E27FC236}">
                  <a16:creationId xmlns:a16="http://schemas.microsoft.com/office/drawing/2014/main" id="{1069C75C-B5A3-440B-A391-F6D6A37F59B7}"/>
                </a:ext>
              </a:extLst>
            </p:cNvPr>
            <p:cNvSpPr/>
            <p:nvPr/>
          </p:nvSpPr>
          <p:spPr>
            <a:xfrm>
              <a:off x="675856" y="6267793"/>
              <a:ext cx="1332000" cy="261558"/>
            </a:xfrm>
            <a:prstGeom prst="roundRect">
              <a:avLst>
                <a:gd name="adj" fmla="val 20760"/>
              </a:avLst>
            </a:prstGeom>
            <a:solidFill>
              <a:schemeClr val="bg1">
                <a:lumMod val="5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B83191E-81C4-4E0A-BCFB-3609D026ABAF}"/>
                </a:ext>
              </a:extLst>
            </p:cNvPr>
            <p:cNvSpPr txBox="1"/>
            <p:nvPr/>
          </p:nvSpPr>
          <p:spPr>
            <a:xfrm>
              <a:off x="1045680" y="6283464"/>
              <a:ext cx="503701" cy="244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제주도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18C9481B-4B6E-42CD-A3D5-BD9CD22DF4DF}"/>
                </a:ext>
              </a:extLst>
            </p:cNvPr>
            <p:cNvSpPr txBox="1"/>
            <p:nvPr/>
          </p:nvSpPr>
          <p:spPr>
            <a:xfrm>
              <a:off x="1047666" y="6537532"/>
              <a:ext cx="567546" cy="374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1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지점</a:t>
              </a:r>
            </a:p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6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명</a:t>
              </a:r>
            </a:p>
          </p:txBody>
        </p: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8CFF791F-4BE6-4B9B-BD4A-9DDA26951B69}"/>
                </a:ext>
              </a:extLst>
            </p:cNvPr>
            <p:cNvCxnSpPr>
              <a:cxnSpLocks/>
              <a:stCxn id="133" idx="3"/>
              <a:endCxn id="109" idx="2"/>
            </p:cNvCxnSpPr>
            <p:nvPr/>
          </p:nvCxnSpPr>
          <p:spPr>
            <a:xfrm flipV="1">
              <a:off x="2007856" y="4756732"/>
              <a:ext cx="481701" cy="3093"/>
            </a:xfrm>
            <a:prstGeom prst="line">
              <a:avLst/>
            </a:prstGeom>
            <a:ln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사각형: 둥근 모서리 294">
              <a:extLst>
                <a:ext uri="{FF2B5EF4-FFF2-40B4-BE49-F238E27FC236}">
                  <a16:creationId xmlns:a16="http://schemas.microsoft.com/office/drawing/2014/main" id="{5B28251D-391E-4E60-A398-C8F4A864B338}"/>
                </a:ext>
              </a:extLst>
            </p:cNvPr>
            <p:cNvSpPr/>
            <p:nvPr/>
          </p:nvSpPr>
          <p:spPr>
            <a:xfrm>
              <a:off x="593438" y="4564687"/>
              <a:ext cx="1476000" cy="720000"/>
            </a:xfrm>
            <a:prstGeom prst="roundRect">
              <a:avLst>
                <a:gd name="adj" fmla="val 8905"/>
              </a:avLst>
            </a:prstGeom>
            <a:solidFill>
              <a:srgbClr val="F5F6F8"/>
            </a:solidFill>
            <a:ln w="3175">
              <a:solidFill>
                <a:srgbClr val="9C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3" name="사각형: 둥근 모서리 295">
              <a:extLst>
                <a:ext uri="{FF2B5EF4-FFF2-40B4-BE49-F238E27FC236}">
                  <a16:creationId xmlns:a16="http://schemas.microsoft.com/office/drawing/2014/main" id="{5C3933A8-2DBF-47C1-AD68-82B154C59556}"/>
                </a:ext>
              </a:extLst>
            </p:cNvPr>
            <p:cNvSpPr/>
            <p:nvPr/>
          </p:nvSpPr>
          <p:spPr>
            <a:xfrm>
              <a:off x="675856" y="4635916"/>
              <a:ext cx="1332000" cy="247818"/>
            </a:xfrm>
            <a:prstGeom prst="roundRect">
              <a:avLst>
                <a:gd name="adj" fmla="val 20760"/>
              </a:avLst>
            </a:prstGeom>
            <a:solidFill>
              <a:schemeClr val="bg1">
                <a:lumMod val="5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103D308-FDBE-4578-AC88-1EEE08EF45C2}"/>
                </a:ext>
              </a:extLst>
            </p:cNvPr>
            <p:cNvSpPr txBox="1"/>
            <p:nvPr/>
          </p:nvSpPr>
          <p:spPr>
            <a:xfrm>
              <a:off x="846163" y="4659749"/>
              <a:ext cx="902731" cy="244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충청남도 </a:t>
              </a:r>
              <a:r>
                <a:rPr kumimoji="1" lang="en-US" altLang="ko-KR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/ </a:t>
              </a:r>
              <a:r>
                <a:rPr kumimoji="1" lang="ko-KR" altLang="en-US" sz="1100" b="1" spc="-1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itchFamily="18" charset="0"/>
                </a:rPr>
                <a:t>대전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FA5A761-6D33-4B87-AC68-86F66543B5E3}"/>
                </a:ext>
              </a:extLst>
            </p:cNvPr>
            <p:cNvSpPr txBox="1"/>
            <p:nvPr/>
          </p:nvSpPr>
          <p:spPr>
            <a:xfrm>
              <a:off x="778041" y="4891485"/>
              <a:ext cx="1106791" cy="374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3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지점</a:t>
              </a: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, 1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개 영업소</a:t>
              </a:r>
            </a:p>
            <a:p>
              <a:pPr algn="ctr" defTabSz="879964" fontAlgn="base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33</a:t>
              </a:r>
              <a:r>
                <a:rPr kumimoji="1" lang="ko-KR" altLang="en-US" sz="1000" b="1" spc="-101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명</a:t>
              </a:r>
            </a:p>
          </p:txBody>
        </p:sp>
      </p:grp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8994CDEE-ED1A-4581-BFAA-3F66663C65F5}"/>
              </a:ext>
            </a:extLst>
          </p:cNvPr>
          <p:cNvSpPr/>
          <p:nvPr/>
        </p:nvSpPr>
        <p:spPr>
          <a:xfrm>
            <a:off x="6494768" y="1916832"/>
            <a:ext cx="2847794" cy="875347"/>
          </a:xfrm>
          <a:prstGeom prst="roundRect">
            <a:avLst/>
          </a:prstGeom>
          <a:solidFill>
            <a:srgbClr val="F5F6F8"/>
          </a:solidFill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72D7C2F-D636-4BFA-BC57-CE6D4AFF2029}"/>
              </a:ext>
            </a:extLst>
          </p:cNvPr>
          <p:cNvSpPr txBox="1"/>
          <p:nvPr/>
        </p:nvSpPr>
        <p:spPr>
          <a:xfrm>
            <a:off x="6537176" y="1916832"/>
            <a:ext cx="2960678" cy="824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79964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국내 최대규모 </a:t>
            </a:r>
            <a: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PB</a:t>
            </a: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 출범 목적으로 강남 소재 </a:t>
            </a:r>
            <a: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5</a:t>
            </a: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개 </a:t>
            </a:r>
            <a:b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PB</a:t>
            </a: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를 통합하여  설립하였으며</a:t>
            </a:r>
            <a: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, Merrill Lynch </a:t>
            </a:r>
            <a:b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Private Banking </a:t>
            </a: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사업부문 인수</a:t>
            </a:r>
            <a:endParaRPr lang="en-US" altLang="ko-KR" sz="1100" spc="-100" dirty="0">
              <a:gradFill>
                <a:gsLst>
                  <a:gs pos="0">
                    <a:srgbClr val="262626"/>
                  </a:gs>
                  <a:gs pos="100000">
                    <a:srgbClr val="262626"/>
                  </a:gs>
                </a:gsLst>
                <a:lin ang="5400000" scaled="0"/>
              </a:gra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38" name="그림 137">
            <a:extLst>
              <a:ext uri="{FF2B5EF4-FFF2-40B4-BE49-F238E27FC236}">
                <a16:creationId xmlns:a16="http://schemas.microsoft.com/office/drawing/2014/main" id="{69FB57DA-2A14-4F2C-919A-227B9C5997B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9024" y="2133201"/>
            <a:ext cx="1177744" cy="588872"/>
          </a:xfrm>
          <a:prstGeom prst="rect">
            <a:avLst/>
          </a:prstGeom>
        </p:spPr>
      </p:pic>
      <p:pic>
        <p:nvPicPr>
          <p:cNvPr id="139" name="그림 138">
            <a:extLst>
              <a:ext uri="{FF2B5EF4-FFF2-40B4-BE49-F238E27FC236}">
                <a16:creationId xmlns:a16="http://schemas.microsoft.com/office/drawing/2014/main" id="{DF11988D-DBCC-4C3D-9A11-55DCEC66FD1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364" y="2427637"/>
            <a:ext cx="1116936" cy="382021"/>
          </a:xfrm>
          <a:prstGeom prst="rect">
            <a:avLst/>
          </a:prstGeom>
        </p:spPr>
      </p:pic>
      <p:graphicFrame>
        <p:nvGraphicFramePr>
          <p:cNvPr id="140" name="표 139">
            <a:extLst>
              <a:ext uri="{FF2B5EF4-FFF2-40B4-BE49-F238E27FC236}">
                <a16:creationId xmlns:a16="http://schemas.microsoft.com/office/drawing/2014/main" id="{7C7FD85F-23E0-46F4-8407-5EF29AF12F3F}"/>
              </a:ext>
            </a:extLst>
          </p:cNvPr>
          <p:cNvGraphicFramePr>
            <a:graphicFrameLocks noGrp="1"/>
          </p:cNvGraphicFramePr>
          <p:nvPr/>
        </p:nvGraphicFramePr>
        <p:xfrm>
          <a:off x="5170344" y="4292601"/>
          <a:ext cx="4184064" cy="1614217"/>
        </p:xfrm>
        <a:graphic>
          <a:graphicData uri="http://schemas.openxmlformats.org/drawingml/2006/table">
            <a:tbl>
              <a:tblPr/>
              <a:tblGrid>
                <a:gridCol w="1434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9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7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자산규모별 구분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자산규모</a:t>
                      </a:r>
                      <a:r>
                        <a:rPr kumimoji="1" lang="en-US" altLang="ko-KR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</a:t>
                      </a:r>
                      <a:r>
                        <a:rPr kumimoji="1" lang="en-US" altLang="ko-KR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자산비중</a:t>
                      </a:r>
                      <a:endParaRPr kumimoji="1" lang="en-US" altLang="ko-KR" sz="1000" b="1" kern="1200" spc="-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742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 이상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343,026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84.9%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2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</a:t>
                      </a: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~30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25,755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6.4%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2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</a:t>
                      </a: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~10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</a:t>
                      </a:r>
                      <a:endParaRPr kumimoji="1" lang="en-US" altLang="ko-KR" sz="1000" b="1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12,900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3.2%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947575"/>
                  </a:ext>
                </a:extLst>
              </a:tr>
              <a:tr h="2022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</a:t>
                      </a: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~5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7,821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1.9%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2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</a:t>
                      </a: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~3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10,335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2.6%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2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천만원</a:t>
                      </a: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~1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억원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2,426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0.6%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2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천만원</a:t>
                      </a:r>
                      <a:r>
                        <a:rPr kumimoji="1" lang="en-US" altLang="ko-KR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~5</a:t>
                      </a: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천만원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1,699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0.4%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2" name="사각형: 둥근 모서리 261">
            <a:extLst>
              <a:ext uri="{FF2B5EF4-FFF2-40B4-BE49-F238E27FC236}">
                <a16:creationId xmlns:a16="http://schemas.microsoft.com/office/drawing/2014/main" id="{FB8B3550-DA47-4140-A315-8A2FA37DBDD8}"/>
              </a:ext>
            </a:extLst>
          </p:cNvPr>
          <p:cNvSpPr/>
          <p:nvPr/>
        </p:nvSpPr>
        <p:spPr>
          <a:xfrm>
            <a:off x="5313040" y="3648289"/>
            <a:ext cx="828000" cy="494353"/>
          </a:xfrm>
          <a:prstGeom prst="roundRect">
            <a:avLst>
              <a:gd name="adj" fmla="val 8905"/>
            </a:avLst>
          </a:prstGeom>
          <a:solidFill>
            <a:srgbClr val="F5F6F8"/>
          </a:solidFill>
          <a:ln w="3175">
            <a:solidFill>
              <a:srgbClr val="9C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9964" fontAlgn="base">
              <a:lnSpc>
                <a:spcPts val="1113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강남센터</a:t>
            </a:r>
            <a:endParaRPr lang="en-US" altLang="ko-KR" sz="1100" spc="-100" dirty="0">
              <a:gradFill>
                <a:gsLst>
                  <a:gs pos="0">
                    <a:srgbClr val="262626"/>
                  </a:gs>
                  <a:gs pos="100000">
                    <a:srgbClr val="262626"/>
                  </a:gs>
                </a:gsLst>
                <a:lin ang="5400000" scaled="0"/>
              </a:gradFill>
              <a:latin typeface="나눔고딕" pitchFamily="50" charset="-127"/>
              <a:ea typeface="나눔고딕" pitchFamily="50" charset="-127"/>
            </a:endParaRPr>
          </a:p>
          <a:p>
            <a:pPr algn="ctr" defTabSz="879964" fontAlgn="base">
              <a:lnSpc>
                <a:spcPts val="1113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31</a:t>
            </a: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명 </a:t>
            </a:r>
          </a:p>
        </p:txBody>
      </p:sp>
      <p:sp>
        <p:nvSpPr>
          <p:cNvPr id="143" name="사각형: 둥근 모서리 261">
            <a:extLst>
              <a:ext uri="{FF2B5EF4-FFF2-40B4-BE49-F238E27FC236}">
                <a16:creationId xmlns:a16="http://schemas.microsoft.com/office/drawing/2014/main" id="{C1D28B4B-F366-483F-A492-86D12E2D1822}"/>
              </a:ext>
            </a:extLst>
          </p:cNvPr>
          <p:cNvSpPr/>
          <p:nvPr/>
        </p:nvSpPr>
        <p:spPr>
          <a:xfrm>
            <a:off x="6325123" y="3648289"/>
            <a:ext cx="828000" cy="494353"/>
          </a:xfrm>
          <a:prstGeom prst="roundRect">
            <a:avLst>
              <a:gd name="adj" fmla="val 8905"/>
            </a:avLst>
          </a:prstGeom>
          <a:solidFill>
            <a:srgbClr val="F5F6F8"/>
          </a:solidFill>
          <a:ln w="3175">
            <a:solidFill>
              <a:srgbClr val="9C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9964" fontAlgn="base">
              <a:lnSpc>
                <a:spcPts val="1113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강북센터</a:t>
            </a:r>
            <a:endParaRPr lang="en-US" altLang="ko-KR" sz="1100" spc="-100" dirty="0">
              <a:gradFill>
                <a:gsLst>
                  <a:gs pos="0">
                    <a:srgbClr val="262626"/>
                  </a:gs>
                  <a:gs pos="100000">
                    <a:srgbClr val="262626"/>
                  </a:gs>
                </a:gsLst>
                <a:lin ang="5400000" scaled="0"/>
              </a:gradFill>
              <a:latin typeface="나눔고딕" pitchFamily="50" charset="-127"/>
              <a:ea typeface="나눔고딕" pitchFamily="50" charset="-127"/>
            </a:endParaRPr>
          </a:p>
          <a:p>
            <a:pPr algn="ctr" defTabSz="879964" fontAlgn="base">
              <a:lnSpc>
                <a:spcPts val="1113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49</a:t>
            </a: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명 </a:t>
            </a:r>
          </a:p>
        </p:txBody>
      </p:sp>
      <p:sp>
        <p:nvSpPr>
          <p:cNvPr id="144" name="사각형: 둥근 모서리 261">
            <a:extLst>
              <a:ext uri="{FF2B5EF4-FFF2-40B4-BE49-F238E27FC236}">
                <a16:creationId xmlns:a16="http://schemas.microsoft.com/office/drawing/2014/main" id="{F56D6875-90E3-41E6-9026-35DDB23A1342}"/>
              </a:ext>
            </a:extLst>
          </p:cNvPr>
          <p:cNvSpPr/>
          <p:nvPr/>
        </p:nvSpPr>
        <p:spPr>
          <a:xfrm>
            <a:off x="7337206" y="3648289"/>
            <a:ext cx="828000" cy="494353"/>
          </a:xfrm>
          <a:prstGeom prst="roundRect">
            <a:avLst>
              <a:gd name="adj" fmla="val 8905"/>
            </a:avLst>
          </a:prstGeom>
          <a:solidFill>
            <a:srgbClr val="F5F6F8"/>
          </a:solidFill>
          <a:ln w="3175">
            <a:solidFill>
              <a:srgbClr val="9C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9964" fontAlgn="base">
              <a:lnSpc>
                <a:spcPts val="1113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도곡센터</a:t>
            </a:r>
            <a:endParaRPr lang="en-US" altLang="ko-KR" sz="1100" spc="-100" dirty="0">
              <a:gradFill>
                <a:gsLst>
                  <a:gs pos="0">
                    <a:srgbClr val="262626"/>
                  </a:gs>
                  <a:gs pos="100000">
                    <a:srgbClr val="262626"/>
                  </a:gs>
                </a:gsLst>
                <a:lin ang="5400000" scaled="0"/>
              </a:gradFill>
              <a:latin typeface="나눔고딕" pitchFamily="50" charset="-127"/>
              <a:ea typeface="나눔고딕" pitchFamily="50" charset="-127"/>
            </a:endParaRPr>
          </a:p>
          <a:p>
            <a:pPr algn="ctr" defTabSz="879964" fontAlgn="base">
              <a:lnSpc>
                <a:spcPts val="1113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20</a:t>
            </a: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명 </a:t>
            </a:r>
          </a:p>
        </p:txBody>
      </p:sp>
      <p:sp>
        <p:nvSpPr>
          <p:cNvPr id="145" name="사각형: 둥근 모서리 261">
            <a:extLst>
              <a:ext uri="{FF2B5EF4-FFF2-40B4-BE49-F238E27FC236}">
                <a16:creationId xmlns:a16="http://schemas.microsoft.com/office/drawing/2014/main" id="{463A0CC7-D853-4623-8281-276206B87811}"/>
              </a:ext>
            </a:extLst>
          </p:cNvPr>
          <p:cNvSpPr/>
          <p:nvPr/>
        </p:nvSpPr>
        <p:spPr>
          <a:xfrm>
            <a:off x="8349288" y="3648289"/>
            <a:ext cx="828000" cy="494353"/>
          </a:xfrm>
          <a:prstGeom prst="roundRect">
            <a:avLst>
              <a:gd name="adj" fmla="val 8905"/>
            </a:avLst>
          </a:prstGeom>
          <a:solidFill>
            <a:srgbClr val="F5F6F8"/>
          </a:solidFill>
          <a:ln w="3175">
            <a:solidFill>
              <a:srgbClr val="9C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9964" fontAlgn="base">
              <a:lnSpc>
                <a:spcPts val="1113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삼성동센터</a:t>
            </a:r>
            <a:endParaRPr lang="en-US" altLang="ko-KR" sz="1100" spc="-100" dirty="0">
              <a:gradFill>
                <a:gsLst>
                  <a:gs pos="0">
                    <a:srgbClr val="262626"/>
                  </a:gs>
                  <a:gs pos="100000">
                    <a:srgbClr val="262626"/>
                  </a:gs>
                </a:gsLst>
                <a:lin ang="5400000" scaled="0"/>
              </a:gradFill>
              <a:latin typeface="나눔고딕" pitchFamily="50" charset="-127"/>
              <a:ea typeface="나눔고딕" pitchFamily="50" charset="-127"/>
            </a:endParaRPr>
          </a:p>
          <a:p>
            <a:pPr algn="ctr" defTabSz="879964" fontAlgn="base">
              <a:lnSpc>
                <a:spcPts val="1113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47</a:t>
            </a:r>
            <a:r>
              <a:rPr lang="ko-KR" altLang="en-US" sz="1100" spc="-100" dirty="0">
                <a:gradFill>
                  <a:gsLst>
                    <a:gs pos="0">
                      <a:srgbClr val="262626"/>
                    </a:gs>
                    <a:gs pos="100000">
                      <a:srgbClr val="262626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t>명</a:t>
            </a:r>
          </a:p>
        </p:txBody>
      </p:sp>
      <p:cxnSp>
        <p:nvCxnSpPr>
          <p:cNvPr id="146" name="연결선: 꺾임 277">
            <a:extLst>
              <a:ext uri="{FF2B5EF4-FFF2-40B4-BE49-F238E27FC236}">
                <a16:creationId xmlns:a16="http://schemas.microsoft.com/office/drawing/2014/main" id="{BBF082A5-006D-4001-AC01-7A195B9347FE}"/>
              </a:ext>
            </a:extLst>
          </p:cNvPr>
          <p:cNvCxnSpPr>
            <a:cxnSpLocks/>
            <a:stCxn id="142" idx="0"/>
            <a:endCxn id="149" idx="2"/>
          </p:cNvCxnSpPr>
          <p:nvPr/>
        </p:nvCxnSpPr>
        <p:spPr>
          <a:xfrm rot="5400000" flipH="1" flipV="1">
            <a:off x="6377914" y="2781039"/>
            <a:ext cx="216377" cy="15181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연결선: 꺾임 277">
            <a:extLst>
              <a:ext uri="{FF2B5EF4-FFF2-40B4-BE49-F238E27FC236}">
                <a16:creationId xmlns:a16="http://schemas.microsoft.com/office/drawing/2014/main" id="{2F019F59-1FD8-48C3-BA96-7C39CD683A3E}"/>
              </a:ext>
            </a:extLst>
          </p:cNvPr>
          <p:cNvCxnSpPr>
            <a:cxnSpLocks/>
            <a:stCxn id="143" idx="0"/>
            <a:endCxn id="149" idx="2"/>
          </p:cNvCxnSpPr>
          <p:nvPr/>
        </p:nvCxnSpPr>
        <p:spPr>
          <a:xfrm rot="5400000" flipH="1" flipV="1">
            <a:off x="6883955" y="3287081"/>
            <a:ext cx="216377" cy="50604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연결선: 꺾임 277">
            <a:extLst>
              <a:ext uri="{FF2B5EF4-FFF2-40B4-BE49-F238E27FC236}">
                <a16:creationId xmlns:a16="http://schemas.microsoft.com/office/drawing/2014/main" id="{121627F4-DAC0-4153-A67B-C4944AC7E791}"/>
              </a:ext>
            </a:extLst>
          </p:cNvPr>
          <p:cNvCxnSpPr>
            <a:cxnSpLocks/>
            <a:stCxn id="145" idx="0"/>
            <a:endCxn id="149" idx="2"/>
          </p:cNvCxnSpPr>
          <p:nvPr/>
        </p:nvCxnSpPr>
        <p:spPr>
          <a:xfrm rot="16200000" flipV="1">
            <a:off x="7896038" y="2781039"/>
            <a:ext cx="216377" cy="15181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사각형: 둥근 모서리 252">
            <a:extLst>
              <a:ext uri="{FF2B5EF4-FFF2-40B4-BE49-F238E27FC236}">
                <a16:creationId xmlns:a16="http://schemas.microsoft.com/office/drawing/2014/main" id="{FADFCF3C-8AD3-4269-A884-2596FE27DBC6}"/>
              </a:ext>
            </a:extLst>
          </p:cNvPr>
          <p:cNvSpPr/>
          <p:nvPr/>
        </p:nvSpPr>
        <p:spPr>
          <a:xfrm>
            <a:off x="6529084" y="3068960"/>
            <a:ext cx="1432160" cy="362952"/>
          </a:xfrm>
          <a:prstGeom prst="roundRect">
            <a:avLst>
              <a:gd name="adj" fmla="val 20760"/>
            </a:avLst>
          </a:prstGeom>
          <a:solidFill>
            <a:srgbClr val="202350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Premier Blue</a:t>
            </a:r>
            <a:endParaRPr kumimoji="1" lang="ko-KR" altLang="en-US" sz="1200" b="1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50" name="연결선: 꺾임 277">
            <a:extLst>
              <a:ext uri="{FF2B5EF4-FFF2-40B4-BE49-F238E27FC236}">
                <a16:creationId xmlns:a16="http://schemas.microsoft.com/office/drawing/2014/main" id="{3E3CE6DE-7C05-4239-9336-DDE92692BD6C}"/>
              </a:ext>
            </a:extLst>
          </p:cNvPr>
          <p:cNvCxnSpPr>
            <a:cxnSpLocks/>
            <a:stCxn id="144" idx="0"/>
            <a:endCxn id="149" idx="2"/>
          </p:cNvCxnSpPr>
          <p:nvPr/>
        </p:nvCxnSpPr>
        <p:spPr>
          <a:xfrm rot="16200000" flipV="1">
            <a:off x="7389997" y="3287080"/>
            <a:ext cx="216377" cy="50604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EE6ADB40-DEF1-4B2C-A2C2-EAE7034A7FD2}"/>
              </a:ext>
            </a:extLst>
          </p:cNvPr>
          <p:cNvSpPr txBox="1"/>
          <p:nvPr/>
        </p:nvSpPr>
        <p:spPr>
          <a:xfrm>
            <a:off x="4953000" y="6035789"/>
            <a:ext cx="4608512" cy="30953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ko-KR"/>
            </a:defPPr>
            <a:lvl1pPr algn="ctr">
              <a:lnSpc>
                <a:spcPct val="130000"/>
              </a:lnSpc>
              <a:spcAft>
                <a:spcPts val="600"/>
              </a:spcAft>
              <a:buClr>
                <a:schemeClr val="tx2"/>
              </a:buClr>
              <a:defRPr sz="1400" b="1" i="0" u="sng">
                <a:solidFill>
                  <a:srgbClr val="3333FF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solidFill>
                  <a:srgbClr val="074269"/>
                </a:solidFill>
              </a:rPr>
              <a:t>풍부한 고액자산가 </a:t>
            </a:r>
            <a:r>
              <a:rPr lang="en-US" altLang="ko-KR" dirty="0">
                <a:solidFill>
                  <a:srgbClr val="074269"/>
                </a:solidFill>
              </a:rPr>
              <a:t>Pool</a:t>
            </a:r>
            <a:r>
              <a:rPr lang="ko-KR" altLang="en-US" dirty="0">
                <a:solidFill>
                  <a:srgbClr val="074269"/>
                </a:solidFill>
              </a:rPr>
              <a:t>을 통해 일반 청약 극대화 강점</a:t>
            </a:r>
          </a:p>
        </p:txBody>
      </p:sp>
      <p:sp>
        <p:nvSpPr>
          <p:cNvPr id="141" name="TextBox 7">
            <a:extLst>
              <a:ext uri="{FF2B5EF4-FFF2-40B4-BE49-F238E27FC236}">
                <a16:creationId xmlns:a16="http://schemas.microsoft.com/office/drawing/2014/main" id="{93BAF292-781E-4725-BA0D-5A3CD1FD9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40" y="1032911"/>
            <a:ext cx="8646103" cy="45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8234" tIns="39143" rIns="78234" bIns="39143" anchor="ctr" anchorCtr="0">
            <a:noAutofit/>
          </a:bodyPr>
          <a:lstStyle/>
          <a:p>
            <a:pPr algn="ctr" defTabSz="783344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국내 최대 규모의 </a:t>
            </a:r>
            <a:r>
              <a:rPr kumimoji="1" lang="en-US" altLang="ko-KR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Retail, Wholesale </a:t>
            </a:r>
            <a:r>
              <a:rPr kumimoji="1" lang="ko-KR" altLang="en-US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영업망과 인력 확보</a:t>
            </a:r>
          </a:p>
        </p:txBody>
      </p:sp>
      <p:sp>
        <p:nvSpPr>
          <p:cNvPr id="152" name="텍스트 개체 틀 8">
            <a:extLst>
              <a:ext uri="{FF2B5EF4-FFF2-40B4-BE49-F238E27FC236}">
                <a16:creationId xmlns:a16="http://schemas.microsoft.com/office/drawing/2014/main" id="{C1A1F842-C5F1-4E0F-A383-477781245415}"/>
              </a:ext>
            </a:extLst>
          </p:cNvPr>
          <p:cNvSpPr txBox="1">
            <a:spLocks/>
          </p:cNvSpPr>
          <p:nvPr/>
        </p:nvSpPr>
        <p:spPr>
          <a:xfrm>
            <a:off x="741125" y="361127"/>
            <a:ext cx="6048079" cy="5040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300"/>
              </a:spcAft>
            </a:pP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회사 현황</a:t>
            </a: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계속</a:t>
            </a: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648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60B6BDE6-1A10-4CDC-84AE-6090133BC881}"/>
              </a:ext>
            </a:extLst>
          </p:cNvPr>
          <p:cNvGrpSpPr/>
          <p:nvPr/>
        </p:nvGrpSpPr>
        <p:grpSpPr>
          <a:xfrm>
            <a:off x="596900" y="1656921"/>
            <a:ext cx="8748713" cy="295915"/>
            <a:chOff x="557214" y="1872133"/>
            <a:chExt cx="9648824" cy="313009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AEB2069-CD8F-4853-90B0-528E1547B5AD}"/>
                </a:ext>
              </a:extLst>
            </p:cNvPr>
            <p:cNvSpPr/>
            <p:nvPr/>
          </p:nvSpPr>
          <p:spPr>
            <a:xfrm>
              <a:off x="557214" y="2009598"/>
              <a:ext cx="9648824" cy="3808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3445"/>
              <a:endParaRPr lang="ko-KR" altLang="en-US" sz="1986" b="1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DDF8B30-F883-41E3-B5EB-97681FB6B6B3}"/>
                </a:ext>
              </a:extLst>
            </p:cNvPr>
            <p:cNvSpPr txBox="1"/>
            <p:nvPr/>
          </p:nvSpPr>
          <p:spPr>
            <a:xfrm>
              <a:off x="3709819" y="1872133"/>
              <a:ext cx="3343615" cy="3130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70170" rIns="170170" rtlCol="0">
              <a:spAutoFit/>
            </a:bodyPr>
            <a:lstStyle/>
            <a:p>
              <a:pPr algn="ctr" defTabSz="993445"/>
              <a:r>
                <a:rPr kumimoji="1" lang="en-US" altLang="ko-KR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NH</a:t>
              </a:r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투자증권 </a:t>
              </a:r>
              <a:r>
                <a:rPr kumimoji="1" lang="en-US" altLang="ko-KR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IB</a:t>
              </a:r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사업부 핵심 경쟁력</a:t>
              </a:r>
            </a:p>
          </p:txBody>
        </p:sp>
      </p:grpSp>
      <p:sp>
        <p:nvSpPr>
          <p:cNvPr id="18" name="TextBox 7">
            <a:extLst>
              <a:ext uri="{FF2B5EF4-FFF2-40B4-BE49-F238E27FC236}">
                <a16:creationId xmlns:a16="http://schemas.microsoft.com/office/drawing/2014/main" id="{4325B830-6DAC-4603-91ED-E780A279A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40" y="1118244"/>
            <a:ext cx="8646103" cy="45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8234" tIns="39143" rIns="78234" bIns="39143" anchor="ctr" anchorCtr="0">
            <a:noAutofit/>
          </a:bodyPr>
          <a:lstStyle/>
          <a:p>
            <a:pPr algn="ctr" defTabSz="783344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NH</a:t>
            </a:r>
            <a:r>
              <a:rPr kumimoji="1" lang="ko-KR" altLang="en-US" sz="1602" spc="-90" dirty="0" err="1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투자증권은</a:t>
            </a:r>
            <a:r>
              <a:rPr kumimoji="1" lang="ko-KR" altLang="en-US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 </a:t>
            </a:r>
            <a:r>
              <a:rPr kumimoji="1" lang="en-US" altLang="ko-KR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IB </a:t>
            </a:r>
            <a:r>
              <a:rPr kumimoji="1" lang="ko-KR" altLang="en-US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관련 양적</a:t>
            </a:r>
            <a:r>
              <a:rPr kumimoji="1" lang="en-US" altLang="ko-KR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/</a:t>
            </a:r>
            <a:r>
              <a:rPr kumimoji="1" lang="ko-KR" altLang="en-US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질적 탁월한 실적을 보유</a:t>
            </a:r>
            <a:r>
              <a:rPr kumimoji="1" lang="en-US" altLang="ko-KR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, </a:t>
            </a:r>
            <a:r>
              <a:rPr kumimoji="1" lang="ko-KR" altLang="en-US" sz="1602" spc="-9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최고의 증권사 하우스로 선정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ABFBEC-DBD1-484C-B93A-940CF44C80E2}"/>
              </a:ext>
            </a:extLst>
          </p:cNvPr>
          <p:cNvSpPr/>
          <p:nvPr/>
        </p:nvSpPr>
        <p:spPr>
          <a:xfrm>
            <a:off x="2646904" y="2147609"/>
            <a:ext cx="6698707" cy="643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602" spc="-89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3333"/>
              </a:solidFill>
              <a:latin typeface="나눔고딕" pitchFamily="50" charset="-127"/>
              <a:ea typeface="나눔고딕" pitchFamily="50" charset="-127"/>
              <a:cs typeface="+mj-cs"/>
            </a:endParaRPr>
          </a:p>
        </p:txBody>
      </p:sp>
      <p:sp>
        <p:nvSpPr>
          <p:cNvPr id="21" name="텍스트 개체 틀 8">
            <a:extLst>
              <a:ext uri="{FF2B5EF4-FFF2-40B4-BE49-F238E27FC236}">
                <a16:creationId xmlns:a16="http://schemas.microsoft.com/office/drawing/2014/main" id="{2A082C8B-D420-4FDC-97CE-4677C5427FEE}"/>
              </a:ext>
            </a:extLst>
          </p:cNvPr>
          <p:cNvSpPr txBox="1">
            <a:spLocks/>
          </p:cNvSpPr>
          <p:nvPr/>
        </p:nvSpPr>
        <p:spPr>
          <a:xfrm>
            <a:off x="2804103" y="2291414"/>
            <a:ext cx="6064885" cy="35606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625" indent="-152625" fontAlgn="ctr">
              <a:spcBef>
                <a:spcPct val="0"/>
              </a:spcBef>
              <a:spcAft>
                <a:spcPct val="0"/>
              </a:spcAft>
              <a:buClr>
                <a:srgbClr val="1F497D"/>
              </a:buClr>
              <a:buSzPct val="115000"/>
              <a:buFont typeface="Wingdings" panose="05000000000000000000" pitchFamily="2" charset="2"/>
              <a:buChar char="§"/>
              <a:defRPr/>
            </a:pP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국내 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IB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리그테이블 유상증자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회사채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IPO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최상위 랭크</a:t>
            </a:r>
            <a:endParaRPr kumimoji="1" lang="en-US" altLang="ko-KR" sz="1246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indent="159691" fontAlgn="ctr">
              <a:spcBef>
                <a:spcPct val="0"/>
              </a:spcBef>
              <a:spcAft>
                <a:spcPct val="0"/>
              </a:spcAft>
              <a:buClr>
                <a:srgbClr val="1F497D"/>
              </a:buClr>
              <a:buSzPct val="115000"/>
              <a:defRPr/>
            </a:pP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(2023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년 연간 기준 유상증자 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위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회사채 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위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)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endParaRPr kumimoji="1" lang="en-US" altLang="ko-KR" sz="1068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4B83A6-EEE8-4977-ACF3-6184C9E11B2F}"/>
              </a:ext>
            </a:extLst>
          </p:cNvPr>
          <p:cNvSpPr/>
          <p:nvPr/>
        </p:nvSpPr>
        <p:spPr>
          <a:xfrm>
            <a:off x="2646905" y="2910930"/>
            <a:ext cx="6698708" cy="643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246" spc="-89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3333"/>
              </a:solidFill>
              <a:latin typeface="나눔고딕" pitchFamily="50" charset="-127"/>
              <a:ea typeface="나눔고딕" pitchFamily="50" charset="-127"/>
              <a:cs typeface="+mj-cs"/>
            </a:endParaRPr>
          </a:p>
        </p:txBody>
      </p:sp>
      <p:sp>
        <p:nvSpPr>
          <p:cNvPr id="24" name="텍스트 개체 틀 8">
            <a:extLst>
              <a:ext uri="{FF2B5EF4-FFF2-40B4-BE49-F238E27FC236}">
                <a16:creationId xmlns:a16="http://schemas.microsoft.com/office/drawing/2014/main" id="{ECA77664-D732-4625-A011-6E46D10C0A5C}"/>
              </a:ext>
            </a:extLst>
          </p:cNvPr>
          <p:cNvSpPr txBox="1">
            <a:spLocks/>
          </p:cNvSpPr>
          <p:nvPr/>
        </p:nvSpPr>
        <p:spPr>
          <a:xfrm>
            <a:off x="2804103" y="3041052"/>
            <a:ext cx="6064885" cy="38343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625" indent="-152625" fontAlgn="ctr">
              <a:spcBef>
                <a:spcPct val="0"/>
              </a:spcBef>
              <a:spcAft>
                <a:spcPct val="0"/>
              </a:spcAft>
              <a:buClr>
                <a:srgbClr val="1F497D"/>
              </a:buClr>
              <a:buSzPct val="115000"/>
              <a:buFont typeface="Wingdings" panose="05000000000000000000" pitchFamily="2" charset="2"/>
              <a:buChar char="§"/>
              <a:defRPr/>
            </a:pP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자금조달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(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유상증자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kumimoji="1" lang="ko-KR" altLang="en-US" sz="1246" b="1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메자닌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대출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)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외 지배구조개편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(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분할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합병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자산양수도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),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인수금융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M&amp;A,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이전 상장 등 다양한 솔루션 제공</a:t>
            </a:r>
            <a:endParaRPr kumimoji="1" lang="en-US" altLang="ko-KR" sz="1246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5B4E6DD-92F6-4626-899D-18623274BA0F}"/>
              </a:ext>
            </a:extLst>
          </p:cNvPr>
          <p:cNvSpPr/>
          <p:nvPr/>
        </p:nvSpPr>
        <p:spPr>
          <a:xfrm>
            <a:off x="2646905" y="3674251"/>
            <a:ext cx="6698708" cy="643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246" spc="-89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3333"/>
              </a:solidFill>
              <a:latin typeface="나눔고딕" pitchFamily="50" charset="-127"/>
              <a:ea typeface="나눔고딕" pitchFamily="50" charset="-127"/>
              <a:cs typeface="+mj-cs"/>
            </a:endParaRPr>
          </a:p>
        </p:txBody>
      </p:sp>
      <p:sp>
        <p:nvSpPr>
          <p:cNvPr id="27" name="텍스트 개체 틀 8">
            <a:extLst>
              <a:ext uri="{FF2B5EF4-FFF2-40B4-BE49-F238E27FC236}">
                <a16:creationId xmlns:a16="http://schemas.microsoft.com/office/drawing/2014/main" id="{FADBD0E1-D8EE-4E49-B3F3-B3D6D0E056D5}"/>
              </a:ext>
            </a:extLst>
          </p:cNvPr>
          <p:cNvSpPr txBox="1">
            <a:spLocks/>
          </p:cNvSpPr>
          <p:nvPr/>
        </p:nvSpPr>
        <p:spPr>
          <a:xfrm>
            <a:off x="2804103" y="3818056"/>
            <a:ext cx="6064885" cy="35606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625" indent="-152625" fontAlgn="ctr">
              <a:spcBef>
                <a:spcPct val="0"/>
              </a:spcBef>
              <a:spcAft>
                <a:spcPct val="0"/>
              </a:spcAft>
              <a:buClr>
                <a:srgbClr val="1F497D"/>
              </a:buClr>
              <a:buSzPct val="115000"/>
              <a:buFont typeface="Wingdings" panose="05000000000000000000" pitchFamily="2" charset="2"/>
              <a:buChar char="§"/>
              <a:defRPr/>
            </a:pP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오랜 경험을 통한 다양한 케이스 축적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이를 활용한 </a:t>
            </a:r>
            <a:r>
              <a:rPr kumimoji="1" lang="ko-KR" altLang="en-US" sz="1246" b="1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고객사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맞춤 서비스</a:t>
            </a:r>
            <a:endParaRPr kumimoji="1" lang="en-US" altLang="ko-KR" sz="1246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indent="159691" fontAlgn="ctr">
              <a:spcBef>
                <a:spcPct val="0"/>
              </a:spcBef>
              <a:spcAft>
                <a:spcPct val="0"/>
              </a:spcAft>
              <a:buClr>
                <a:srgbClr val="1F497D"/>
              </a:buClr>
              <a:buSzPct val="115000"/>
              <a:defRPr/>
            </a:pP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(</a:t>
            </a:r>
            <a:r>
              <a:rPr kumimoji="1" lang="ko-KR" altLang="en-US" sz="1068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고객사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및 시장 동향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업계 현황을 분석한 자금 조달 일정 세팅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IR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지원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공시 지원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E46FA8-A015-42F8-9E36-544C2BB6853D}"/>
              </a:ext>
            </a:extLst>
          </p:cNvPr>
          <p:cNvSpPr/>
          <p:nvPr/>
        </p:nvSpPr>
        <p:spPr>
          <a:xfrm>
            <a:off x="2646905" y="4437573"/>
            <a:ext cx="6698708" cy="643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602" spc="-89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3333"/>
              </a:solidFill>
              <a:latin typeface="나눔고딕" pitchFamily="50" charset="-127"/>
              <a:ea typeface="나눔고딕" pitchFamily="50" charset="-127"/>
              <a:cs typeface="+mj-cs"/>
            </a:endParaRPr>
          </a:p>
        </p:txBody>
      </p:sp>
      <p:sp>
        <p:nvSpPr>
          <p:cNvPr id="30" name="텍스트 개체 틀 8">
            <a:extLst>
              <a:ext uri="{FF2B5EF4-FFF2-40B4-BE49-F238E27FC236}">
                <a16:creationId xmlns:a16="http://schemas.microsoft.com/office/drawing/2014/main" id="{36738406-945D-4224-9F08-2896C281810E}"/>
              </a:ext>
            </a:extLst>
          </p:cNvPr>
          <p:cNvSpPr txBox="1">
            <a:spLocks/>
          </p:cNvSpPr>
          <p:nvPr/>
        </p:nvSpPr>
        <p:spPr>
          <a:xfrm>
            <a:off x="2804103" y="4581378"/>
            <a:ext cx="6064885" cy="35606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625" indent="-152625" defTabSz="942660" fontAlgn="ctr">
              <a:spcBef>
                <a:spcPct val="0"/>
              </a:spcBef>
              <a:spcAft>
                <a:spcPct val="0"/>
              </a:spcAft>
              <a:buClr>
                <a:srgbClr val="1F497D"/>
              </a:buClr>
              <a:buSzPct val="115000"/>
              <a:buFont typeface="Wingdings" panose="05000000000000000000" pitchFamily="2" charset="2"/>
              <a:buChar char="§"/>
              <a:defRPr/>
            </a:pP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높은 자기자본에 기반한 월등한 </a:t>
            </a:r>
            <a:r>
              <a:rPr kumimoji="1" lang="ko-KR" altLang="en-US" sz="1246" b="1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인수능력</a:t>
            </a:r>
            <a:endParaRPr kumimoji="1" lang="en-US" altLang="ko-KR" sz="1246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indent="159691" fontAlgn="ctr">
              <a:spcBef>
                <a:spcPct val="0"/>
              </a:spcBef>
              <a:spcAft>
                <a:spcPct val="0"/>
              </a:spcAft>
              <a:buClr>
                <a:srgbClr val="1F497D"/>
              </a:buClr>
              <a:buSzPct val="115000"/>
              <a:defRPr/>
            </a:pP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(2024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년 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3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분기말 별도 기준 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7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조 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3,025</a:t>
            </a:r>
            <a:r>
              <a:rPr kumimoji="1" lang="ko-KR" altLang="en-US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억원</a:t>
            </a:r>
            <a:r>
              <a:rPr kumimoji="1" lang="en-US" altLang="ko-KR" sz="1068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CD9FF1-A7CC-41AE-904E-B15DBA3C0265}"/>
              </a:ext>
            </a:extLst>
          </p:cNvPr>
          <p:cNvSpPr/>
          <p:nvPr/>
        </p:nvSpPr>
        <p:spPr>
          <a:xfrm>
            <a:off x="2646905" y="5200895"/>
            <a:ext cx="6698708" cy="643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602" spc="-89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3333"/>
              </a:solidFill>
              <a:latin typeface="나눔고딕" pitchFamily="50" charset="-127"/>
              <a:ea typeface="나눔고딕" pitchFamily="50" charset="-127"/>
              <a:cs typeface="+mj-cs"/>
            </a:endParaRPr>
          </a:p>
        </p:txBody>
      </p:sp>
      <p:sp>
        <p:nvSpPr>
          <p:cNvPr id="34" name="텍스트 개체 틀 8">
            <a:extLst>
              <a:ext uri="{FF2B5EF4-FFF2-40B4-BE49-F238E27FC236}">
                <a16:creationId xmlns:a16="http://schemas.microsoft.com/office/drawing/2014/main" id="{7E3765BB-67A6-4ABC-B68C-6AE9524EE717}"/>
              </a:ext>
            </a:extLst>
          </p:cNvPr>
          <p:cNvSpPr txBox="1">
            <a:spLocks/>
          </p:cNvSpPr>
          <p:nvPr/>
        </p:nvSpPr>
        <p:spPr>
          <a:xfrm>
            <a:off x="2804103" y="5426871"/>
            <a:ext cx="6064885" cy="19171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625" indent="-152625" defTabSz="942660" fontAlgn="ctr">
              <a:spcBef>
                <a:spcPct val="0"/>
              </a:spcBef>
              <a:spcAft>
                <a:spcPct val="0"/>
              </a:spcAft>
              <a:buClr>
                <a:srgbClr val="1F497D"/>
              </a:buClr>
              <a:buSzPct val="115000"/>
              <a:buFont typeface="Wingdings" panose="05000000000000000000" pitchFamily="2" charset="2"/>
              <a:buChar char="§"/>
              <a:defRPr/>
            </a:pP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신뢰에 기반한 장기적 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Relationship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추구</a:t>
            </a:r>
            <a:r>
              <a:rPr kumimoji="1" lang="en-US" altLang="ko-KR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</a:t>
            </a:r>
            <a:r>
              <a:rPr kumimoji="1" lang="ko-KR" altLang="en-US" sz="1246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프로젝트 종료 이후도 지속적 자문 제공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CFAB0DA-B0E1-4E0C-91DB-2D27453E68D5}"/>
              </a:ext>
            </a:extLst>
          </p:cNvPr>
          <p:cNvGrpSpPr/>
          <p:nvPr/>
        </p:nvGrpSpPr>
        <p:grpSpPr>
          <a:xfrm>
            <a:off x="596900" y="2147609"/>
            <a:ext cx="1874034" cy="3696957"/>
            <a:chOff x="560388" y="2147609"/>
            <a:chExt cx="1910545" cy="3696957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7CF3F8E-08EC-4D86-A755-2F63FE24F799}"/>
                </a:ext>
              </a:extLst>
            </p:cNvPr>
            <p:cNvSpPr/>
            <p:nvPr/>
          </p:nvSpPr>
          <p:spPr>
            <a:xfrm>
              <a:off x="560388" y="2147609"/>
              <a:ext cx="1910545" cy="643672"/>
            </a:xfrm>
            <a:prstGeom prst="rect">
              <a:avLst/>
            </a:prstGeom>
            <a:solidFill>
              <a:srgbClr val="074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kumimoji="1" lang="ko-KR" altLang="en-US" sz="1246" b="1" spc="-89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최상위 업무실적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8447EDA-0232-43A4-9ED9-94E36D500CF0}"/>
                </a:ext>
              </a:extLst>
            </p:cNvPr>
            <p:cNvSpPr/>
            <p:nvPr/>
          </p:nvSpPr>
          <p:spPr>
            <a:xfrm>
              <a:off x="560388" y="2910930"/>
              <a:ext cx="1910545" cy="643672"/>
            </a:xfrm>
            <a:prstGeom prst="rect">
              <a:avLst/>
            </a:prstGeom>
            <a:solidFill>
              <a:srgbClr val="074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kumimoji="1" lang="en-US" altLang="ko-KR" sz="1246" b="1" spc="-89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Total Solution </a:t>
              </a:r>
              <a:r>
                <a:rPr kumimoji="1" lang="ko-KR" altLang="en-US" sz="1246" b="1" spc="-89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제공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E87E5B4-D514-4103-AC17-EC0C9F2C591D}"/>
                </a:ext>
              </a:extLst>
            </p:cNvPr>
            <p:cNvSpPr/>
            <p:nvPr/>
          </p:nvSpPr>
          <p:spPr>
            <a:xfrm>
              <a:off x="560388" y="3674251"/>
              <a:ext cx="1910545" cy="643672"/>
            </a:xfrm>
            <a:prstGeom prst="rect">
              <a:avLst/>
            </a:prstGeom>
            <a:solidFill>
              <a:srgbClr val="074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kumimoji="1" lang="ko-KR" altLang="en-US" sz="1246" b="1" spc="-89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높은 업무 숙련도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FEEA142-1CDE-4BA1-BE38-943630FC956F}"/>
                </a:ext>
              </a:extLst>
            </p:cNvPr>
            <p:cNvSpPr/>
            <p:nvPr/>
          </p:nvSpPr>
          <p:spPr>
            <a:xfrm>
              <a:off x="560388" y="4437573"/>
              <a:ext cx="1910545" cy="643672"/>
            </a:xfrm>
            <a:prstGeom prst="rect">
              <a:avLst/>
            </a:prstGeom>
            <a:solidFill>
              <a:srgbClr val="074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kumimoji="1" lang="ko-KR" altLang="en-US" sz="1246" b="1" spc="-89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월등한 </a:t>
              </a:r>
              <a:r>
                <a:rPr kumimoji="1" lang="ko-KR" altLang="en-US" sz="1246" b="1" spc="-89" dirty="0" err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인수능력</a:t>
              </a:r>
              <a:endParaRPr kumimoji="1" lang="ko-KR" altLang="en-US" sz="1246" b="1" spc="-89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DD8D6C4-F0D8-4A78-A288-50900DAFDC74}"/>
                </a:ext>
              </a:extLst>
            </p:cNvPr>
            <p:cNvSpPr/>
            <p:nvPr/>
          </p:nvSpPr>
          <p:spPr>
            <a:xfrm>
              <a:off x="560388" y="5200894"/>
              <a:ext cx="1910545" cy="643672"/>
            </a:xfrm>
            <a:prstGeom prst="rect">
              <a:avLst/>
            </a:prstGeom>
            <a:solidFill>
              <a:srgbClr val="074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kumimoji="1" lang="ko-KR" altLang="en-US" sz="1246" b="1" spc="-89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장기적 </a:t>
              </a:r>
              <a:r>
                <a:rPr kumimoji="1" lang="en-US" altLang="ko-KR" sz="1246" b="1" spc="-89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Relationship</a:t>
              </a:r>
              <a:endParaRPr kumimoji="1" lang="ko-KR" altLang="en-US" sz="1246" b="1" spc="-89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텍스트 개체 틀 8">
            <a:extLst>
              <a:ext uri="{FF2B5EF4-FFF2-40B4-BE49-F238E27FC236}">
                <a16:creationId xmlns:a16="http://schemas.microsoft.com/office/drawing/2014/main" id="{0ED9640D-F856-49F1-BF51-88A398CA4B89}"/>
              </a:ext>
            </a:extLst>
          </p:cNvPr>
          <p:cNvSpPr txBox="1">
            <a:spLocks/>
          </p:cNvSpPr>
          <p:nvPr/>
        </p:nvSpPr>
        <p:spPr>
          <a:xfrm>
            <a:off x="741125" y="361127"/>
            <a:ext cx="6048079" cy="5040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300"/>
              </a:spcAft>
            </a:pP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핵심 경쟁력</a:t>
            </a:r>
            <a:endParaRPr lang="en-US" altLang="ko-KR" sz="20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9252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0B113DE5-CD3D-489D-B666-B5C95CABF132}"/>
              </a:ext>
            </a:extLst>
          </p:cNvPr>
          <p:cNvSpPr/>
          <p:nvPr/>
        </p:nvSpPr>
        <p:spPr>
          <a:xfrm>
            <a:off x="594854" y="2120320"/>
            <a:ext cx="8750760" cy="4193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456" tIns="39729" rIns="79456" bIns="39729" rtlCol="0" anchor="ctr"/>
          <a:lstStyle/>
          <a:p>
            <a:pPr algn="ctr" defTabSz="869680"/>
            <a:endParaRPr lang="ko-KR" altLang="en-US" sz="1844" spc="-87" dirty="0">
              <a:solidFill>
                <a:prstClr val="white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5DF5F99A-A6A5-4401-A5DA-51EDFFA21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43" y="1141583"/>
            <a:ext cx="8646103" cy="46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8218" tIns="39135" rIns="78218" bIns="39135" anchor="ctr" anchorCtr="0">
            <a:noAutofit/>
          </a:bodyPr>
          <a:lstStyle>
            <a:defPPr>
              <a:defRPr lang="ko-KR"/>
            </a:defPPr>
            <a:lvl1pPr algn="ctr" defTabSz="874102" fontAlgn="base">
              <a:spcBef>
                <a:spcPct val="0"/>
              </a:spcBef>
              <a:spcAft>
                <a:spcPct val="0"/>
              </a:spcAft>
              <a:defRPr kumimoji="1" sz="2200" spc="-1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defRPr>
            </a:lvl1pPr>
          </a:lstStyle>
          <a:p>
            <a:pPr defTabSz="783344"/>
            <a:r>
              <a:rPr lang="ko-KR" altLang="en-US" sz="1602" spc="-90" dirty="0"/>
              <a:t>회사채 및 </a:t>
            </a:r>
            <a:r>
              <a:rPr lang="ko-KR" altLang="en-US" sz="1602" spc="-90" dirty="0" err="1"/>
              <a:t>메자닌</a:t>
            </a:r>
            <a:r>
              <a:rPr lang="ko-KR" altLang="en-US" sz="1602" spc="-90" dirty="0"/>
              <a:t> 발행</a:t>
            </a:r>
            <a:r>
              <a:rPr lang="en-US" altLang="ko-KR" sz="1602" spc="-90" dirty="0"/>
              <a:t>, </a:t>
            </a:r>
            <a:r>
              <a:rPr lang="ko-KR" altLang="en-US" sz="1602" spc="-90" dirty="0"/>
              <a:t>유상증자</a:t>
            </a:r>
            <a:r>
              <a:rPr lang="en-US" altLang="ko-KR" sz="1602" spc="-90" dirty="0"/>
              <a:t>, </a:t>
            </a:r>
            <a:r>
              <a:rPr lang="ko-KR" altLang="en-US" sz="1602" spc="-90" dirty="0"/>
              <a:t>지배구조 개편 자문 등 </a:t>
            </a:r>
            <a:r>
              <a:rPr lang="en-US" altLang="ko-KR" sz="1602" spc="-90" dirty="0"/>
              <a:t>IB </a:t>
            </a:r>
            <a:r>
              <a:rPr lang="ko-KR" altLang="en-US" sz="1602" spc="-90" dirty="0"/>
              <a:t>업무 토탈 솔루션 제공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C394137F-373B-460C-BBCE-85CFE61246E2}"/>
              </a:ext>
            </a:extLst>
          </p:cNvPr>
          <p:cNvGrpSpPr/>
          <p:nvPr/>
        </p:nvGrpSpPr>
        <p:grpSpPr>
          <a:xfrm>
            <a:off x="594858" y="1692925"/>
            <a:ext cx="8750755" cy="295915"/>
            <a:chOff x="557214" y="1872133"/>
            <a:chExt cx="9648824" cy="313009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D41375EC-0D01-49D2-9DFC-1A2ECA1B639E}"/>
                </a:ext>
              </a:extLst>
            </p:cNvPr>
            <p:cNvSpPr/>
            <p:nvPr/>
          </p:nvSpPr>
          <p:spPr>
            <a:xfrm>
              <a:off x="557214" y="2009598"/>
              <a:ext cx="9648824" cy="3808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3445"/>
              <a:endParaRPr lang="ko-KR" altLang="en-US" sz="1986" b="1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8D47637-521B-464A-AA11-B21E9BC775A8}"/>
                </a:ext>
              </a:extLst>
            </p:cNvPr>
            <p:cNvSpPr txBox="1"/>
            <p:nvPr/>
          </p:nvSpPr>
          <p:spPr>
            <a:xfrm>
              <a:off x="4623246" y="1872133"/>
              <a:ext cx="1516758" cy="3130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70170" rIns="170170" rtlCol="0">
              <a:spAutoFit/>
            </a:bodyPr>
            <a:lstStyle/>
            <a:p>
              <a:pPr algn="ctr" defTabSz="993445"/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핵심 업무영역</a:t>
              </a:r>
            </a:p>
          </p:txBody>
        </p: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12FBA9A-A397-4F7D-9296-E3DDF81E7402}"/>
              </a:ext>
            </a:extLst>
          </p:cNvPr>
          <p:cNvSpPr/>
          <p:nvPr/>
        </p:nvSpPr>
        <p:spPr>
          <a:xfrm>
            <a:off x="594858" y="2120320"/>
            <a:ext cx="8716288" cy="4193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456" tIns="39729" rIns="79456" bIns="39729" rtlCol="0" anchor="ctr"/>
          <a:lstStyle/>
          <a:p>
            <a:pPr algn="ctr" defTabSz="869680"/>
            <a:endParaRPr lang="ko-KR" altLang="en-US" sz="1844" spc="-87" dirty="0">
              <a:solidFill>
                <a:prstClr val="white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2F5B00EA-ACE4-4438-8459-C8F7EBA1971D}"/>
              </a:ext>
            </a:extLst>
          </p:cNvPr>
          <p:cNvSpPr/>
          <p:nvPr/>
        </p:nvSpPr>
        <p:spPr>
          <a:xfrm>
            <a:off x="3169745" y="2427778"/>
            <a:ext cx="3565133" cy="356852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456" tIns="39729" rIns="79456" bIns="39729" rtlCol="0" anchor="ctr"/>
          <a:lstStyle/>
          <a:p>
            <a:pPr algn="ctr" defTabSz="869680"/>
            <a:endParaRPr lang="ko-KR" altLang="en-US" sz="1844" dirty="0">
              <a:solidFill>
                <a:prstClr val="white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7" name="Text Box 16">
            <a:extLst>
              <a:ext uri="{FF2B5EF4-FFF2-40B4-BE49-F238E27FC236}">
                <a16:creationId xmlns:a16="http://schemas.microsoft.com/office/drawing/2014/main" id="{09DFE02E-B1A9-49CA-842B-72CF6C4F790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561015" y="5805523"/>
            <a:ext cx="1701875" cy="26320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2700" tIns="41334" rIns="82700" bIns="41334" anchor="ctr">
            <a:spAutoFit/>
          </a:bodyPr>
          <a:lstStyle/>
          <a:p>
            <a:pPr algn="ctr" defTabSz="826821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22" b="1" spc="-87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  <a:cs typeface="Times New Roman" pitchFamily="18" charset="0"/>
              </a:rPr>
              <a:t>‘’</a:t>
            </a:r>
          </a:p>
        </p:txBody>
      </p:sp>
      <p:grpSp>
        <p:nvGrpSpPr>
          <p:cNvPr id="141" name="그룹 39">
            <a:extLst>
              <a:ext uri="{FF2B5EF4-FFF2-40B4-BE49-F238E27FC236}">
                <a16:creationId xmlns:a16="http://schemas.microsoft.com/office/drawing/2014/main" id="{ABEA1722-8729-481C-B3B2-87B7BE4EA092}"/>
              </a:ext>
            </a:extLst>
          </p:cNvPr>
          <p:cNvGrpSpPr/>
          <p:nvPr/>
        </p:nvGrpSpPr>
        <p:grpSpPr>
          <a:xfrm rot="2700000">
            <a:off x="3306469" y="4233582"/>
            <a:ext cx="3274962" cy="0"/>
            <a:chOff x="3488937" y="4608438"/>
            <a:chExt cx="3766125" cy="0"/>
          </a:xfrm>
        </p:grpSpPr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5E7F9C22-78A6-4B10-A75A-F49473955515}"/>
                </a:ext>
              </a:extLst>
            </p:cNvPr>
            <p:cNvCxnSpPr/>
            <p:nvPr/>
          </p:nvCxnSpPr>
          <p:spPr>
            <a:xfrm>
              <a:off x="3488937" y="4608438"/>
              <a:ext cx="864096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화살표 연결선 142">
              <a:extLst>
                <a:ext uri="{FF2B5EF4-FFF2-40B4-BE49-F238E27FC236}">
                  <a16:creationId xmlns:a16="http://schemas.microsoft.com/office/drawing/2014/main" id="{D62BF7E3-A29C-46AC-9BE6-4FEEBAC8CA59}"/>
                </a:ext>
              </a:extLst>
            </p:cNvPr>
            <p:cNvCxnSpPr/>
            <p:nvPr/>
          </p:nvCxnSpPr>
          <p:spPr>
            <a:xfrm>
              <a:off x="6390966" y="4608438"/>
              <a:ext cx="864096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그룹 47">
            <a:extLst>
              <a:ext uri="{FF2B5EF4-FFF2-40B4-BE49-F238E27FC236}">
                <a16:creationId xmlns:a16="http://schemas.microsoft.com/office/drawing/2014/main" id="{F566EF29-1CBF-41C3-9FCA-538FD51FFEF4}"/>
              </a:ext>
            </a:extLst>
          </p:cNvPr>
          <p:cNvGrpSpPr/>
          <p:nvPr/>
        </p:nvGrpSpPr>
        <p:grpSpPr>
          <a:xfrm rot="18900000">
            <a:off x="3308026" y="4233582"/>
            <a:ext cx="3271851" cy="0"/>
            <a:chOff x="3488937" y="4608438"/>
            <a:chExt cx="3766125" cy="0"/>
          </a:xfrm>
        </p:grpSpPr>
        <p:cxnSp>
          <p:nvCxnSpPr>
            <p:cNvPr id="145" name="직선 화살표 연결선 144">
              <a:extLst>
                <a:ext uri="{FF2B5EF4-FFF2-40B4-BE49-F238E27FC236}">
                  <a16:creationId xmlns:a16="http://schemas.microsoft.com/office/drawing/2014/main" id="{B3B48FE0-47C0-4EB3-9538-CF9CCE1332BA}"/>
                </a:ext>
              </a:extLst>
            </p:cNvPr>
            <p:cNvCxnSpPr/>
            <p:nvPr/>
          </p:nvCxnSpPr>
          <p:spPr>
            <a:xfrm>
              <a:off x="3488937" y="4608438"/>
              <a:ext cx="864096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91C49A90-BF6E-4C78-BF88-37F6539A1AC2}"/>
                </a:ext>
              </a:extLst>
            </p:cNvPr>
            <p:cNvCxnSpPr/>
            <p:nvPr/>
          </p:nvCxnSpPr>
          <p:spPr>
            <a:xfrm>
              <a:off x="6390966" y="4608438"/>
              <a:ext cx="864096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AutoShape 18">
            <a:extLst>
              <a:ext uri="{FF2B5EF4-FFF2-40B4-BE49-F238E27FC236}">
                <a16:creationId xmlns:a16="http://schemas.microsoft.com/office/drawing/2014/main" id="{39EA9D86-229D-4494-B293-85C9096827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50241" y="2604300"/>
            <a:ext cx="1850248" cy="570790"/>
          </a:xfrm>
          <a:prstGeom prst="roundRect">
            <a:avLst>
              <a:gd name="adj" fmla="val 50000"/>
            </a:avLst>
          </a:prstGeom>
          <a:solidFill>
            <a:srgbClr val="215CA8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wrap="none" lIns="82700" tIns="31282" rIns="82700" bIns="41334" anchor="ctr"/>
          <a:lstStyle/>
          <a:p>
            <a:pPr algn="ctr" defTabSz="826821" fontAlgn="base" latinLnBrk="0">
              <a:lnSpc>
                <a:spcPts val="1303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246" b="1" spc="-87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회사채</a:t>
            </a:r>
            <a:r>
              <a:rPr lang="en-US" altLang="ko-KR" sz="1246" b="1" spc="-87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246" b="1" spc="-87" dirty="0" err="1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메자닌</a:t>
            </a:r>
            <a:r>
              <a:rPr kumimoji="1" lang="en-US" altLang="ko-KR" sz="1246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(CB, BW, EB)</a:t>
            </a:r>
          </a:p>
          <a:p>
            <a:pPr algn="ctr" defTabSz="826821" fontAlgn="base" latinLnBrk="0">
              <a:lnSpc>
                <a:spcPts val="1303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46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발행 주선</a:t>
            </a:r>
            <a:endParaRPr kumimoji="1" lang="en-US" altLang="ko-KR" sz="1246" b="1" spc="-87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9" name="AutoShape 18">
            <a:extLst>
              <a:ext uri="{FF2B5EF4-FFF2-40B4-BE49-F238E27FC236}">
                <a16:creationId xmlns:a16="http://schemas.microsoft.com/office/drawing/2014/main" id="{8C4ED44E-9AF0-47BA-BDBB-37602E02AA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50241" y="5298386"/>
            <a:ext cx="1850248" cy="570790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wrap="none" lIns="82700" tIns="31282" rIns="82700" bIns="41334" anchor="ctr"/>
          <a:lstStyle/>
          <a:p>
            <a:pPr algn="ctr" defTabSz="826821" fontAlgn="base" latinLnBrk="0">
              <a:lnSpc>
                <a:spcPts val="1303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246" b="1" spc="-87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유상증자</a:t>
            </a:r>
            <a:endParaRPr lang="en-US" altLang="ko-KR" sz="1246" b="1" spc="-87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0" name="AutoShape 18">
            <a:extLst>
              <a:ext uri="{FF2B5EF4-FFF2-40B4-BE49-F238E27FC236}">
                <a16:creationId xmlns:a16="http://schemas.microsoft.com/office/drawing/2014/main" id="{9DC816C6-C601-4953-BE3F-10501A7609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03814" y="2604300"/>
            <a:ext cx="1850248" cy="57079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wrap="none" lIns="82700" tIns="31282" rIns="82700" bIns="41334" anchor="ctr"/>
          <a:lstStyle/>
          <a:p>
            <a:pPr algn="ctr" defTabSz="826821" fontAlgn="base" latinLnBrk="0">
              <a:lnSpc>
                <a:spcPts val="1303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46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지배구조 개편 자문</a:t>
            </a:r>
            <a:endParaRPr kumimoji="1" lang="en-US" altLang="ko-KR" sz="1246" b="1" spc="-87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defTabSz="826821" fontAlgn="base" latinLnBrk="0">
              <a:lnSpc>
                <a:spcPts val="1303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1" lang="ko-KR" altLang="en-US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지주회사 전환</a:t>
            </a:r>
            <a:r>
              <a:rPr kumimoji="1" lang="en-US" altLang="ko-KR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분할</a:t>
            </a:r>
            <a:r>
              <a:rPr kumimoji="1" lang="en-US" altLang="ko-KR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합병</a:t>
            </a:r>
            <a:r>
              <a:rPr kumimoji="1" lang="en-US" altLang="ko-KR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 M&amp;A </a:t>
            </a:r>
            <a:r>
              <a:rPr kumimoji="1" lang="ko-KR" altLang="en-US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kumimoji="1" lang="en-US" altLang="ko-KR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1" lang="ko-KR" altLang="en-US" sz="935" b="1" spc="-87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1" name="AutoShape 18">
            <a:extLst>
              <a:ext uri="{FF2B5EF4-FFF2-40B4-BE49-F238E27FC236}">
                <a16:creationId xmlns:a16="http://schemas.microsoft.com/office/drawing/2014/main" id="{5C768EC2-7B56-4114-9100-5A5B71702F32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03814" y="5298386"/>
            <a:ext cx="1850248" cy="570790"/>
          </a:xfrm>
          <a:prstGeom prst="roundRect">
            <a:avLst>
              <a:gd name="adj" fmla="val 50000"/>
            </a:avLst>
          </a:prstGeom>
          <a:solidFill>
            <a:srgbClr val="0C72B5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wrap="none" lIns="82700" tIns="31282" rIns="82700" bIns="41334" anchor="ctr"/>
          <a:lstStyle/>
          <a:p>
            <a:pPr algn="ctr" defTabSz="826821" fontAlgn="base" latinLnBrk="0">
              <a:lnSpc>
                <a:spcPts val="1303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46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기타 업무</a:t>
            </a:r>
            <a:endParaRPr kumimoji="1" lang="en-US" altLang="ko-KR" sz="1246" b="1" spc="-87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defTabSz="826821" fontAlgn="base" latinLnBrk="0">
              <a:lnSpc>
                <a:spcPts val="1303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1" lang="ko-KR" altLang="en-US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공개매수</a:t>
            </a:r>
            <a:r>
              <a:rPr kumimoji="1" lang="en-US" altLang="ko-KR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 Block Sales, </a:t>
            </a:r>
            <a:r>
              <a:rPr kumimoji="1" lang="ko-KR" altLang="en-US" sz="935" b="1" spc="-87" dirty="0" err="1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이전상장</a:t>
            </a:r>
            <a:r>
              <a:rPr kumimoji="1" lang="en-US" altLang="ko-KR" sz="935" b="1" spc="-87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1" lang="ko-KR" altLang="en-US" sz="935" b="1" spc="-87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6F65B28D-A34F-446E-A2FF-C7DF570181FA}"/>
              </a:ext>
            </a:extLst>
          </p:cNvPr>
          <p:cNvSpPr/>
          <p:nvPr/>
        </p:nvSpPr>
        <p:spPr>
          <a:xfrm>
            <a:off x="4164271" y="3491375"/>
            <a:ext cx="1564356" cy="15656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456" tIns="39729" rIns="79456" bIns="39729" rtlCol="0" anchor="ctr"/>
          <a:lstStyle/>
          <a:p>
            <a:pPr algn="ctr" defTabSz="869680"/>
            <a:endParaRPr lang="ko-KR" altLang="en-US" sz="1844" dirty="0">
              <a:solidFill>
                <a:prstClr val="white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54" name="그림 153" descr="11p.png">
            <a:extLst>
              <a:ext uri="{FF2B5EF4-FFF2-40B4-BE49-F238E27FC236}">
                <a16:creationId xmlns:a16="http://schemas.microsoft.com/office/drawing/2014/main" id="{91341321-80F7-49F6-B6E2-402C81D6B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tretch>
            <a:fillRect/>
          </a:stretch>
        </p:blipFill>
        <p:spPr>
          <a:xfrm>
            <a:off x="3952080" y="3283900"/>
            <a:ext cx="2005480" cy="2007384"/>
          </a:xfrm>
          <a:prstGeom prst="rect">
            <a:avLst/>
          </a:prstGeom>
        </p:spPr>
      </p:pic>
      <p:sp>
        <p:nvSpPr>
          <p:cNvPr id="155" name="대각선 방향의 모서리가 둥근 사각형 31">
            <a:extLst>
              <a:ext uri="{FF2B5EF4-FFF2-40B4-BE49-F238E27FC236}">
                <a16:creationId xmlns:a16="http://schemas.microsoft.com/office/drawing/2014/main" id="{AA8DE22D-8EAA-49F1-9CE7-549126916F13}"/>
              </a:ext>
            </a:extLst>
          </p:cNvPr>
          <p:cNvSpPr/>
          <p:nvPr/>
        </p:nvSpPr>
        <p:spPr bwMode="auto">
          <a:xfrm>
            <a:off x="4317400" y="4108670"/>
            <a:ext cx="1252507" cy="249822"/>
          </a:xfrm>
          <a:prstGeom prst="round2DiagRect">
            <a:avLst>
              <a:gd name="adj1" fmla="val 0"/>
              <a:gd name="adj2" fmla="val 0"/>
            </a:avLst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6615" tIns="38308" rIns="76615" bIns="38308" numCol="1" rtlCol="0" anchor="ctr" anchorCtr="0" compatLnSpc="1">
            <a:prstTxWarp prst="textNoShape">
              <a:avLst/>
            </a:prstTxWarp>
          </a:bodyPr>
          <a:lstStyle/>
          <a:p>
            <a:pPr algn="ctr" defTabSz="775840" fontAlgn="b">
              <a:lnSpc>
                <a:spcPts val="1335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424" b="1" spc="-87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Total </a:t>
            </a:r>
          </a:p>
          <a:p>
            <a:pPr algn="ctr" defTabSz="775840" fontAlgn="b">
              <a:lnSpc>
                <a:spcPts val="1335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424" b="1" spc="-87" dirty="0">
                <a:latin typeface="나눔고딕" panose="020D0604000000000000" pitchFamily="50" charset="-127"/>
                <a:ea typeface="나눔고딕" panose="020D0604000000000000" pitchFamily="50" charset="-127"/>
              </a:rPr>
              <a:t>Financial </a:t>
            </a:r>
          </a:p>
          <a:p>
            <a:pPr algn="ctr" defTabSz="775840" fontAlgn="b">
              <a:lnSpc>
                <a:spcPts val="1335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424" b="1" spc="-87" dirty="0">
                <a:latin typeface="나눔고딕" panose="020D0604000000000000" pitchFamily="50" charset="-127"/>
                <a:ea typeface="나눔고딕" panose="020D0604000000000000" pitchFamily="50" charset="-127"/>
              </a:rPr>
              <a:t>Solution</a:t>
            </a:r>
            <a:endParaRPr kumimoji="1" lang="ko-KR" altLang="en-US" sz="1424" b="1" spc="-8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텍스트 개체 틀 8">
            <a:extLst>
              <a:ext uri="{FF2B5EF4-FFF2-40B4-BE49-F238E27FC236}">
                <a16:creationId xmlns:a16="http://schemas.microsoft.com/office/drawing/2014/main" id="{7736F284-5F9D-48EF-A72A-929921758519}"/>
              </a:ext>
            </a:extLst>
          </p:cNvPr>
          <p:cNvSpPr txBox="1">
            <a:spLocks/>
          </p:cNvSpPr>
          <p:nvPr/>
        </p:nvSpPr>
        <p:spPr>
          <a:xfrm>
            <a:off x="741125" y="361127"/>
            <a:ext cx="6048079" cy="5040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300"/>
              </a:spcAft>
            </a:pP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 IB</a:t>
            </a:r>
            <a:r>
              <a:rPr lang="ko-KR" altLang="en-US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업무 범위</a:t>
            </a:r>
            <a:endParaRPr lang="en-US" altLang="ko-KR" sz="20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1804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6FFCE4AC-16A2-4903-8489-15E74335F64A}"/>
              </a:ext>
            </a:extLst>
          </p:cNvPr>
          <p:cNvGrpSpPr/>
          <p:nvPr/>
        </p:nvGrpSpPr>
        <p:grpSpPr>
          <a:xfrm>
            <a:off x="596515" y="988675"/>
            <a:ext cx="8749097" cy="1332000"/>
            <a:chOff x="596515" y="988675"/>
            <a:chExt cx="8749097" cy="13320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C3ADF91-AE47-4550-9F1A-ECF979384B45}"/>
                </a:ext>
              </a:extLst>
            </p:cNvPr>
            <p:cNvSpPr/>
            <p:nvPr/>
          </p:nvSpPr>
          <p:spPr>
            <a:xfrm>
              <a:off x="596515" y="988675"/>
              <a:ext cx="8749097" cy="13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4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3333"/>
                </a:solidFill>
                <a:latin typeface="나눔고딕" pitchFamily="50" charset="-127"/>
                <a:ea typeface="나눔고딕" pitchFamily="50" charset="-127"/>
                <a:cs typeface="+mj-cs"/>
              </a:endParaRPr>
            </a:p>
          </p:txBody>
        </p:sp>
        <p:sp>
          <p:nvSpPr>
            <p:cNvPr id="19" name="텍스트 개체 틀 8">
              <a:extLst>
                <a:ext uri="{FF2B5EF4-FFF2-40B4-BE49-F238E27FC236}">
                  <a16:creationId xmlns:a16="http://schemas.microsoft.com/office/drawing/2014/main" id="{ED6FC765-CDF7-48D9-9C5C-34A9C60E1F70}"/>
                </a:ext>
              </a:extLst>
            </p:cNvPr>
            <p:cNvSpPr txBox="1">
              <a:spLocks/>
            </p:cNvSpPr>
            <p:nvPr/>
          </p:nvSpPr>
          <p:spPr>
            <a:xfrm>
              <a:off x="730022" y="1067697"/>
              <a:ext cx="8532948" cy="109363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2200" kern="1200" spc="-10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1pPr>
              <a:lvl2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2pPr>
              <a:lvl3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3pPr>
              <a:lvl4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 smtClean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4pPr>
              <a:lvl5pPr marL="0" indent="0" algn="l" defTabSz="914400" rtl="0" eaLnBrk="1" latinLnBrk="1" hangingPunct="1">
                <a:spcBef>
                  <a:spcPct val="20000"/>
                </a:spcBef>
                <a:buFontTx/>
                <a:buNone/>
                <a:defRPr lang="ko-KR" altLang="en-US" sz="3600" kern="1200" spc="-150" baseline="0" dirty="0">
                  <a:solidFill>
                    <a:srgbClr val="FFFFFF"/>
                  </a:solidFill>
                  <a:latin typeface="코어 고딕 D 5 Medium" pitchFamily="34" charset="-127"/>
                  <a:ea typeface="코어 고딕 D 5 Medium" pitchFamily="34" charset="-127"/>
                  <a:cs typeface="+mj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indent="-180000" latinLnBrk="0">
                <a:lnSpc>
                  <a:spcPts val="2000"/>
                </a:lnSpc>
                <a:spcBef>
                  <a:spcPts val="0"/>
                </a:spcBef>
                <a:spcAft>
                  <a:spcPts val="400"/>
                </a:spcAft>
                <a:buFont typeface="Wingdings" panose="05000000000000000000" pitchFamily="2" charset="2"/>
                <a:buChar char="§"/>
              </a:pP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마케팅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: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국내 최고의 회사채 투자자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Sales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조직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(Syndication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본부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)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보유에 따라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,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투자자 동향 파악 및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IR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일정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Arrange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등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Sales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전문성 보유</a:t>
              </a:r>
            </a:p>
            <a:p>
              <a:pPr marL="180000" indent="-180000" latinLnBrk="0">
                <a:lnSpc>
                  <a:spcPts val="2000"/>
                </a:lnSpc>
                <a:spcBef>
                  <a:spcPts val="0"/>
                </a:spcBef>
                <a:spcAft>
                  <a:spcPts val="400"/>
                </a:spcAft>
                <a:buFont typeface="Wingdings" panose="05000000000000000000" pitchFamily="2" charset="2"/>
                <a:buChar char="§"/>
              </a:pP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마케팅 지원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: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회사채 시장에서는 당사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Credit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전문 부서인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IB Credit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지원부의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Sales Memo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를 신뢰하고 있음</a:t>
              </a:r>
            </a:p>
            <a:p>
              <a:pPr marL="180000" indent="-180000" latinLnBrk="0">
                <a:lnSpc>
                  <a:spcPts val="2000"/>
                </a:lnSpc>
                <a:spcBef>
                  <a:spcPts val="0"/>
                </a:spcBef>
                <a:spcAft>
                  <a:spcPts val="400"/>
                </a:spcAft>
                <a:buFont typeface="Wingdings" panose="05000000000000000000" pitchFamily="2" charset="2"/>
                <a:buChar char="§"/>
              </a:pP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증권신고서 등 공시서류 작성 및 기업실사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: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회사채 발행 담당 부서인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{{부서}}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부는 {{발행사}} 전담 커버 부서로 그룹 및 계열회사에 대한 이해도가 높으며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, 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전문성을 가진 실무 인력들을 다수 보유하고 있어 증권신고서 및 기업실사 등 작성 시 금융감독원의 주요 심사 </a:t>
              </a:r>
              <a:r>
                <a:rPr lang="en-US" altLang="ko-KR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Issue</a:t>
              </a:r>
              <a:r>
                <a:rPr lang="ko-KR" altLang="en-US" sz="950" kern="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Times New Roman"/>
                </a:rPr>
                <a:t>에 대해 사전에 대응하고 있음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885EC1C-FEA5-48A0-9F85-91643B0F9953}"/>
              </a:ext>
            </a:extLst>
          </p:cNvPr>
          <p:cNvGrpSpPr/>
          <p:nvPr/>
        </p:nvGrpSpPr>
        <p:grpSpPr>
          <a:xfrm>
            <a:off x="596510" y="2366840"/>
            <a:ext cx="8749103" cy="295915"/>
            <a:chOff x="557214" y="1872134"/>
            <a:chExt cx="9648824" cy="313009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6E41F1B-CB62-44A5-BCE8-370D209BAA75}"/>
                </a:ext>
              </a:extLst>
            </p:cNvPr>
            <p:cNvSpPr/>
            <p:nvPr/>
          </p:nvSpPr>
          <p:spPr>
            <a:xfrm>
              <a:off x="557214" y="2009598"/>
              <a:ext cx="9648824" cy="38080"/>
            </a:xfrm>
            <a:prstGeom prst="rect">
              <a:avLst/>
            </a:prstGeom>
            <a:solidFill>
              <a:srgbClr val="F0BE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3445"/>
              <a:endParaRPr lang="ko-KR" altLang="en-US" sz="1986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0676D0-8BA3-4CE9-94B0-492849EC2E39}"/>
                </a:ext>
              </a:extLst>
            </p:cNvPr>
            <p:cNvSpPr txBox="1"/>
            <p:nvPr/>
          </p:nvSpPr>
          <p:spPr>
            <a:xfrm>
              <a:off x="3933126" y="1872134"/>
              <a:ext cx="2897001" cy="3130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70170" rIns="170170" rtlCol="0">
              <a:spAutoFit/>
            </a:bodyPr>
            <a:lstStyle/>
            <a:p>
              <a:pPr algn="ctr" defTabSz="993445"/>
              <a:r>
                <a:rPr kumimoji="1" lang="ko-KR" altLang="en-US" sz="1323" b="1" spc="-95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Times New Roman" pitchFamily="18" charset="0"/>
                </a:rPr>
                <a:t>조직단위별 업무 분장</a:t>
              </a: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BC8777DB-776F-458C-8FB4-86A9F9F4F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846839"/>
              </p:ext>
            </p:extLst>
          </p:nvPr>
        </p:nvGraphicFramePr>
        <p:xfrm>
          <a:off x="596509" y="2708921"/>
          <a:ext cx="8749104" cy="3744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185">
                  <a:extLst>
                    <a:ext uri="{9D8B030D-6E8A-4147-A177-3AD203B41FA5}">
                      <a16:colId xmlns:a16="http://schemas.microsoft.com/office/drawing/2014/main" val="1996179068"/>
                    </a:ext>
                  </a:extLst>
                </a:gridCol>
                <a:gridCol w="3645460">
                  <a:extLst>
                    <a:ext uri="{9D8B030D-6E8A-4147-A177-3AD203B41FA5}">
                      <a16:colId xmlns:a16="http://schemas.microsoft.com/office/drawing/2014/main" val="3826742109"/>
                    </a:ext>
                  </a:extLst>
                </a:gridCol>
                <a:gridCol w="1215153">
                  <a:extLst>
                    <a:ext uri="{9D8B030D-6E8A-4147-A177-3AD203B41FA5}">
                      <a16:colId xmlns:a16="http://schemas.microsoft.com/office/drawing/2014/main" val="3407988297"/>
                    </a:ext>
                  </a:extLst>
                </a:gridCol>
                <a:gridCol w="1215153">
                  <a:extLst>
                    <a:ext uri="{9D8B030D-6E8A-4147-A177-3AD203B41FA5}">
                      <a16:colId xmlns:a16="http://schemas.microsoft.com/office/drawing/2014/main" val="4173707484"/>
                    </a:ext>
                  </a:extLst>
                </a:gridCol>
                <a:gridCol w="1215153">
                  <a:extLst>
                    <a:ext uri="{9D8B030D-6E8A-4147-A177-3AD203B41FA5}">
                      <a16:colId xmlns:a16="http://schemas.microsoft.com/office/drawing/2014/main" val="4015212668"/>
                    </a:ext>
                  </a:extLst>
                </a:gridCol>
              </a:tblGrid>
              <a:tr h="4685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주요업무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{{부서}}</a:t>
                      </a: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Syndication</a:t>
                      </a: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본부</a:t>
                      </a:r>
                      <a:endParaRPr kumimoji="1" lang="en-US" altLang="ko-KR" sz="1000" b="1" kern="1200" spc="-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2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IB Credit </a:t>
                      </a:r>
                      <a:r>
                        <a:rPr kumimoji="1" lang="ko-KR" altLang="en-US" sz="1000" b="1" kern="1200" spc="-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지원부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2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607675"/>
                  </a:ext>
                </a:extLst>
              </a:tr>
              <a:tr h="297793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회사채 발행전략 수립</a:t>
                      </a:r>
                      <a:endParaRPr kumimoji="1" lang="en-US" altLang="ko-KR" sz="1000" b="1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금리동향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회사채 발행시장 동향 파악 및 분석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962697"/>
                  </a:ext>
                </a:extLst>
              </a:tr>
              <a:tr h="29779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회사채 투자자 동향 파악 및 분석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865138"/>
                  </a:ext>
                </a:extLst>
              </a:tr>
              <a:tr h="29779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발행회사 현황 및 특성 분석을 통한 효과적인 마케팅 전략 수립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238650"/>
                  </a:ext>
                </a:extLst>
              </a:tr>
              <a:tr h="29779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수요예측 전략 수립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662219"/>
                  </a:ext>
                </a:extLst>
              </a:tr>
              <a:tr h="297793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회사채 인수 업무</a:t>
                      </a:r>
                      <a:endParaRPr kumimoji="1" lang="en-US" altLang="ko-KR" sz="1000" b="1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회사의 경영실적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영업사항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재무항목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 관련 기업실사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056990"/>
                  </a:ext>
                </a:extLst>
              </a:tr>
              <a:tr h="29779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증권신고서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투자설명서 등 제반 공시 서류 작성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109873"/>
                  </a:ext>
                </a:extLst>
              </a:tr>
              <a:tr h="29779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회사채 발행 실무 수행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b="0" kern="1200" spc="-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등록발행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상장 등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620401"/>
                  </a:ext>
                </a:extLst>
              </a:tr>
              <a:tr h="29779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회사채 발행 관련 유관기관 대관 업무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631810"/>
                  </a:ext>
                </a:extLst>
              </a:tr>
              <a:tr h="29779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마케팅 업무</a:t>
                      </a:r>
                      <a:endParaRPr kumimoji="1" lang="en-US" altLang="ko-KR" sz="1000" b="1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기관투자자 대상 마케팅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544788"/>
                  </a:ext>
                </a:extLst>
              </a:tr>
              <a:tr h="29779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1-on-1 IR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및 단체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IR Arrange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735363"/>
                  </a:ext>
                </a:extLst>
              </a:tr>
              <a:tr h="2977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기타</a:t>
                      </a:r>
                      <a:endParaRPr kumimoji="1" lang="en-US" altLang="ko-KR" sz="1000" b="1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발행회사가 향후 추가 </a:t>
                      </a: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Deal </a:t>
                      </a:r>
                      <a:r>
                        <a:rPr kumimoji="1" lang="ko-KR" altLang="en-US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추진을 위해 의뢰하는 업무</a:t>
                      </a:r>
                      <a:endParaRPr kumimoji="1" lang="en-US" altLang="ko-KR" sz="1000" b="0" kern="1200" spc="-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imes New Roman" panose="02020603050405020304" pitchFamily="18" charset="0"/>
                        </a:rPr>
                        <a:t>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037998"/>
                  </a:ext>
                </a:extLst>
              </a:tr>
            </a:tbl>
          </a:graphicData>
        </a:graphic>
      </p:graphicFrame>
      <p:sp>
        <p:nvSpPr>
          <p:cNvPr id="10" name="텍스트 개체 틀 8">
            <a:extLst>
              <a:ext uri="{FF2B5EF4-FFF2-40B4-BE49-F238E27FC236}">
                <a16:creationId xmlns:a16="http://schemas.microsoft.com/office/drawing/2014/main" id="{41621A06-2738-4800-86AC-B9836748158A}"/>
              </a:ext>
            </a:extLst>
          </p:cNvPr>
          <p:cNvSpPr txBox="1">
            <a:spLocks/>
          </p:cNvSpPr>
          <p:nvPr/>
        </p:nvSpPr>
        <p:spPr>
          <a:xfrm>
            <a:off x="741125" y="361127"/>
            <a:ext cx="6048079" cy="5040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2200" kern="1200" spc="-10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1pPr>
            <a:lvl2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2pPr>
            <a:lvl3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3pPr>
            <a:lvl4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 smtClean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4pPr>
            <a:lvl5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3600" kern="1200" spc="-150" baseline="0" dirty="0">
                <a:solidFill>
                  <a:srgbClr val="FFFFFF"/>
                </a:solidFill>
                <a:latin typeface="코어 고딕 D 5 Medium" pitchFamily="34" charset="-127"/>
                <a:ea typeface="코어 고딕 D 5 Medium" pitchFamily="34" charset="-127"/>
                <a:cs typeface="+mj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300"/>
              </a:spcAft>
            </a:pPr>
            <a:r>
              <a:rPr lang="en-US" altLang="ko-KR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6. </a:t>
            </a:r>
            <a:r>
              <a:rPr lang="ko-KR" altLang="en-US" sz="20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조직단위별 업무 분장</a:t>
            </a:r>
            <a:endParaRPr lang="en-US" altLang="ko-KR" sz="20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4855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사용자 지정</PresentationFormat>
  <Company>NH투자증권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NH투자증권 공모사채 제안서</dc:title>
  <dc:creator>NH투자증권</dc:creator>
  <cp:lastModifiedBy>NH투자증권</cp:lastModifiedBy>
  <cp:revision>4365</cp:revision>
  <cp:lastPrinted>2025-03-06T14:02:36Z</cp:lastPrinted>
  <dcterms:created xsi:type="dcterms:W3CDTF">2019-03-29T16:03:42Z</dcterms:created>
  <dcterms:modified xsi:type="dcterms:W3CDTF">2026-10-16T07:43:30Z</dcterms:modified>
  <dc:description/>
  <dc:subject/>
  <cp:keywords/>
</cp:coreProperties>
</file>